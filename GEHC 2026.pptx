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5.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6" r:id="rId5"/>
    <p:sldId id="271" r:id="rId6"/>
    <p:sldId id="269" r:id="rId7"/>
    <p:sldId id="275" r:id="rId8"/>
    <p:sldId id="264" r:id="rId9"/>
    <p:sldId id="266" r:id="rId10"/>
    <p:sldId id="260" r:id="rId11"/>
    <p:sldId id="274"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DFC"/>
    <a:srgbClr val="123C3E"/>
    <a:srgbClr val="156082"/>
    <a:srgbClr val="D8975E"/>
    <a:srgbClr val="1F676B"/>
    <a:srgbClr val="FBF7F3"/>
    <a:srgbClr val="F3FAFB"/>
    <a:srgbClr val="DBF0F9"/>
    <a:srgbClr val="F5E3D3"/>
    <a:srgbClr val="D2F0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2" d="100"/>
          <a:sy n="122" d="100"/>
        </p:scale>
        <p:origin x="20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https://ueanorwich-my.sharepoint.com/personal/skr22mfu_uea_ac_uk/Documents/GEHC%20Mathematic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3" Type="http://schemas.openxmlformats.org/officeDocument/2006/relationships/oleObject" Target="https://ueanorwich-my.sharepoint.com/personal/skr22mfu_uea_ac_uk/Documents/GEHC%20Mathematics.xlsx" TargetMode="External"/><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Investment Banks</a:t>
            </a:r>
            <a:r>
              <a:rPr lang="en-GB" baseline="0"/>
              <a:t> GEHC </a:t>
            </a:r>
            <a:r>
              <a:rPr lang="en-GB"/>
              <a:t>Target Prices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ANR!$K$1</c:f>
              <c:strCache>
                <c:ptCount val="1"/>
                <c:pt idx="0">
                  <c:v>Target Price</c:v>
                </c:pt>
              </c:strCache>
            </c:strRef>
          </c:tx>
          <c:spPr>
            <a:solidFill>
              <a:schemeClr val="accent1"/>
            </a:solidFill>
            <a:ln>
              <a:noFill/>
            </a:ln>
            <a:effectLst/>
          </c:spPr>
          <c:invertIfNegative val="0"/>
          <c:cat>
            <c:strRef>
              <c:f>ANR!$J$2:$J$24</c:f>
              <c:strCache>
                <c:ptCount val="23"/>
                <c:pt idx="0">
                  <c:v>JP Morgan</c:v>
                </c:pt>
                <c:pt idx="1">
                  <c:v>Goldman Sachs</c:v>
                </c:pt>
                <c:pt idx="2">
                  <c:v>Citi</c:v>
                </c:pt>
                <c:pt idx="3">
                  <c:v>BTIG</c:v>
                </c:pt>
                <c:pt idx="4">
                  <c:v>UBS</c:v>
                </c:pt>
                <c:pt idx="5">
                  <c:v>Morningstar</c:v>
                </c:pt>
                <c:pt idx="6">
                  <c:v>Baptista Research</c:v>
                </c:pt>
                <c:pt idx="7">
                  <c:v>Barclays</c:v>
                </c:pt>
                <c:pt idx="8">
                  <c:v>Wells Fargo</c:v>
                </c:pt>
                <c:pt idx="9">
                  <c:v>Stifel</c:v>
                </c:pt>
                <c:pt idx="10">
                  <c:v>Mizuho</c:v>
                </c:pt>
                <c:pt idx="11">
                  <c:v>Evercore ISI</c:v>
                </c:pt>
                <c:pt idx="12">
                  <c:v>ISS-EVA</c:v>
                </c:pt>
                <c:pt idx="13">
                  <c:v>Oppenheimer</c:v>
                </c:pt>
                <c:pt idx="14">
                  <c:v>Piper Sandler</c:v>
                </c:pt>
                <c:pt idx="15">
                  <c:v>BNP Paribas</c:v>
                </c:pt>
                <c:pt idx="16">
                  <c:v>Argus Research</c:v>
                </c:pt>
                <c:pt idx="17">
                  <c:v>Jefferies</c:v>
                </c:pt>
                <c:pt idx="18">
                  <c:v>HSBC</c:v>
                </c:pt>
                <c:pt idx="19">
                  <c:v>Spin-Off Research</c:v>
                </c:pt>
                <c:pt idx="20">
                  <c:v>DBS Bank</c:v>
                </c:pt>
                <c:pt idx="21">
                  <c:v>Rothschild &amp; Co</c:v>
                </c:pt>
                <c:pt idx="22">
                  <c:v>Sadif Inv. An.</c:v>
                </c:pt>
              </c:strCache>
            </c:strRef>
          </c:cat>
          <c:val>
            <c:numRef>
              <c:f>ANR!$K$2:$K$24</c:f>
              <c:numCache>
                <c:formatCode>General</c:formatCode>
                <c:ptCount val="23"/>
                <c:pt idx="0">
                  <c:v>65</c:v>
                </c:pt>
                <c:pt idx="1">
                  <c:v>65</c:v>
                </c:pt>
                <c:pt idx="2">
                  <c:v>65</c:v>
                </c:pt>
                <c:pt idx="3">
                  <c:v>74</c:v>
                </c:pt>
                <c:pt idx="4">
                  <c:v>75</c:v>
                </c:pt>
                <c:pt idx="5">
                  <c:v>75</c:v>
                </c:pt>
                <c:pt idx="6">
                  <c:v>77</c:v>
                </c:pt>
                <c:pt idx="7">
                  <c:v>78</c:v>
                </c:pt>
                <c:pt idx="8">
                  <c:v>80</c:v>
                </c:pt>
                <c:pt idx="9">
                  <c:v>80</c:v>
                </c:pt>
                <c:pt idx="10">
                  <c:v>80</c:v>
                </c:pt>
                <c:pt idx="11">
                  <c:v>80</c:v>
                </c:pt>
                <c:pt idx="12">
                  <c:v>83.18</c:v>
                </c:pt>
                <c:pt idx="13">
                  <c:v>85</c:v>
                </c:pt>
                <c:pt idx="14">
                  <c:v>88</c:v>
                </c:pt>
                <c:pt idx="15">
                  <c:v>88</c:v>
                </c:pt>
                <c:pt idx="16">
                  <c:v>88.6</c:v>
                </c:pt>
                <c:pt idx="17">
                  <c:v>90</c:v>
                </c:pt>
                <c:pt idx="18">
                  <c:v>90</c:v>
                </c:pt>
                <c:pt idx="19">
                  <c:v>94</c:v>
                </c:pt>
                <c:pt idx="20">
                  <c:v>95</c:v>
                </c:pt>
                <c:pt idx="21">
                  <c:v>98</c:v>
                </c:pt>
                <c:pt idx="22">
                  <c:v>100</c:v>
                </c:pt>
              </c:numCache>
            </c:numRef>
          </c:val>
          <c:extLst>
            <c:ext xmlns:c16="http://schemas.microsoft.com/office/drawing/2014/chart" uri="{C3380CC4-5D6E-409C-BE32-E72D297353CC}">
              <c16:uniqueId val="{00000000-B025-42C7-9ABD-DD62B4991FEF}"/>
            </c:ext>
          </c:extLst>
        </c:ser>
        <c:dLbls>
          <c:showLegendKey val="0"/>
          <c:showVal val="0"/>
          <c:showCatName val="0"/>
          <c:showSerName val="0"/>
          <c:showPercent val="0"/>
          <c:showBubbleSize val="0"/>
        </c:dLbls>
        <c:gapWidth val="219"/>
        <c:overlap val="-27"/>
        <c:axId val="678594328"/>
        <c:axId val="678589288"/>
      </c:barChart>
      <c:catAx>
        <c:axId val="678594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8589288"/>
        <c:crosses val="autoZero"/>
        <c:auto val="1"/>
        <c:lblAlgn val="ctr"/>
        <c:lblOffset val="100"/>
        <c:noMultiLvlLbl val="0"/>
      </c:catAx>
      <c:valAx>
        <c:axId val="678589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85943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Share</c:v>
                </c:pt>
              </c:strCache>
            </c:strRef>
          </c:tx>
          <c:invertIfNegative val="1"/>
          <c:dPt>
            <c:idx val="0"/>
            <c:invertIfNegative val="1"/>
            <c:bubble3D val="0"/>
            <c:spPr>
              <a:solidFill>
                <a:srgbClr val="8A8E8C"/>
              </a:solidFill>
              <a:ln>
                <a:noFill/>
              </a:ln>
            </c:spPr>
            <c:extLst>
              <c:ext xmlns:c16="http://schemas.microsoft.com/office/drawing/2014/chart" uri="{C3380CC4-5D6E-409C-BE32-E72D297353CC}">
                <c16:uniqueId val="{00000001-3889-4902-BC74-D03F6DBCD001}"/>
              </c:ext>
            </c:extLst>
          </c:dPt>
          <c:dPt>
            <c:idx val="1"/>
            <c:invertIfNegative val="1"/>
            <c:bubble3D val="0"/>
            <c:spPr>
              <a:solidFill>
                <a:srgbClr val="123C3E"/>
              </a:solidFill>
              <a:ln>
                <a:noFill/>
              </a:ln>
            </c:spPr>
            <c:extLst>
              <c:ext xmlns:c16="http://schemas.microsoft.com/office/drawing/2014/chart" uri="{C3380CC4-5D6E-409C-BE32-E72D297353CC}">
                <c16:uniqueId val="{00000003-3889-4902-BC74-D03F6DBCD001}"/>
              </c:ext>
            </c:extLst>
          </c:dPt>
          <c:dPt>
            <c:idx val="2"/>
            <c:invertIfNegative val="1"/>
            <c:bubble3D val="0"/>
            <c:spPr>
              <a:solidFill>
                <a:srgbClr val="D5D5D0"/>
              </a:solidFill>
              <a:ln>
                <a:noFill/>
              </a:ln>
            </c:spPr>
            <c:extLst>
              <c:ext xmlns:c16="http://schemas.microsoft.com/office/drawing/2014/chart" uri="{C3380CC4-5D6E-409C-BE32-E72D297353CC}">
                <c16:uniqueId val="{00000005-3889-4902-BC74-D03F6DBCD001}"/>
              </c:ext>
            </c:extLst>
          </c:dPt>
          <c:dPt>
            <c:idx val="3"/>
            <c:invertIfNegative val="1"/>
            <c:bubble3D val="0"/>
            <c:spPr>
              <a:solidFill>
                <a:srgbClr val="D5D5D0"/>
              </a:solidFill>
              <a:ln>
                <a:noFill/>
              </a:ln>
            </c:spPr>
            <c:extLst>
              <c:ext xmlns:c16="http://schemas.microsoft.com/office/drawing/2014/chart" uri="{C3380CC4-5D6E-409C-BE32-E72D297353CC}">
                <c16:uniqueId val="{00000007-3889-4902-BC74-D03F6DBCD001}"/>
              </c:ext>
            </c:extLst>
          </c:dPt>
          <c:dPt>
            <c:idx val="4"/>
            <c:invertIfNegative val="1"/>
            <c:bubble3D val="0"/>
            <c:spPr>
              <a:solidFill>
                <a:srgbClr val="D5D5D0"/>
              </a:solidFill>
              <a:ln>
                <a:noFill/>
              </a:ln>
            </c:spPr>
            <c:extLst>
              <c:ext xmlns:c16="http://schemas.microsoft.com/office/drawing/2014/chart" uri="{C3380CC4-5D6E-409C-BE32-E72D297353CC}">
                <c16:uniqueId val="{00000009-3889-4902-BC74-D03F6DBCD001}"/>
              </c:ext>
            </c:extLst>
          </c:dPt>
          <c:dPt>
            <c:idx val="5"/>
            <c:invertIfNegative val="1"/>
            <c:bubble3D val="0"/>
            <c:spPr>
              <a:solidFill>
                <a:srgbClr val="D5D5D0"/>
              </a:solidFill>
              <a:ln>
                <a:noFill/>
              </a:ln>
            </c:spPr>
            <c:extLst>
              <c:ext xmlns:c16="http://schemas.microsoft.com/office/drawing/2014/chart" uri="{C3380CC4-5D6E-409C-BE32-E72D297353CC}">
                <c16:uniqueId val="{0000000B-3889-4902-BC74-D03F6DBCD001}"/>
              </c:ext>
            </c:extLst>
          </c:dPt>
          <c:dLbls>
            <c:numFmt formatCode="0.0&quot;%&quot;" sourceLinked="0"/>
            <c:spPr>
              <a:noFill/>
              <a:ln>
                <a:noFill/>
              </a:ln>
              <a:effectLst/>
            </c:spPr>
            <c:txPr>
              <a:bodyPr/>
              <a:lstStyle/>
              <a:p>
                <a:pPr>
                  <a:defRPr sz="900" b="1">
                    <a:solidFill>
                      <a:srgbClr val="1A2A2C"/>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Siemens
Healthineers</c:v>
                </c:pt>
                <c:pt idx="1">
                  <c:v>GE HealthCare</c:v>
                </c:pt>
                <c:pt idx="2">
                  <c:v>Philips</c:v>
                </c:pt>
                <c:pt idx="3">
                  <c:v>Canon
Medical</c:v>
                </c:pt>
                <c:pt idx="4">
                  <c:v>Fujifilm</c:v>
                </c:pt>
                <c:pt idx="5">
                  <c:v>Other</c:v>
                </c:pt>
              </c:strCache>
            </c:strRef>
          </c:cat>
          <c:val>
            <c:numRef>
              <c:f>Sheet1!$B$2:$B$7</c:f>
              <c:numCache>
                <c:formatCode>General</c:formatCode>
                <c:ptCount val="6"/>
                <c:pt idx="0">
                  <c:v>24</c:v>
                </c:pt>
                <c:pt idx="1">
                  <c:v>21</c:v>
                </c:pt>
                <c:pt idx="2">
                  <c:v>17</c:v>
                </c:pt>
                <c:pt idx="3">
                  <c:v>8</c:v>
                </c:pt>
                <c:pt idx="4">
                  <c:v>6</c:v>
                </c:pt>
                <c:pt idx="5">
                  <c:v>24</c:v>
                </c:pt>
              </c:numCache>
            </c:numRef>
          </c:val>
          <c:extLst>
            <c:ext xmlns:c16="http://schemas.microsoft.com/office/drawing/2014/chart" uri="{C3380CC4-5D6E-409C-BE32-E72D297353CC}">
              <c16:uniqueId val="{0000000C-3889-4902-BC74-D03F6DBCD001}"/>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CCCCC"/>
            </a:solidFill>
          </a:ln>
        </c:spPr>
        <c:txPr>
          <a:bodyPr/>
          <a:lstStyle/>
          <a:p>
            <a:pPr>
              <a:defRPr sz="900">
                <a:solidFill>
                  <a:srgbClr val="6B7B7D"/>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6350">
              <a:solidFill>
                <a:srgbClr val="EEEEEE"/>
              </a:solidFill>
            </a:ln>
          </c:spPr>
        </c:majorGridlines>
        <c:numFmt formatCode="General" sourceLinked="1"/>
        <c:majorTickMark val="out"/>
        <c:minorTickMark val="none"/>
        <c:tickLblPos val="nextTo"/>
        <c:spPr>
          <a:ln>
            <a:solidFill>
              <a:srgbClr val="CCCCCC"/>
            </a:solidFill>
          </a:ln>
        </c:spPr>
        <c:txPr>
          <a:bodyPr/>
          <a:lstStyle/>
          <a:p>
            <a:pPr>
              <a:defRPr sz="900">
                <a:solidFill>
                  <a:srgbClr val="6B7B7D"/>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Market size ($B)</c:v>
                </c:pt>
              </c:strCache>
            </c:strRef>
          </c:tx>
          <c:invertIfNegative val="1"/>
          <c:dPt>
            <c:idx val="0"/>
            <c:invertIfNegative val="1"/>
            <c:bubble3D val="0"/>
            <c:spPr>
              <a:solidFill>
                <a:srgbClr val="123C3E"/>
              </a:solidFill>
              <a:ln>
                <a:noFill/>
              </a:ln>
            </c:spPr>
            <c:extLst>
              <c:ext xmlns:c16="http://schemas.microsoft.com/office/drawing/2014/chart" uri="{C3380CC4-5D6E-409C-BE32-E72D297353CC}">
                <c16:uniqueId val="{00000001-2E7E-4085-A88C-8505967BFE24}"/>
              </c:ext>
            </c:extLst>
          </c:dPt>
          <c:dPt>
            <c:idx val="1"/>
            <c:invertIfNegative val="1"/>
            <c:bubble3D val="0"/>
            <c:spPr>
              <a:solidFill>
                <a:srgbClr val="123C3E"/>
              </a:solidFill>
              <a:ln>
                <a:noFill/>
              </a:ln>
            </c:spPr>
            <c:extLst>
              <c:ext xmlns:c16="http://schemas.microsoft.com/office/drawing/2014/chart" uri="{C3380CC4-5D6E-409C-BE32-E72D297353CC}">
                <c16:uniqueId val="{00000003-2E7E-4085-A88C-8505967BFE24}"/>
              </c:ext>
            </c:extLst>
          </c:dPt>
          <c:dPt>
            <c:idx val="2"/>
            <c:invertIfNegative val="1"/>
            <c:bubble3D val="0"/>
            <c:spPr>
              <a:solidFill>
                <a:srgbClr val="123C3E"/>
              </a:solidFill>
              <a:ln>
                <a:noFill/>
              </a:ln>
            </c:spPr>
            <c:extLst>
              <c:ext xmlns:c16="http://schemas.microsoft.com/office/drawing/2014/chart" uri="{C3380CC4-5D6E-409C-BE32-E72D297353CC}">
                <c16:uniqueId val="{00000005-2E7E-4085-A88C-8505967BFE24}"/>
              </c:ext>
            </c:extLst>
          </c:dPt>
          <c:dPt>
            <c:idx val="3"/>
            <c:invertIfNegative val="1"/>
            <c:bubble3D val="0"/>
            <c:spPr>
              <a:solidFill>
                <a:srgbClr val="123C3E"/>
              </a:solidFill>
              <a:ln>
                <a:noFill/>
              </a:ln>
            </c:spPr>
            <c:extLst>
              <c:ext xmlns:c16="http://schemas.microsoft.com/office/drawing/2014/chart" uri="{C3380CC4-5D6E-409C-BE32-E72D297353CC}">
                <c16:uniqueId val="{00000007-2E7E-4085-A88C-8505967BFE24}"/>
              </c:ext>
            </c:extLst>
          </c:dPt>
          <c:dPt>
            <c:idx val="4"/>
            <c:invertIfNegative val="1"/>
            <c:bubble3D val="0"/>
            <c:spPr>
              <a:solidFill>
                <a:srgbClr val="123C3E"/>
              </a:solidFill>
              <a:ln>
                <a:noFill/>
              </a:ln>
            </c:spPr>
            <c:extLst>
              <c:ext xmlns:c16="http://schemas.microsoft.com/office/drawing/2014/chart" uri="{C3380CC4-5D6E-409C-BE32-E72D297353CC}">
                <c16:uniqueId val="{00000009-2E7E-4085-A88C-8505967BFE24}"/>
              </c:ext>
            </c:extLst>
          </c:dPt>
          <c:dPt>
            <c:idx val="5"/>
            <c:invertIfNegative val="1"/>
            <c:bubble3D val="0"/>
            <c:spPr>
              <a:solidFill>
                <a:srgbClr val="123C3E"/>
              </a:solidFill>
              <a:ln>
                <a:noFill/>
              </a:ln>
            </c:spPr>
            <c:extLst>
              <c:ext xmlns:c16="http://schemas.microsoft.com/office/drawing/2014/chart" uri="{C3380CC4-5D6E-409C-BE32-E72D297353CC}">
                <c16:uniqueId val="{0000000B-2E7E-4085-A88C-8505967BFE24}"/>
              </c:ext>
            </c:extLst>
          </c:dPt>
          <c:dPt>
            <c:idx val="6"/>
            <c:invertIfNegative val="1"/>
            <c:bubble3D val="0"/>
            <c:spPr>
              <a:solidFill>
                <a:srgbClr val="D8975E"/>
              </a:solidFill>
              <a:ln>
                <a:noFill/>
              </a:ln>
            </c:spPr>
            <c:extLst>
              <c:ext xmlns:c16="http://schemas.microsoft.com/office/drawing/2014/chart" uri="{C3380CC4-5D6E-409C-BE32-E72D297353CC}">
                <c16:uniqueId val="{0000000D-2E7E-4085-A88C-8505967BFE24}"/>
              </c:ext>
            </c:extLst>
          </c:dPt>
          <c:dLbls>
            <c:numFmt formatCode="0.0" sourceLinked="0"/>
            <c:spPr>
              <a:noFill/>
              <a:ln>
                <a:noFill/>
              </a:ln>
              <a:effectLst/>
            </c:spPr>
            <c:txPr>
              <a:bodyPr/>
              <a:lstStyle/>
              <a:p>
                <a:pPr>
                  <a:defRPr sz="900" b="1">
                    <a:solidFill>
                      <a:srgbClr val="1A2A2C"/>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2024</c:v>
                </c:pt>
                <c:pt idx="1">
                  <c:v>2025</c:v>
                </c:pt>
                <c:pt idx="2">
                  <c:v>2026E</c:v>
                </c:pt>
                <c:pt idx="3">
                  <c:v>2027E</c:v>
                </c:pt>
                <c:pt idx="4">
                  <c:v>2028E</c:v>
                </c:pt>
                <c:pt idx="5">
                  <c:v>2029E</c:v>
                </c:pt>
                <c:pt idx="6">
                  <c:v>2030E</c:v>
                </c:pt>
              </c:strCache>
            </c:strRef>
          </c:cat>
          <c:val>
            <c:numRef>
              <c:f>Sheet1!$B$2:$B$8</c:f>
              <c:numCache>
                <c:formatCode>General</c:formatCode>
                <c:ptCount val="7"/>
                <c:pt idx="0">
                  <c:v>45.8</c:v>
                </c:pt>
                <c:pt idx="1">
                  <c:v>48.4</c:v>
                </c:pt>
                <c:pt idx="2">
                  <c:v>51.2</c:v>
                </c:pt>
                <c:pt idx="3">
                  <c:v>54.3</c:v>
                </c:pt>
                <c:pt idx="4">
                  <c:v>57.5</c:v>
                </c:pt>
                <c:pt idx="5">
                  <c:v>60.9</c:v>
                </c:pt>
                <c:pt idx="6">
                  <c:v>64.5</c:v>
                </c:pt>
              </c:numCache>
            </c:numRef>
          </c:val>
          <c:extLst>
            <c:ext xmlns:c16="http://schemas.microsoft.com/office/drawing/2014/chart" uri="{C3380CC4-5D6E-409C-BE32-E72D297353CC}">
              <c16:uniqueId val="{0000000E-2E7E-4085-A88C-8505967BFE24}"/>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CCCCC"/>
            </a:solidFill>
          </a:ln>
        </c:spPr>
        <c:txPr>
          <a:bodyPr/>
          <a:lstStyle/>
          <a:p>
            <a:pPr>
              <a:defRPr sz="900">
                <a:solidFill>
                  <a:srgbClr val="6B7B7D"/>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EEEEE"/>
              </a:solidFill>
            </a:ln>
          </c:spPr>
        </c:majorGridlines>
        <c:numFmt formatCode="General" sourceLinked="1"/>
        <c:majorTickMark val="out"/>
        <c:minorTickMark val="none"/>
        <c:tickLblPos val="nextTo"/>
        <c:spPr>
          <a:ln>
            <a:solidFill>
              <a:srgbClr val="CCCCCC"/>
            </a:solidFill>
          </a:ln>
        </c:spPr>
        <c:txPr>
          <a:bodyPr/>
          <a:lstStyle/>
          <a:p>
            <a:pPr>
              <a:defRPr sz="900">
                <a:solidFill>
                  <a:srgbClr val="6B7B7D"/>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Core MRI + CT Hardware</c:v>
                </c:pt>
              </c:strCache>
            </c:strRef>
          </c:tx>
          <c:spPr>
            <a:solidFill>
              <a:srgbClr val="BDBDBD"/>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Sheet1!$B$2:$B$7</c:f>
              <c:numCache>
                <c:formatCode>General</c:formatCode>
                <c:ptCount val="6"/>
                <c:pt idx="0">
                  <c:v>7280</c:v>
                </c:pt>
                <c:pt idx="1">
                  <c:v>7459</c:v>
                </c:pt>
                <c:pt idx="2">
                  <c:v>7775</c:v>
                </c:pt>
                <c:pt idx="3">
                  <c:v>8086</c:v>
                </c:pt>
                <c:pt idx="4">
                  <c:v>8407</c:v>
                </c:pt>
                <c:pt idx="5">
                  <c:v>8676</c:v>
                </c:pt>
              </c:numCache>
            </c:numRef>
          </c:val>
          <c:extLst>
            <c:ext xmlns:c16="http://schemas.microsoft.com/office/drawing/2014/chart" uri="{C3380CC4-5D6E-409C-BE32-E72D297353CC}">
              <c16:uniqueId val="{00000000-7D32-422C-9C87-9C0EC98307C3}"/>
            </c:ext>
          </c:extLst>
        </c:ser>
        <c:ser>
          <c:idx val="1"/>
          <c:order val="1"/>
          <c:tx>
            <c:strRef>
              <c:f>Sheet1!$C$1</c:f>
              <c:strCache>
                <c:ptCount val="1"/>
                <c:pt idx="0">
                  <c:v>Imaging Services</c:v>
                </c:pt>
              </c:strCache>
            </c:strRef>
          </c:tx>
          <c:spPr>
            <a:solidFill>
              <a:srgbClr val="00897B"/>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Sheet1!$C$2:$C$7</c:f>
              <c:numCache>
                <c:formatCode>General</c:formatCode>
                <c:ptCount val="6"/>
                <c:pt idx="0">
                  <c:v>1600</c:v>
                </c:pt>
                <c:pt idx="1">
                  <c:v>1680</c:v>
                </c:pt>
                <c:pt idx="2">
                  <c:v>1764</c:v>
                </c:pt>
                <c:pt idx="3">
                  <c:v>1852</c:v>
                </c:pt>
                <c:pt idx="4">
                  <c:v>1945</c:v>
                </c:pt>
                <c:pt idx="5">
                  <c:v>2023</c:v>
                </c:pt>
              </c:numCache>
            </c:numRef>
          </c:val>
          <c:extLst>
            <c:ext xmlns:c16="http://schemas.microsoft.com/office/drawing/2014/chart" uri="{C3380CC4-5D6E-409C-BE32-E72D297353CC}">
              <c16:uniqueId val="{00000001-7D32-422C-9C87-9C0EC98307C3}"/>
            </c:ext>
          </c:extLst>
        </c:ser>
        <c:ser>
          <c:idx val="2"/>
          <c:order val="2"/>
          <c:tx>
            <c:strRef>
              <c:f>Sheet1!$D$1</c:f>
              <c:strCache>
                <c:ptCount val="1"/>
                <c:pt idx="0">
                  <c:v>AIR Recon DL</c:v>
                </c:pt>
              </c:strCache>
            </c:strRef>
          </c:tx>
          <c:spPr>
            <a:solidFill>
              <a:srgbClr val="1A237E"/>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Sheet1!$D$2:$D$7</c:f>
              <c:numCache>
                <c:formatCode>General</c:formatCode>
                <c:ptCount val="6"/>
                <c:pt idx="0">
                  <c:v>350</c:v>
                </c:pt>
                <c:pt idx="1">
                  <c:v>403</c:v>
                </c:pt>
                <c:pt idx="2">
                  <c:v>463</c:v>
                </c:pt>
                <c:pt idx="3">
                  <c:v>519</c:v>
                </c:pt>
                <c:pt idx="4">
                  <c:v>571</c:v>
                </c:pt>
                <c:pt idx="5">
                  <c:v>619</c:v>
                </c:pt>
              </c:numCache>
            </c:numRef>
          </c:val>
          <c:extLst>
            <c:ext xmlns:c16="http://schemas.microsoft.com/office/drawing/2014/chart" uri="{C3380CC4-5D6E-409C-BE32-E72D297353CC}">
              <c16:uniqueId val="{00000002-7D32-422C-9C87-9C0EC98307C3}"/>
            </c:ext>
          </c:extLst>
        </c:ser>
        <c:ser>
          <c:idx val="3"/>
          <c:order val="3"/>
          <c:tx>
            <c:strRef>
              <c:f>Sheet1!$E$1</c:f>
              <c:strCache>
                <c:ptCount val="1"/>
                <c:pt idx="0">
                  <c:v>Intelerad SaaS</c:v>
                </c:pt>
              </c:strCache>
            </c:strRef>
          </c:tx>
          <c:spPr>
            <a:solidFill>
              <a:srgbClr val="F9A825"/>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Sheet1!$E$2:$E$7</c:f>
              <c:numCache>
                <c:formatCode>General</c:formatCode>
                <c:ptCount val="6"/>
                <c:pt idx="0">
                  <c:v>0</c:v>
                </c:pt>
                <c:pt idx="1">
                  <c:v>270</c:v>
                </c:pt>
                <c:pt idx="2">
                  <c:v>302</c:v>
                </c:pt>
                <c:pt idx="3">
                  <c:v>338</c:v>
                </c:pt>
                <c:pt idx="4">
                  <c:v>385</c:v>
                </c:pt>
                <c:pt idx="5">
                  <c:v>427</c:v>
                </c:pt>
              </c:numCache>
            </c:numRef>
          </c:val>
          <c:extLst>
            <c:ext xmlns:c16="http://schemas.microsoft.com/office/drawing/2014/chart" uri="{C3380CC4-5D6E-409C-BE32-E72D297353CC}">
              <c16:uniqueId val="{00000003-7D32-422C-9C87-9C0EC98307C3}"/>
            </c:ext>
          </c:extLst>
        </c:ser>
        <c:ser>
          <c:idx val="4"/>
          <c:order val="4"/>
          <c:tx>
            <c:strRef>
              <c:f>Sheet1!$F$1</c:f>
              <c:strCache>
                <c:ptCount val="1"/>
                <c:pt idx="0">
                  <c:v>icometrix AI</c:v>
                </c:pt>
              </c:strCache>
            </c:strRef>
          </c:tx>
          <c:spPr>
            <a:solidFill>
              <a:srgbClr val="FFAB91"/>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Sheet1!$F$2:$F$7</c:f>
              <c:numCache>
                <c:formatCode>General</c:formatCode>
                <c:ptCount val="6"/>
                <c:pt idx="0">
                  <c:v>15</c:v>
                </c:pt>
                <c:pt idx="1">
                  <c:v>22</c:v>
                </c:pt>
                <c:pt idx="2">
                  <c:v>32</c:v>
                </c:pt>
                <c:pt idx="3">
                  <c:v>45</c:v>
                </c:pt>
                <c:pt idx="4">
                  <c:v>60</c:v>
                </c:pt>
                <c:pt idx="5">
                  <c:v>75</c:v>
                </c:pt>
              </c:numCache>
            </c:numRef>
          </c:val>
          <c:extLst>
            <c:ext xmlns:c16="http://schemas.microsoft.com/office/drawing/2014/chart" uri="{C3380CC4-5D6E-409C-BE32-E72D297353CC}">
              <c16:uniqueId val="{00000004-7D32-422C-9C87-9C0EC98307C3}"/>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5"/>
          <c:order val="5"/>
          <c:tx>
            <c:strRef>
              <c:f>Sheet1!$G$1</c:f>
              <c:strCache>
                <c:ptCount val="1"/>
                <c:pt idx="0">
                  <c:v>Imaging EBIT margin %</c:v>
                </c:pt>
              </c:strCache>
            </c:strRef>
          </c:tx>
          <c:spPr>
            <a:ln w="31750" cap="flat">
              <a:solidFill>
                <a:srgbClr val="0D1B3E"/>
              </a:solidFill>
              <a:prstDash val="solid"/>
              <a:round/>
            </a:ln>
            <a:effectLst/>
          </c:spPr>
          <c:marker>
            <c:symbol val="circle"/>
            <c:size val="6"/>
            <c:spPr>
              <a:solidFill>
                <a:srgbClr val="0D1B3E"/>
              </a:solidFill>
              <a:ln w="9525" cap="flat">
                <a:solidFill>
                  <a:srgbClr val="0D1B3E"/>
                </a:solidFill>
                <a:prstDash val="solid"/>
                <a:round/>
              </a:ln>
              <a:effectLst/>
            </c:spPr>
          </c:marker>
          <c:dLbls>
            <c:numFmt formatCode="#,##0" sourceLinked="0"/>
            <c:spPr>
              <a:noFill/>
              <a:ln>
                <a:noFill/>
              </a:ln>
              <a:effectLst/>
            </c:spPr>
            <c:txPr>
              <a:bodyPr/>
              <a:lstStyle/>
              <a:p>
                <a:pPr>
                  <a:defRPr sz="950" b="0" i="0" u="none" strike="noStrike">
                    <a:solidFill>
                      <a:srgbClr val="0D1B3E"/>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Sheet1!$G$2:$G$7</c:f>
              <c:numCache>
                <c:formatCode>General</c:formatCode>
                <c:ptCount val="6"/>
                <c:pt idx="0">
                  <c:v>9.6</c:v>
                </c:pt>
                <c:pt idx="1">
                  <c:v>10.58</c:v>
                </c:pt>
                <c:pt idx="2">
                  <c:v>11.25</c:v>
                </c:pt>
                <c:pt idx="3">
                  <c:v>11.9</c:v>
                </c:pt>
                <c:pt idx="4">
                  <c:v>12.53</c:v>
                </c:pt>
                <c:pt idx="5">
                  <c:v>13.15</c:v>
                </c:pt>
              </c:numCache>
            </c:numRef>
          </c:val>
          <c:smooth val="0"/>
          <c:extLst>
            <c:ext xmlns:c16="http://schemas.microsoft.com/office/drawing/2014/chart" uri="{C3380CC4-5D6E-409C-BE32-E72D297353CC}">
              <c16:uniqueId val="{00000005-7D32-422C-9C87-9C0EC98307C3}"/>
            </c:ext>
          </c:extLst>
        </c:ser>
        <c:dLbls>
          <c:dLblPos val="t"/>
          <c:showLegendKey val="0"/>
          <c:showVal val="1"/>
          <c:showCatName val="0"/>
          <c:showSerName val="0"/>
          <c:showPercent val="0"/>
          <c:showBubbleSize val="0"/>
        </c:dLbls>
        <c:marker val="1"/>
        <c:smooth val="0"/>
        <c:axId val="2094734554"/>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4000"/>
          <c:min val="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A5568"/>
                </a:solidFill>
                <a:latin typeface="Arial"/>
              </a:defRPr>
            </a:pPr>
            <a:endParaRPr lang="en-US"/>
          </a:p>
        </c:txPr>
        <c:crossAx val="2094734554"/>
        <c:crosses val="autoZero"/>
        <c:crossBetween val="between"/>
      </c:valAx>
      <c:valAx>
        <c:axId val="2094734553"/>
        <c:scaling>
          <c:orientation val="minMax"/>
          <c:max val="14.2"/>
          <c:min val="8.6"/>
        </c:scaling>
        <c:delete val="0"/>
        <c:axPos val="r"/>
        <c:numFmt formatCode="0.0" sourceLinked="0"/>
        <c:majorTickMark val="out"/>
        <c:minorTickMark val="none"/>
        <c:tickLblPos val="nextTo"/>
        <c:spPr>
          <a:ln w="9525">
            <a:solidFill>
              <a:srgbClr val="AAAAAA"/>
            </a:solidFill>
          </a:ln>
        </c:spPr>
        <c:crossAx val="2094734554"/>
        <c:crosses val="max"/>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Core Contrast Agents</c:v>
                </c:pt>
              </c:strCache>
            </c:strRef>
          </c:tx>
          <c:spPr>
            <a:solidFill>
              <a:srgbClr val="BDBDBD"/>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Sheet1!$B$2:$B$7</c:f>
              <c:numCache>
                <c:formatCode>General</c:formatCode>
                <c:ptCount val="6"/>
                <c:pt idx="0">
                  <c:v>1750</c:v>
                </c:pt>
                <c:pt idx="1">
                  <c:v>1820</c:v>
                </c:pt>
                <c:pt idx="2">
                  <c:v>1893</c:v>
                </c:pt>
                <c:pt idx="3">
                  <c:v>1969</c:v>
                </c:pt>
                <c:pt idx="4">
                  <c:v>2048</c:v>
                </c:pt>
                <c:pt idx="5">
                  <c:v>2110</c:v>
                </c:pt>
              </c:numCache>
            </c:numRef>
          </c:val>
          <c:extLst>
            <c:ext xmlns:c16="http://schemas.microsoft.com/office/drawing/2014/chart" uri="{C3380CC4-5D6E-409C-BE32-E72D297353CC}">
              <c16:uniqueId val="{00000000-849B-4FA5-99DD-0300A4C24E11}"/>
            </c:ext>
          </c:extLst>
        </c:ser>
        <c:ser>
          <c:idx val="1"/>
          <c:order val="1"/>
          <c:tx>
            <c:strRef>
              <c:f>Sheet1!$C$1</c:f>
              <c:strCache>
                <c:ptCount val="1"/>
                <c:pt idx="0">
                  <c:v>Nuclear Medicine / SPECT</c:v>
                </c:pt>
              </c:strCache>
            </c:strRef>
          </c:tx>
          <c:spPr>
            <a:solidFill>
              <a:srgbClr val="00897B"/>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Sheet1!$C$2:$C$7</c:f>
              <c:numCache>
                <c:formatCode>General</c:formatCode>
                <c:ptCount val="6"/>
                <c:pt idx="0">
                  <c:v>600</c:v>
                </c:pt>
                <c:pt idx="1">
                  <c:v>630</c:v>
                </c:pt>
                <c:pt idx="2">
                  <c:v>662</c:v>
                </c:pt>
                <c:pt idx="3">
                  <c:v>695</c:v>
                </c:pt>
                <c:pt idx="4">
                  <c:v>730</c:v>
                </c:pt>
                <c:pt idx="5">
                  <c:v>759</c:v>
                </c:pt>
              </c:numCache>
            </c:numRef>
          </c:val>
          <c:extLst>
            <c:ext xmlns:c16="http://schemas.microsoft.com/office/drawing/2014/chart" uri="{C3380CC4-5D6E-409C-BE32-E72D297353CC}">
              <c16:uniqueId val="{00000001-849B-4FA5-99DD-0300A4C24E11}"/>
            </c:ext>
          </c:extLst>
        </c:ser>
        <c:ser>
          <c:idx val="2"/>
          <c:order val="2"/>
          <c:tx>
            <c:strRef>
              <c:f>Sheet1!$D$1</c:f>
              <c:strCache>
                <c:ptCount val="1"/>
                <c:pt idx="0">
                  <c:v>Other radiopharma</c:v>
                </c:pt>
              </c:strCache>
            </c:strRef>
          </c:tx>
          <c:spPr>
            <a:solidFill>
              <a:srgbClr val="80CBC4"/>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Sheet1!$D$2:$D$7</c:f>
              <c:numCache>
                <c:formatCode>General</c:formatCode>
                <c:ptCount val="6"/>
                <c:pt idx="0">
                  <c:v>346</c:v>
                </c:pt>
                <c:pt idx="1">
                  <c:v>360</c:v>
                </c:pt>
                <c:pt idx="2">
                  <c:v>378</c:v>
                </c:pt>
                <c:pt idx="3">
                  <c:v>397</c:v>
                </c:pt>
                <c:pt idx="4">
                  <c:v>417</c:v>
                </c:pt>
                <c:pt idx="5">
                  <c:v>434</c:v>
                </c:pt>
              </c:numCache>
            </c:numRef>
          </c:val>
          <c:extLst>
            <c:ext xmlns:c16="http://schemas.microsoft.com/office/drawing/2014/chart" uri="{C3380CC4-5D6E-409C-BE32-E72D297353CC}">
              <c16:uniqueId val="{00000002-849B-4FA5-99DD-0300A4C24E11}"/>
            </c:ext>
          </c:extLst>
        </c:ser>
        <c:ser>
          <c:idx val="3"/>
          <c:order val="3"/>
          <c:tx>
            <c:strRef>
              <c:f>Sheet1!$E$1</c:f>
              <c:strCache>
                <c:ptCount val="1"/>
                <c:pt idx="0">
                  <c:v>Nihon Medi-Physics</c:v>
                </c:pt>
              </c:strCache>
            </c:strRef>
          </c:tx>
          <c:spPr>
            <a:solidFill>
              <a:srgbClr val="827717"/>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Sheet1!$E$2:$E$7</c:f>
              <c:numCache>
                <c:formatCode>General</c:formatCode>
                <c:ptCount val="6"/>
                <c:pt idx="0">
                  <c:v>154</c:v>
                </c:pt>
                <c:pt idx="1">
                  <c:v>163</c:v>
                </c:pt>
                <c:pt idx="2">
                  <c:v>173</c:v>
                </c:pt>
                <c:pt idx="3">
                  <c:v>183</c:v>
                </c:pt>
                <c:pt idx="4">
                  <c:v>193</c:v>
                </c:pt>
                <c:pt idx="5">
                  <c:v>201</c:v>
                </c:pt>
              </c:numCache>
            </c:numRef>
          </c:val>
          <c:extLst>
            <c:ext xmlns:c16="http://schemas.microsoft.com/office/drawing/2014/chart" uri="{C3380CC4-5D6E-409C-BE32-E72D297353CC}">
              <c16:uniqueId val="{00000003-849B-4FA5-99DD-0300A4C24E11}"/>
            </c:ext>
          </c:extLst>
        </c:ser>
        <c:ser>
          <c:idx val="4"/>
          <c:order val="4"/>
          <c:tx>
            <c:strRef>
              <c:f>Sheet1!$F$1</c:f>
              <c:strCache>
                <c:ptCount val="1"/>
                <c:pt idx="0">
                  <c:v>Flyrcado cardiac PET</c:v>
                </c:pt>
              </c:strCache>
            </c:strRef>
          </c:tx>
          <c:spPr>
            <a:solidFill>
              <a:srgbClr val="B71C1C"/>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Sheet1!$F$2:$F$7</c:f>
              <c:numCache>
                <c:formatCode>General</c:formatCode>
                <c:ptCount val="6"/>
                <c:pt idx="0">
                  <c:v>50</c:v>
                </c:pt>
                <c:pt idx="1">
                  <c:v>175</c:v>
                </c:pt>
                <c:pt idx="2">
                  <c:v>385</c:v>
                </c:pt>
                <c:pt idx="3">
                  <c:v>500</c:v>
                </c:pt>
                <c:pt idx="4">
                  <c:v>550</c:v>
                </c:pt>
                <c:pt idx="5">
                  <c:v>590</c:v>
                </c:pt>
              </c:numCache>
            </c:numRef>
          </c:val>
          <c:extLst>
            <c:ext xmlns:c16="http://schemas.microsoft.com/office/drawing/2014/chart" uri="{C3380CC4-5D6E-409C-BE32-E72D297353CC}">
              <c16:uniqueId val="{00000004-849B-4FA5-99DD-0300A4C24E11}"/>
            </c:ext>
          </c:extLst>
        </c:ser>
        <c:dLbls>
          <c:showLegendKey val="0"/>
          <c:showVal val="0"/>
          <c:showCatName val="0"/>
          <c:showSerName val="0"/>
          <c:showPercent val="0"/>
          <c:showBubbleSize val="0"/>
        </c:dLbls>
        <c:gapWidth val="30"/>
        <c:overlap val="100"/>
        <c:axId val="2094734554"/>
        <c:axId val="2094734552"/>
      </c:barChart>
      <c:lineChart>
        <c:grouping val="standard"/>
        <c:varyColors val="0"/>
        <c:ser>
          <c:idx val="5"/>
          <c:order val="5"/>
          <c:tx>
            <c:strRef>
              <c:f>Sheet1!$G$1</c:f>
              <c:strCache>
                <c:ptCount val="1"/>
                <c:pt idx="0">
                  <c:v>PDx EBIT margin %</c:v>
                </c:pt>
              </c:strCache>
            </c:strRef>
          </c:tx>
          <c:spPr>
            <a:ln w="31750" cap="flat">
              <a:solidFill>
                <a:srgbClr val="0D1B3E"/>
              </a:solidFill>
              <a:prstDash val="solid"/>
              <a:round/>
            </a:ln>
            <a:effectLst/>
          </c:spPr>
          <c:marker>
            <c:symbol val="circle"/>
            <c:size val="6"/>
            <c:spPr>
              <a:solidFill>
                <a:srgbClr val="0D1B3E"/>
              </a:solidFill>
              <a:ln w="9525" cap="flat">
                <a:solidFill>
                  <a:srgbClr val="0D1B3E"/>
                </a:solidFill>
                <a:prstDash val="solid"/>
                <a:round/>
              </a:ln>
              <a:effectLst/>
            </c:spPr>
          </c:marker>
          <c:dLbls>
            <c:numFmt formatCode="#,##0" sourceLinked="0"/>
            <c:spPr>
              <a:noFill/>
              <a:ln>
                <a:noFill/>
              </a:ln>
              <a:effectLst/>
            </c:spPr>
            <c:txPr>
              <a:bodyPr/>
              <a:lstStyle/>
              <a:p>
                <a:pPr>
                  <a:defRPr sz="950" b="0" i="0" u="none" strike="noStrike">
                    <a:solidFill>
                      <a:srgbClr val="0D1B3E"/>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Sheet1!$G$2:$G$7</c:f>
              <c:numCache>
                <c:formatCode>General</c:formatCode>
                <c:ptCount val="6"/>
                <c:pt idx="0">
                  <c:v>30.07</c:v>
                </c:pt>
                <c:pt idx="1">
                  <c:v>30.74</c:v>
                </c:pt>
                <c:pt idx="2">
                  <c:v>31.7</c:v>
                </c:pt>
                <c:pt idx="3">
                  <c:v>32.36</c:v>
                </c:pt>
                <c:pt idx="4">
                  <c:v>32.76</c:v>
                </c:pt>
                <c:pt idx="5">
                  <c:v>33.14</c:v>
                </c:pt>
              </c:numCache>
            </c:numRef>
          </c:val>
          <c:smooth val="0"/>
          <c:extLst>
            <c:ext xmlns:c16="http://schemas.microsoft.com/office/drawing/2014/chart" uri="{C3380CC4-5D6E-409C-BE32-E72D297353CC}">
              <c16:uniqueId val="{00000005-849B-4FA5-99DD-0300A4C24E11}"/>
            </c:ext>
          </c:extLst>
        </c:ser>
        <c:dLbls>
          <c:dLblPos val="t"/>
          <c:showLegendKey val="0"/>
          <c:showVal val="1"/>
          <c:showCatName val="0"/>
          <c:showSerName val="0"/>
          <c:showPercent val="0"/>
          <c:showBubbleSize val="0"/>
        </c:dLbls>
        <c:marker val="1"/>
        <c:smooth val="0"/>
        <c:axId val="2094734554"/>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5200"/>
          <c:min val="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A5568"/>
                </a:solidFill>
                <a:latin typeface="Arial"/>
              </a:defRPr>
            </a:pPr>
            <a:endParaRPr lang="en-US"/>
          </a:p>
        </c:txPr>
        <c:crossAx val="2094734554"/>
        <c:crosses val="autoZero"/>
        <c:crossBetween val="between"/>
      </c:valAx>
      <c:valAx>
        <c:axId val="2094734553"/>
        <c:scaling>
          <c:orientation val="minMax"/>
          <c:max val="34.1"/>
          <c:min val="29.1"/>
        </c:scaling>
        <c:delete val="0"/>
        <c:axPos val="r"/>
        <c:numFmt formatCode="0.0" sourceLinked="0"/>
        <c:majorTickMark val="out"/>
        <c:minorTickMark val="none"/>
        <c:tickLblPos val="nextTo"/>
        <c:spPr>
          <a:ln w="9525">
            <a:solidFill>
              <a:srgbClr val="AAAAAA"/>
            </a:solidFill>
          </a:ln>
        </c:spPr>
        <c:crossAx val="2094734554"/>
        <c:crosses val="max"/>
        <c:crossBetween val="between"/>
      </c:valAx>
      <c:spPr>
        <a:noFill/>
        <a:ln>
          <a:noFill/>
        </a:ln>
        <a:effectLst/>
      </c:spPr>
    </c:plotArea>
    <c:legend>
      <c:legendPos val="b"/>
      <c:overlay val="0"/>
      <c:txPr>
        <a:bodyPr/>
        <a:lstStyle/>
        <a:p>
          <a:pPr>
            <a:defRPr sz="8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BPS</a:t>
            </a:r>
            <a:r>
              <a:rPr lang="en-GB" baseline="0"/>
              <a:t> Margin Expansion</a:t>
            </a:r>
            <a:endParaRPr lang="en-GB"/>
          </a:p>
        </c:rich>
      </c:tx>
      <c:layout>
        <c:manualLayout>
          <c:xMode val="edge"/>
          <c:yMode val="edge"/>
          <c:x val="0.25899240250905736"/>
          <c:y val="2.796501657165778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v>BPS</c:v>
          </c:tx>
          <c:spPr>
            <a:solidFill>
              <a:schemeClr val="accent1"/>
            </a:solidFill>
            <a:ln>
              <a:noFill/>
            </a:ln>
            <a:effectLst/>
          </c:spPr>
          <c:invertIfNegative val="0"/>
          <c:cat>
            <c:numRef>
              <c:f>'BPS Forward Model'!$C$52:$G$52</c:f>
              <c:numCache>
                <c:formatCode>General</c:formatCode>
                <c:ptCount val="5"/>
                <c:pt idx="0">
                  <c:v>26</c:v>
                </c:pt>
                <c:pt idx="1">
                  <c:v>27</c:v>
                </c:pt>
                <c:pt idx="2">
                  <c:v>28</c:v>
                </c:pt>
                <c:pt idx="3">
                  <c:v>29</c:v>
                </c:pt>
                <c:pt idx="4">
                  <c:v>30</c:v>
                </c:pt>
              </c:numCache>
            </c:numRef>
          </c:cat>
          <c:val>
            <c:numRef>
              <c:f>'BPS Forward Model'!$C$53:$G$53</c:f>
              <c:numCache>
                <c:formatCode>0.00</c:formatCode>
                <c:ptCount val="5"/>
                <c:pt idx="0">
                  <c:v>74</c:v>
                </c:pt>
                <c:pt idx="1">
                  <c:v>79</c:v>
                </c:pt>
                <c:pt idx="2">
                  <c:v>64</c:v>
                </c:pt>
                <c:pt idx="3">
                  <c:v>55</c:v>
                </c:pt>
                <c:pt idx="4">
                  <c:v>53</c:v>
                </c:pt>
              </c:numCache>
            </c:numRef>
          </c:val>
          <c:extLst>
            <c:ext xmlns:c16="http://schemas.microsoft.com/office/drawing/2014/chart" uri="{C3380CC4-5D6E-409C-BE32-E72D297353CC}">
              <c16:uniqueId val="{00000000-FA13-461C-A02E-C5044FEF0C87}"/>
            </c:ext>
          </c:extLst>
        </c:ser>
        <c:ser>
          <c:idx val="1"/>
          <c:order val="1"/>
          <c:tx>
            <c:v>Cumulative BPS</c:v>
          </c:tx>
          <c:spPr>
            <a:solidFill>
              <a:schemeClr val="accent2"/>
            </a:solidFill>
            <a:ln>
              <a:noFill/>
            </a:ln>
            <a:effectLst/>
          </c:spPr>
          <c:invertIfNegative val="0"/>
          <c:cat>
            <c:numRef>
              <c:f>'BPS Forward Model'!$C$52:$G$52</c:f>
              <c:numCache>
                <c:formatCode>General</c:formatCode>
                <c:ptCount val="5"/>
                <c:pt idx="0">
                  <c:v>26</c:v>
                </c:pt>
                <c:pt idx="1">
                  <c:v>27</c:v>
                </c:pt>
                <c:pt idx="2">
                  <c:v>28</c:v>
                </c:pt>
                <c:pt idx="3">
                  <c:v>29</c:v>
                </c:pt>
                <c:pt idx="4">
                  <c:v>30</c:v>
                </c:pt>
              </c:numCache>
            </c:numRef>
          </c:cat>
          <c:val>
            <c:numRef>
              <c:f>'BPS Forward Model'!$C$54:$G$54</c:f>
              <c:numCache>
                <c:formatCode>0.00</c:formatCode>
                <c:ptCount val="5"/>
                <c:pt idx="0">
                  <c:v>74</c:v>
                </c:pt>
                <c:pt idx="1">
                  <c:v>152</c:v>
                </c:pt>
                <c:pt idx="2">
                  <c:v>216</c:v>
                </c:pt>
                <c:pt idx="3">
                  <c:v>271</c:v>
                </c:pt>
                <c:pt idx="4">
                  <c:v>325</c:v>
                </c:pt>
              </c:numCache>
            </c:numRef>
          </c:val>
          <c:extLst>
            <c:ext xmlns:c16="http://schemas.microsoft.com/office/drawing/2014/chart" uri="{C3380CC4-5D6E-409C-BE32-E72D297353CC}">
              <c16:uniqueId val="{00000001-FA13-461C-A02E-C5044FEF0C87}"/>
            </c:ext>
          </c:extLst>
        </c:ser>
        <c:dLbls>
          <c:showLegendKey val="0"/>
          <c:showVal val="0"/>
          <c:showCatName val="0"/>
          <c:showSerName val="0"/>
          <c:showPercent val="0"/>
          <c:showBubbleSize val="0"/>
        </c:dLbls>
        <c:gapWidth val="219"/>
        <c:overlap val="-27"/>
        <c:axId val="738080912"/>
        <c:axId val="738079472"/>
      </c:barChart>
      <c:catAx>
        <c:axId val="738080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8079472"/>
        <c:crosses val="autoZero"/>
        <c:auto val="1"/>
        <c:lblAlgn val="ctr"/>
        <c:lblOffset val="100"/>
        <c:noMultiLvlLbl val="0"/>
      </c:catAx>
      <c:valAx>
        <c:axId val="73807947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8080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EFDFC"/>
    </a:soli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171214976333088"/>
          <c:y val="6.912421203759786E-2"/>
          <c:w val="0.85335907530789423"/>
          <c:h val="0.57750801983085442"/>
        </c:manualLayout>
      </c:layout>
      <c:lineChart>
        <c:grouping val="standard"/>
        <c:varyColors val="0"/>
        <c:ser>
          <c:idx val="0"/>
          <c:order val="0"/>
          <c:tx>
            <c:strRef>
              <c:f>Sheet1!$B$1</c:f>
              <c:strCache>
                <c:ptCount val="1"/>
                <c:pt idx="0">
                  <c:v>DSO (days)</c:v>
                </c:pt>
              </c:strCache>
            </c:strRef>
          </c:tx>
          <c:spPr>
            <a:ln w="31750" cap="flat">
              <a:solidFill>
                <a:srgbClr val="1F676B"/>
              </a:solidFill>
              <a:prstDash val="solid"/>
              <a:round/>
            </a:ln>
            <a:effectLst/>
          </c:spPr>
          <c:marker>
            <c:symbol val="circle"/>
            <c:size val="6"/>
            <c:spPr>
              <a:solidFill>
                <a:srgbClr val="1F676B"/>
              </a:solidFill>
              <a:ln w="9525" cap="flat">
                <a:solidFill>
                  <a:srgbClr val="1F676B"/>
                </a:solidFill>
                <a:prstDash val="solid"/>
                <a:round/>
              </a:ln>
              <a:effectLst/>
            </c:spPr>
          </c:marker>
          <c:cat>
            <c:strRef>
              <c:f>Sheet1!$A$2:$A$5</c:f>
              <c:strCache>
                <c:ptCount val="4"/>
                <c:pt idx="0">
                  <c:v>FY22</c:v>
                </c:pt>
                <c:pt idx="1">
                  <c:v>FY23</c:v>
                </c:pt>
                <c:pt idx="2">
                  <c:v>FY24</c:v>
                </c:pt>
                <c:pt idx="3">
                  <c:v>FY25</c:v>
                </c:pt>
              </c:strCache>
            </c:strRef>
          </c:cat>
          <c:val>
            <c:numRef>
              <c:f>Sheet1!$B$2:$B$5</c:f>
              <c:numCache>
                <c:formatCode>General</c:formatCode>
                <c:ptCount val="4"/>
                <c:pt idx="0">
                  <c:v>57.2</c:v>
                </c:pt>
                <c:pt idx="1">
                  <c:v>60</c:v>
                </c:pt>
                <c:pt idx="2">
                  <c:v>62.8</c:v>
                </c:pt>
                <c:pt idx="3">
                  <c:v>65.8</c:v>
                </c:pt>
              </c:numCache>
            </c:numRef>
          </c:val>
          <c:smooth val="0"/>
          <c:extLst>
            <c:ext xmlns:c16="http://schemas.microsoft.com/office/drawing/2014/chart" uri="{C3380CC4-5D6E-409C-BE32-E72D297353CC}">
              <c16:uniqueId val="{00000000-520D-45CD-BFAC-09CD9CE8A513}"/>
            </c:ext>
          </c:extLst>
        </c:ser>
        <c:ser>
          <c:idx val="1"/>
          <c:order val="1"/>
          <c:tx>
            <c:strRef>
              <c:f>Sheet1!$C$1</c:f>
              <c:strCache>
                <c:ptCount val="1"/>
                <c:pt idx="0">
                  <c:v>Pre-Covid Normal</c:v>
                </c:pt>
              </c:strCache>
            </c:strRef>
          </c:tx>
          <c:spPr>
            <a:ln w="31750" cap="flat">
              <a:solidFill>
                <a:srgbClr val="D8975E"/>
              </a:solidFill>
              <a:prstDash val="solid"/>
              <a:round/>
            </a:ln>
            <a:effectLst/>
          </c:spPr>
          <c:marker>
            <c:symbol val="circle"/>
            <c:size val="6"/>
            <c:spPr>
              <a:solidFill>
                <a:srgbClr val="D8975E"/>
              </a:solidFill>
              <a:ln w="9525" cap="flat">
                <a:solidFill>
                  <a:srgbClr val="D8975E"/>
                </a:solidFill>
                <a:prstDash val="solid"/>
                <a:round/>
              </a:ln>
              <a:effectLst/>
            </c:spPr>
          </c:marker>
          <c:cat>
            <c:strRef>
              <c:f>Sheet1!$A$2:$A$5</c:f>
              <c:strCache>
                <c:ptCount val="4"/>
                <c:pt idx="0">
                  <c:v>FY22</c:v>
                </c:pt>
                <c:pt idx="1">
                  <c:v>FY23</c:v>
                </c:pt>
                <c:pt idx="2">
                  <c:v>FY24</c:v>
                </c:pt>
                <c:pt idx="3">
                  <c:v>FY25</c:v>
                </c:pt>
              </c:strCache>
            </c:strRef>
          </c:cat>
          <c:val>
            <c:numRef>
              <c:f>Sheet1!$C$2:$C$5</c:f>
              <c:numCache>
                <c:formatCode>General</c:formatCode>
                <c:ptCount val="4"/>
                <c:pt idx="0">
                  <c:v>58</c:v>
                </c:pt>
                <c:pt idx="1">
                  <c:v>58</c:v>
                </c:pt>
                <c:pt idx="2">
                  <c:v>58</c:v>
                </c:pt>
                <c:pt idx="3">
                  <c:v>58</c:v>
                </c:pt>
              </c:numCache>
            </c:numRef>
          </c:val>
          <c:smooth val="0"/>
          <c:extLst>
            <c:ext xmlns:c16="http://schemas.microsoft.com/office/drawing/2014/chart" uri="{C3380CC4-5D6E-409C-BE32-E72D297353CC}">
              <c16:uniqueId val="{00000001-520D-45CD-BFAC-09CD9CE8A51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70"/>
          <c:min val="54"/>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solidFill>
                <a:srgbClr val="4A5568"/>
              </a:solidFill>
            </a:defRPr>
          </a:pPr>
          <a:endParaRPr lang="en-US"/>
        </a:p>
      </c:txPr>
    </c:legend>
    <c:plotVisOnly val="1"/>
    <c:dispBlanksAs val="span"/>
    <c:showDLblsOverMax val="1"/>
  </c:chart>
  <c:spPr>
    <a:solidFill>
      <a:srgbClr val="F7F9FA"/>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Trapped Cash ($M)</c:v>
                </c:pt>
              </c:strCache>
            </c:strRef>
          </c:tx>
          <c:spPr>
            <a:solidFill>
              <a:srgbClr val="2A8A8E"/>
            </a:solidFill>
            <a:effectLst/>
          </c:spPr>
          <c:invertIfNegative val="0"/>
          <c:dPt>
            <c:idx val="0"/>
            <c:invertIfNegative val="0"/>
            <c:bubble3D val="0"/>
            <c:extLst>
              <c:ext xmlns:c16="http://schemas.microsoft.com/office/drawing/2014/chart" uri="{C3380CC4-5D6E-409C-BE32-E72D297353CC}">
                <c16:uniqueId val="{00000000-86C7-4865-88CA-52A7240712FC}"/>
              </c:ext>
            </c:extLst>
          </c:dPt>
          <c:dPt>
            <c:idx val="1"/>
            <c:invertIfNegative val="0"/>
            <c:bubble3D val="0"/>
            <c:spPr>
              <a:solidFill>
                <a:srgbClr val="1F676B"/>
              </a:solidFill>
              <a:effectLst/>
            </c:spPr>
            <c:extLst>
              <c:ext xmlns:c16="http://schemas.microsoft.com/office/drawing/2014/chart" uri="{C3380CC4-5D6E-409C-BE32-E72D297353CC}">
                <c16:uniqueId val="{00000002-86C7-4865-88CA-52A7240712FC}"/>
              </c:ext>
            </c:extLst>
          </c:dPt>
          <c:dPt>
            <c:idx val="2"/>
            <c:invertIfNegative val="0"/>
            <c:bubble3D val="0"/>
            <c:spPr>
              <a:solidFill>
                <a:srgbClr val="0F4C5C"/>
              </a:solidFill>
              <a:effectLst/>
            </c:spPr>
            <c:extLst>
              <c:ext xmlns:c16="http://schemas.microsoft.com/office/drawing/2014/chart" uri="{C3380CC4-5D6E-409C-BE32-E72D297353CC}">
                <c16:uniqueId val="{00000004-86C7-4865-88CA-52A7240712FC}"/>
              </c:ext>
            </c:extLst>
          </c:dPt>
          <c:dLbls>
            <c:numFmt formatCode="\$0" sourceLinked="0"/>
            <c:spPr>
              <a:noFill/>
              <a:ln>
                <a:noFill/>
              </a:ln>
              <a:effectLst/>
            </c:spPr>
            <c:txPr>
              <a:bodyPr/>
              <a:lstStyle/>
              <a:p>
                <a:pPr>
                  <a:defRPr sz="800" b="1" i="0" u="none" strike="noStrike">
                    <a:solidFill>
                      <a:srgbClr val="1A20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Bear
(DSO→65d)</c:v>
                </c:pt>
                <c:pt idx="1">
                  <c:v>Base
(DSO→60d)</c:v>
                </c:pt>
                <c:pt idx="2">
                  <c:v>Bull
(DSO→57d)</c:v>
                </c:pt>
              </c:strCache>
            </c:strRef>
          </c:cat>
          <c:val>
            <c:numRef>
              <c:f>Sheet1!$B$2:$B$4</c:f>
              <c:numCache>
                <c:formatCode>General</c:formatCode>
                <c:ptCount val="3"/>
                <c:pt idx="0">
                  <c:v>46</c:v>
                </c:pt>
                <c:pt idx="1">
                  <c:v>329</c:v>
                </c:pt>
                <c:pt idx="2">
                  <c:v>498</c:v>
                </c:pt>
              </c:numCache>
            </c:numRef>
          </c:val>
          <c:extLst>
            <c:ext xmlns:c16="http://schemas.microsoft.com/office/drawing/2014/chart" uri="{C3380CC4-5D6E-409C-BE32-E72D297353CC}">
              <c16:uniqueId val="{00000005-86C7-4865-88CA-52A7240712F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7F9FA"/>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Bear</c:v>
                </c:pt>
              </c:strCache>
            </c:strRef>
          </c:tx>
          <c:spPr>
            <a:ln w="25400" cap="flat">
              <a:solidFill>
                <a:srgbClr val="2A8A8E"/>
              </a:solidFill>
              <a:prstDash val="solid"/>
              <a:round/>
            </a:ln>
            <a:effectLst/>
          </c:spPr>
          <c:marker>
            <c:symbol val="circle"/>
            <c:size val="6"/>
            <c:spPr>
              <a:solidFill>
                <a:srgbClr val="2A8A8E"/>
              </a:solidFill>
              <a:ln w="9525" cap="flat">
                <a:solidFill>
                  <a:srgbClr val="2A8A8E"/>
                </a:solidFill>
                <a:prstDash val="solid"/>
                <a:round/>
              </a:ln>
              <a:effectLst/>
            </c:spPr>
          </c:marker>
          <c:cat>
            <c:strRef>
              <c:f>Sheet1!$A$2:$A$6</c:f>
              <c:strCache>
                <c:ptCount val="5"/>
                <c:pt idx="0">
                  <c:v>FY26E</c:v>
                </c:pt>
                <c:pt idx="1">
                  <c:v>FY27E</c:v>
                </c:pt>
                <c:pt idx="2">
                  <c:v>FY28E</c:v>
                </c:pt>
                <c:pt idx="3">
                  <c:v>FY29E</c:v>
                </c:pt>
                <c:pt idx="4">
                  <c:v>FY30E</c:v>
                </c:pt>
              </c:strCache>
            </c:strRef>
          </c:cat>
          <c:val>
            <c:numRef>
              <c:f>Sheet1!$B$2:$B$6</c:f>
              <c:numCache>
                <c:formatCode>General</c:formatCode>
                <c:ptCount val="5"/>
                <c:pt idx="0">
                  <c:v>2487</c:v>
                </c:pt>
                <c:pt idx="1">
                  <c:v>2778</c:v>
                </c:pt>
                <c:pt idx="2">
                  <c:v>3073</c:v>
                </c:pt>
                <c:pt idx="3">
                  <c:v>3308</c:v>
                </c:pt>
                <c:pt idx="4">
                  <c:v>3507</c:v>
                </c:pt>
              </c:numCache>
            </c:numRef>
          </c:val>
          <c:smooth val="1"/>
          <c:extLst>
            <c:ext xmlns:c16="http://schemas.microsoft.com/office/drawing/2014/chart" uri="{C3380CC4-5D6E-409C-BE32-E72D297353CC}">
              <c16:uniqueId val="{00000000-0AFC-48FD-8775-82D98AF1AF3F}"/>
            </c:ext>
          </c:extLst>
        </c:ser>
        <c:ser>
          <c:idx val="1"/>
          <c:order val="1"/>
          <c:tx>
            <c:strRef>
              <c:f>Sheet1!$C$1</c:f>
              <c:strCache>
                <c:ptCount val="1"/>
                <c:pt idx="0">
                  <c:v>Base</c:v>
                </c:pt>
              </c:strCache>
            </c:strRef>
          </c:tx>
          <c:spPr>
            <a:ln w="25400" cap="flat">
              <a:solidFill>
                <a:srgbClr val="1F676B"/>
              </a:solidFill>
              <a:prstDash val="solid"/>
              <a:round/>
            </a:ln>
            <a:effectLst/>
          </c:spPr>
          <c:marker>
            <c:symbol val="circle"/>
            <c:size val="6"/>
            <c:spPr>
              <a:solidFill>
                <a:srgbClr val="1F676B"/>
              </a:solidFill>
              <a:ln w="9525" cap="flat">
                <a:solidFill>
                  <a:srgbClr val="1F676B"/>
                </a:solidFill>
                <a:prstDash val="solid"/>
                <a:round/>
              </a:ln>
              <a:effectLst/>
            </c:spPr>
          </c:marker>
          <c:cat>
            <c:strRef>
              <c:f>Sheet1!$A$2:$A$6</c:f>
              <c:strCache>
                <c:ptCount val="5"/>
                <c:pt idx="0">
                  <c:v>FY26E</c:v>
                </c:pt>
                <c:pt idx="1">
                  <c:v>FY27E</c:v>
                </c:pt>
                <c:pt idx="2">
                  <c:v>FY28E</c:v>
                </c:pt>
                <c:pt idx="3">
                  <c:v>FY29E</c:v>
                </c:pt>
                <c:pt idx="4">
                  <c:v>FY30E</c:v>
                </c:pt>
              </c:strCache>
            </c:strRef>
          </c:cat>
          <c:val>
            <c:numRef>
              <c:f>Sheet1!$C$2:$C$6</c:f>
              <c:numCache>
                <c:formatCode>General</c:formatCode>
                <c:ptCount val="5"/>
                <c:pt idx="0">
                  <c:v>2518</c:v>
                </c:pt>
                <c:pt idx="1">
                  <c:v>2870</c:v>
                </c:pt>
                <c:pt idx="2">
                  <c:v>3160</c:v>
                </c:pt>
                <c:pt idx="3">
                  <c:v>3348</c:v>
                </c:pt>
                <c:pt idx="4">
                  <c:v>3519</c:v>
                </c:pt>
              </c:numCache>
            </c:numRef>
          </c:val>
          <c:smooth val="1"/>
          <c:extLst>
            <c:ext xmlns:c16="http://schemas.microsoft.com/office/drawing/2014/chart" uri="{C3380CC4-5D6E-409C-BE32-E72D297353CC}">
              <c16:uniqueId val="{00000001-0AFC-48FD-8775-82D98AF1AF3F}"/>
            </c:ext>
          </c:extLst>
        </c:ser>
        <c:ser>
          <c:idx val="2"/>
          <c:order val="2"/>
          <c:tx>
            <c:strRef>
              <c:f>Sheet1!$D$1</c:f>
              <c:strCache>
                <c:ptCount val="1"/>
                <c:pt idx="0">
                  <c:v>Bull</c:v>
                </c:pt>
              </c:strCache>
            </c:strRef>
          </c:tx>
          <c:spPr>
            <a:ln w="25400" cap="flat">
              <a:solidFill>
                <a:srgbClr val="0F4C5C"/>
              </a:solidFill>
              <a:prstDash val="solid"/>
              <a:round/>
            </a:ln>
            <a:effectLst/>
          </c:spPr>
          <c:marker>
            <c:symbol val="circle"/>
            <c:size val="6"/>
            <c:spPr>
              <a:solidFill>
                <a:srgbClr val="0F4C5C"/>
              </a:solidFill>
              <a:ln w="9525" cap="flat">
                <a:solidFill>
                  <a:srgbClr val="0F4C5C"/>
                </a:solidFill>
                <a:prstDash val="solid"/>
                <a:round/>
              </a:ln>
              <a:effectLst/>
            </c:spPr>
          </c:marker>
          <c:cat>
            <c:strRef>
              <c:f>Sheet1!$A$2:$A$6</c:f>
              <c:strCache>
                <c:ptCount val="5"/>
                <c:pt idx="0">
                  <c:v>FY26E</c:v>
                </c:pt>
                <c:pt idx="1">
                  <c:v>FY27E</c:v>
                </c:pt>
                <c:pt idx="2">
                  <c:v>FY28E</c:v>
                </c:pt>
                <c:pt idx="3">
                  <c:v>FY29E</c:v>
                </c:pt>
                <c:pt idx="4">
                  <c:v>FY30E</c:v>
                </c:pt>
              </c:strCache>
            </c:strRef>
          </c:cat>
          <c:val>
            <c:numRef>
              <c:f>Sheet1!$D$2:$D$6</c:f>
              <c:numCache>
                <c:formatCode>General</c:formatCode>
                <c:ptCount val="5"/>
                <c:pt idx="0">
                  <c:v>2634</c:v>
                </c:pt>
                <c:pt idx="1">
                  <c:v>2970</c:v>
                </c:pt>
                <c:pt idx="2">
                  <c:v>3161</c:v>
                </c:pt>
                <c:pt idx="3">
                  <c:v>3323</c:v>
                </c:pt>
                <c:pt idx="4">
                  <c:v>3503</c:v>
                </c:pt>
              </c:numCache>
            </c:numRef>
          </c:val>
          <c:smooth val="1"/>
          <c:extLst>
            <c:ext xmlns:c16="http://schemas.microsoft.com/office/drawing/2014/chart" uri="{C3380CC4-5D6E-409C-BE32-E72D297353CC}">
              <c16:uniqueId val="{00000002-0AFC-48FD-8775-82D98AF1AF3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3700"/>
          <c:min val="2300"/>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solidFill>
                <a:srgbClr val="4A5568"/>
              </a:solidFill>
            </a:defRPr>
          </a:pPr>
          <a:endParaRPr lang="en-US"/>
        </a:p>
      </c:txPr>
    </c:legend>
    <c:plotVisOnly val="1"/>
    <c:dispBlanksAs val="span"/>
    <c:showDLblsOverMax val="1"/>
  </c:chart>
  <c:spPr>
    <a:solidFill>
      <a:srgbClr val="F7F9FA"/>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Total Revenue (indexed FY22=100)</c:v>
                </c:pt>
              </c:strCache>
            </c:strRef>
          </c:tx>
          <c:spPr>
            <a:solidFill>
              <a:srgbClr val="1F676B"/>
            </a:solidFill>
            <a:effectLst/>
          </c:spPr>
          <c:invertIfNegative val="0"/>
          <c:cat>
            <c:strRef>
              <c:f>Sheet1!$A$2:$A$5</c:f>
              <c:strCache>
                <c:ptCount val="4"/>
                <c:pt idx="0">
                  <c:v>FY22</c:v>
                </c:pt>
                <c:pt idx="1">
                  <c:v>FY23</c:v>
                </c:pt>
                <c:pt idx="2">
                  <c:v>FY24</c:v>
                </c:pt>
                <c:pt idx="3">
                  <c:v>FY25</c:v>
                </c:pt>
              </c:strCache>
            </c:strRef>
          </c:cat>
          <c:val>
            <c:numRef>
              <c:f>Sheet1!$B$2:$B$5</c:f>
              <c:numCache>
                <c:formatCode>General</c:formatCode>
                <c:ptCount val="4"/>
                <c:pt idx="0">
                  <c:v>100</c:v>
                </c:pt>
                <c:pt idx="1">
                  <c:v>106.6</c:v>
                </c:pt>
                <c:pt idx="2">
                  <c:v>107.2</c:v>
                </c:pt>
                <c:pt idx="3">
                  <c:v>112.5</c:v>
                </c:pt>
              </c:numCache>
            </c:numRef>
          </c:val>
          <c:extLst>
            <c:ext xmlns:c16="http://schemas.microsoft.com/office/drawing/2014/chart" uri="{C3380CC4-5D6E-409C-BE32-E72D297353CC}">
              <c16:uniqueId val="{00000000-A13A-4E36-A002-682A31F90286}"/>
            </c:ext>
          </c:extLst>
        </c:ser>
        <c:ser>
          <c:idx val="1"/>
          <c:order val="1"/>
          <c:tx>
            <c:strRef>
              <c:f>Sheet1!$C$1</c:f>
              <c:strCache>
                <c:ptCount val="1"/>
                <c:pt idx="0">
                  <c:v>China Revenue (indexed FY22=100)</c:v>
                </c:pt>
              </c:strCache>
            </c:strRef>
          </c:tx>
          <c:spPr>
            <a:solidFill>
              <a:srgbClr val="C00000"/>
            </a:solidFill>
            <a:effectLst/>
          </c:spPr>
          <c:invertIfNegative val="0"/>
          <c:cat>
            <c:strRef>
              <c:f>Sheet1!$A$2:$A$5</c:f>
              <c:strCache>
                <c:ptCount val="4"/>
                <c:pt idx="0">
                  <c:v>FY22</c:v>
                </c:pt>
                <c:pt idx="1">
                  <c:v>FY23</c:v>
                </c:pt>
                <c:pt idx="2">
                  <c:v>FY24</c:v>
                </c:pt>
                <c:pt idx="3">
                  <c:v>FY25</c:v>
                </c:pt>
              </c:strCache>
            </c:strRef>
          </c:cat>
          <c:val>
            <c:numRef>
              <c:f>Sheet1!$C$2:$C$5</c:f>
              <c:numCache>
                <c:formatCode>General</c:formatCode>
                <c:ptCount val="4"/>
                <c:pt idx="0">
                  <c:v>100</c:v>
                </c:pt>
                <c:pt idx="1">
                  <c:v>112</c:v>
                </c:pt>
                <c:pt idx="2">
                  <c:v>112.4</c:v>
                </c:pt>
                <c:pt idx="3">
                  <c:v>107.2</c:v>
                </c:pt>
              </c:numCache>
            </c:numRef>
          </c:val>
          <c:extLst>
            <c:ext xmlns:c16="http://schemas.microsoft.com/office/drawing/2014/chart" uri="{C3380CC4-5D6E-409C-BE32-E72D297353CC}">
              <c16:uniqueId val="{00000001-A13A-4E36-A002-682A31F9028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20"/>
          <c:min val="95"/>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solidFill>
                <a:srgbClr val="4A5568"/>
              </a:solidFill>
            </a:defRPr>
          </a:pPr>
          <a:endParaRPr lang="en-US"/>
        </a:p>
      </c:txPr>
    </c:legend>
    <c:plotVisOnly val="1"/>
    <c:dispBlanksAs val="span"/>
    <c:showDLblsOverMax val="1"/>
  </c:chart>
  <c:spPr>
    <a:solidFill>
      <a:srgbClr val="F7F9FA"/>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Model</c:v>
                </c:pt>
              </c:strCache>
            </c:strRef>
          </c:tx>
          <c:spPr>
            <a:solidFill>
              <a:srgbClr val="006D64"/>
            </a:solidFill>
            <a:effectLst/>
          </c:spPr>
          <c:invertIfNegative val="0"/>
          <c:dLbls>
            <c:numFmt formatCode="#,##0" sourceLinked="0"/>
            <c:spPr>
              <a:noFill/>
              <a:ln>
                <a:noFill/>
              </a:ln>
              <a:effectLst/>
            </c:spPr>
            <c:txPr>
              <a:bodyPr/>
              <a:lstStyle/>
              <a:p>
                <a:pPr>
                  <a:defRPr sz="50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Sheet1!$B$2:$B$7</c:f>
              <c:numCache>
                <c:formatCode>General</c:formatCode>
                <c:ptCount val="6"/>
                <c:pt idx="0">
                  <c:v>20.6</c:v>
                </c:pt>
                <c:pt idx="1">
                  <c:v>21.7</c:v>
                </c:pt>
                <c:pt idx="2">
                  <c:v>22.9</c:v>
                </c:pt>
                <c:pt idx="3">
                  <c:v>23.9</c:v>
                </c:pt>
                <c:pt idx="4">
                  <c:v>25</c:v>
                </c:pt>
                <c:pt idx="5">
                  <c:v>25.9</c:v>
                </c:pt>
              </c:numCache>
            </c:numRef>
          </c:val>
          <c:extLst>
            <c:ext xmlns:c16="http://schemas.microsoft.com/office/drawing/2014/chart" uri="{C3380CC4-5D6E-409C-BE32-E72D297353CC}">
              <c16:uniqueId val="{00000000-BDBE-453F-9074-AB2E0587A992}"/>
            </c:ext>
          </c:extLst>
        </c:ser>
        <c:ser>
          <c:idx val="1"/>
          <c:order val="1"/>
          <c:tx>
            <c:strRef>
              <c:f>Sheet1!$C$1</c:f>
              <c:strCache>
                <c:ptCount val="1"/>
                <c:pt idx="0">
                  <c:v>Consensus</c:v>
                </c:pt>
              </c:strCache>
            </c:strRef>
          </c:tx>
          <c:spPr>
            <a:solidFill>
              <a:srgbClr val="E5E9EF"/>
            </a:solidFill>
            <a:effectLst/>
          </c:spPr>
          <c:invertIfNegative val="0"/>
          <c:dLbls>
            <c:numFmt formatCode="#,##0" sourceLinked="0"/>
            <c:spPr>
              <a:noFill/>
              <a:ln>
                <a:noFill/>
              </a:ln>
              <a:effectLst/>
            </c:spPr>
            <c:txPr>
              <a:bodyPr/>
              <a:lstStyle/>
              <a:p>
                <a:pPr>
                  <a:defRPr sz="50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Sheet1!$C$2:$C$7</c:f>
              <c:numCache>
                <c:formatCode>General</c:formatCode>
                <c:ptCount val="6"/>
                <c:pt idx="0">
                  <c:v>20.6</c:v>
                </c:pt>
                <c:pt idx="1">
                  <c:v>21.1</c:v>
                </c:pt>
                <c:pt idx="2">
                  <c:v>21.8</c:v>
                </c:pt>
                <c:pt idx="3">
                  <c:v>22.5</c:v>
                </c:pt>
                <c:pt idx="4">
                  <c:v>23.2</c:v>
                </c:pt>
                <c:pt idx="5">
                  <c:v>24.1</c:v>
                </c:pt>
              </c:numCache>
            </c:numRef>
          </c:val>
          <c:extLst>
            <c:ext xmlns:c16="http://schemas.microsoft.com/office/drawing/2014/chart" uri="{C3380CC4-5D6E-409C-BE32-E72D297353CC}">
              <c16:uniqueId val="{00000001-BDBE-453F-9074-AB2E0587A99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30"/>
          <c:min val="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Model</c:v>
                </c:pt>
              </c:strCache>
            </c:strRef>
          </c:tx>
          <c:spPr>
            <a:ln w="27940" cap="flat">
              <a:solidFill>
                <a:srgbClr val="006D64"/>
              </a:solidFill>
              <a:prstDash val="solid"/>
              <a:round/>
            </a:ln>
            <a:effectLst/>
          </c:spPr>
          <c:marker>
            <c:symbol val="circle"/>
            <c:size val="6"/>
            <c:spPr>
              <a:solidFill>
                <a:srgbClr val="006D64"/>
              </a:solidFill>
              <a:ln w="9525" cap="flat">
                <a:solidFill>
                  <a:srgbClr val="006D64"/>
                </a:solidFill>
                <a:prstDash val="solid"/>
                <a:round/>
              </a:ln>
              <a:effectLst/>
            </c:spPr>
          </c:marker>
          <c:dLbls>
            <c:numFmt formatCode="#,##0" sourceLinked="0"/>
            <c:spPr>
              <a:noFill/>
              <a:ln>
                <a:noFill/>
              </a:ln>
              <a:effectLst/>
            </c:spPr>
            <c:txPr>
              <a:bodyPr/>
              <a:lstStyle/>
              <a:p>
                <a:pPr>
                  <a:defRPr sz="55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Sheet1!$B$2:$B$7</c:f>
              <c:numCache>
                <c:formatCode>General</c:formatCode>
                <c:ptCount val="6"/>
                <c:pt idx="0">
                  <c:v>15.3</c:v>
                </c:pt>
                <c:pt idx="1">
                  <c:v>16</c:v>
                </c:pt>
                <c:pt idx="2">
                  <c:v>16.8</c:v>
                </c:pt>
                <c:pt idx="3">
                  <c:v>17.5</c:v>
                </c:pt>
                <c:pt idx="4">
                  <c:v>18</c:v>
                </c:pt>
                <c:pt idx="5">
                  <c:v>18.5</c:v>
                </c:pt>
              </c:numCache>
            </c:numRef>
          </c:val>
          <c:smooth val="0"/>
          <c:extLst>
            <c:ext xmlns:c16="http://schemas.microsoft.com/office/drawing/2014/chart" uri="{C3380CC4-5D6E-409C-BE32-E72D297353CC}">
              <c16:uniqueId val="{00000000-09B3-4D18-8A43-3FA14F4449D7}"/>
            </c:ext>
          </c:extLst>
        </c:ser>
        <c:ser>
          <c:idx val="1"/>
          <c:order val="1"/>
          <c:tx>
            <c:strRef>
              <c:f>Sheet1!$C$1</c:f>
              <c:strCache>
                <c:ptCount val="1"/>
                <c:pt idx="0">
                  <c:v>Consensus</c:v>
                </c:pt>
              </c:strCache>
            </c:strRef>
          </c:tx>
          <c:spPr>
            <a:ln w="27940" cap="flat">
              <a:solidFill>
                <a:srgbClr val="6B7280"/>
              </a:solidFill>
              <a:prstDash val="solid"/>
              <a:round/>
            </a:ln>
            <a:effectLst/>
          </c:spPr>
          <c:marker>
            <c:symbol val="circle"/>
            <c:size val="6"/>
            <c:spPr>
              <a:solidFill>
                <a:srgbClr val="6B7280"/>
              </a:solidFill>
              <a:ln w="9525" cap="flat">
                <a:solidFill>
                  <a:srgbClr val="6B7280"/>
                </a:solidFill>
                <a:prstDash val="solid"/>
                <a:round/>
              </a:ln>
              <a:effectLst/>
            </c:spPr>
          </c:marker>
          <c:dLbls>
            <c:numFmt formatCode="#,##0" sourceLinked="0"/>
            <c:spPr>
              <a:noFill/>
              <a:ln>
                <a:noFill/>
              </a:ln>
              <a:effectLst/>
            </c:spPr>
            <c:txPr>
              <a:bodyPr/>
              <a:lstStyle/>
              <a:p>
                <a:pPr>
                  <a:defRPr sz="55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Sheet1!$C$2:$C$7</c:f>
              <c:numCache>
                <c:formatCode>General</c:formatCode>
                <c:ptCount val="6"/>
                <c:pt idx="0">
                  <c:v>15.3</c:v>
                </c:pt>
                <c:pt idx="1">
                  <c:v>15.5</c:v>
                </c:pt>
                <c:pt idx="2">
                  <c:v>15.8</c:v>
                </c:pt>
                <c:pt idx="3">
                  <c:v>16</c:v>
                </c:pt>
                <c:pt idx="4">
                  <c:v>16.2</c:v>
                </c:pt>
                <c:pt idx="5">
                  <c:v>16.5</c:v>
                </c:pt>
              </c:numCache>
            </c:numRef>
          </c:val>
          <c:smooth val="0"/>
          <c:extLst>
            <c:ext xmlns:c16="http://schemas.microsoft.com/office/drawing/2014/chart" uri="{C3380CC4-5D6E-409C-BE32-E72D297353CC}">
              <c16:uniqueId val="{00000001-09B3-4D18-8A43-3FA14F4449D7}"/>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22"/>
          <c:min val="12"/>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Imaging</c:v>
                </c:pt>
              </c:strCache>
            </c:strRef>
          </c:tx>
          <c:spPr>
            <a:solidFill>
              <a:srgbClr val="006D64"/>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Sheet1!$B$2:$B$7</c:f>
              <c:numCache>
                <c:formatCode>General</c:formatCode>
                <c:ptCount val="6"/>
                <c:pt idx="0">
                  <c:v>9245</c:v>
                </c:pt>
                <c:pt idx="1">
                  <c:v>9834</c:v>
                </c:pt>
                <c:pt idx="2">
                  <c:v>10336</c:v>
                </c:pt>
                <c:pt idx="3">
                  <c:v>10840</c:v>
                </c:pt>
                <c:pt idx="4">
                  <c:v>11368</c:v>
                </c:pt>
                <c:pt idx="5">
                  <c:v>11820</c:v>
                </c:pt>
              </c:numCache>
            </c:numRef>
          </c:val>
          <c:extLst>
            <c:ext xmlns:c16="http://schemas.microsoft.com/office/drawing/2014/chart" uri="{C3380CC4-5D6E-409C-BE32-E72D297353CC}">
              <c16:uniqueId val="{00000000-60A2-45BF-8F12-A0CCA5DEA7D4}"/>
            </c:ext>
          </c:extLst>
        </c:ser>
        <c:ser>
          <c:idx val="1"/>
          <c:order val="1"/>
          <c:tx>
            <c:strRef>
              <c:f>Sheet1!$C$1</c:f>
              <c:strCache>
                <c:ptCount val="1"/>
                <c:pt idx="0">
                  <c:v>AVS</c:v>
                </c:pt>
              </c:strCache>
            </c:strRef>
          </c:tx>
          <c:spPr>
            <a:solidFill>
              <a:srgbClr val="00ACC1"/>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Sheet1!$C$2:$C$7</c:f>
              <c:numCache>
                <c:formatCode>General</c:formatCode>
                <c:ptCount val="6"/>
                <c:pt idx="0">
                  <c:v>5354</c:v>
                </c:pt>
                <c:pt idx="1">
                  <c:v>5552</c:v>
                </c:pt>
                <c:pt idx="2">
                  <c:v>5802</c:v>
                </c:pt>
                <c:pt idx="3">
                  <c:v>6057</c:v>
                </c:pt>
                <c:pt idx="4">
                  <c:v>6310</c:v>
                </c:pt>
                <c:pt idx="5">
                  <c:v>6561</c:v>
                </c:pt>
              </c:numCache>
            </c:numRef>
          </c:val>
          <c:extLst>
            <c:ext xmlns:c16="http://schemas.microsoft.com/office/drawing/2014/chart" uri="{C3380CC4-5D6E-409C-BE32-E72D297353CC}">
              <c16:uniqueId val="{00000001-60A2-45BF-8F12-A0CCA5DEA7D4}"/>
            </c:ext>
          </c:extLst>
        </c:ser>
        <c:ser>
          <c:idx val="2"/>
          <c:order val="2"/>
          <c:tx>
            <c:strRef>
              <c:f>Sheet1!$D$1</c:f>
              <c:strCache>
                <c:ptCount val="1"/>
                <c:pt idx="0">
                  <c:v>PCS</c:v>
                </c:pt>
              </c:strCache>
            </c:strRef>
          </c:tx>
          <c:spPr>
            <a:solidFill>
              <a:srgbClr val="78909C"/>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Sheet1!$D$2:$D$7</c:f>
              <c:numCache>
                <c:formatCode>General</c:formatCode>
                <c:ptCount val="6"/>
                <c:pt idx="0">
                  <c:v>3086</c:v>
                </c:pt>
                <c:pt idx="1">
                  <c:v>3128</c:v>
                </c:pt>
                <c:pt idx="2">
                  <c:v>3195</c:v>
                </c:pt>
                <c:pt idx="3">
                  <c:v>3263</c:v>
                </c:pt>
                <c:pt idx="4">
                  <c:v>3334</c:v>
                </c:pt>
                <c:pt idx="5">
                  <c:v>3406</c:v>
                </c:pt>
              </c:numCache>
            </c:numRef>
          </c:val>
          <c:extLst>
            <c:ext xmlns:c16="http://schemas.microsoft.com/office/drawing/2014/chart" uri="{C3380CC4-5D6E-409C-BE32-E72D297353CC}">
              <c16:uniqueId val="{00000002-60A2-45BF-8F12-A0CCA5DEA7D4}"/>
            </c:ext>
          </c:extLst>
        </c:ser>
        <c:ser>
          <c:idx val="3"/>
          <c:order val="3"/>
          <c:tx>
            <c:strRef>
              <c:f>Sheet1!$E$1</c:f>
              <c:strCache>
                <c:ptCount val="1"/>
                <c:pt idx="0">
                  <c:v>PDx</c:v>
                </c:pt>
              </c:strCache>
            </c:strRef>
          </c:tx>
          <c:spPr>
            <a:solidFill>
              <a:srgbClr val="D4A017"/>
            </a:solidFill>
            <a:effectLst/>
          </c:spPr>
          <c:invertIfNegative val="0"/>
          <c:cat>
            <c:strRef>
              <c:f>Sheet1!$A$2:$A$7</c:f>
              <c:strCache>
                <c:ptCount val="6"/>
                <c:pt idx="0">
                  <c:v>FY25A</c:v>
                </c:pt>
                <c:pt idx="1">
                  <c:v>FY26E</c:v>
                </c:pt>
                <c:pt idx="2">
                  <c:v>FY27E</c:v>
                </c:pt>
                <c:pt idx="3">
                  <c:v>FY28E</c:v>
                </c:pt>
                <c:pt idx="4">
                  <c:v>FY29E</c:v>
                </c:pt>
                <c:pt idx="5">
                  <c:v>FY30E</c:v>
                </c:pt>
              </c:strCache>
            </c:strRef>
          </c:cat>
          <c:val>
            <c:numRef>
              <c:f>Sheet1!$E$2:$E$7</c:f>
              <c:numCache>
                <c:formatCode>General</c:formatCode>
                <c:ptCount val="6"/>
                <c:pt idx="0">
                  <c:v>2900</c:v>
                </c:pt>
                <c:pt idx="1">
                  <c:v>3148</c:v>
                </c:pt>
                <c:pt idx="2">
                  <c:v>3491</c:v>
                </c:pt>
                <c:pt idx="3">
                  <c:v>3744</c:v>
                </c:pt>
                <c:pt idx="4">
                  <c:v>3938</c:v>
                </c:pt>
                <c:pt idx="5">
                  <c:v>4094</c:v>
                </c:pt>
              </c:numCache>
            </c:numRef>
          </c:val>
          <c:extLst>
            <c:ext xmlns:c16="http://schemas.microsoft.com/office/drawing/2014/chart" uri="{C3380CC4-5D6E-409C-BE32-E72D297353CC}">
              <c16:uniqueId val="{00000003-60A2-45BF-8F12-A0CCA5DEA7D4}"/>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3000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Flyrcado rev ($m)</c:v>
                </c:pt>
              </c:strCache>
            </c:strRef>
          </c:tx>
          <c:spPr>
            <a:solidFill>
              <a:srgbClr val="D4A017"/>
            </a:solidFill>
            <a:effectLst/>
          </c:spPr>
          <c:invertIfNegative val="0"/>
          <c:dLbls>
            <c:numFmt formatCode="#,##0" sourceLinked="0"/>
            <c:spPr>
              <a:noFill/>
              <a:ln>
                <a:noFill/>
              </a:ln>
              <a:effectLst/>
            </c:spPr>
            <c:txPr>
              <a:bodyPr/>
              <a:lstStyle/>
              <a:p>
                <a:pPr>
                  <a:defRPr sz="50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Sheet1!$B$2:$B$7</c:f>
              <c:numCache>
                <c:formatCode>General</c:formatCode>
                <c:ptCount val="6"/>
                <c:pt idx="0">
                  <c:v>50</c:v>
                </c:pt>
                <c:pt idx="1">
                  <c:v>175</c:v>
                </c:pt>
                <c:pt idx="2">
                  <c:v>385</c:v>
                </c:pt>
                <c:pt idx="3">
                  <c:v>500</c:v>
                </c:pt>
                <c:pt idx="4">
                  <c:v>550</c:v>
                </c:pt>
                <c:pt idx="5">
                  <c:v>590</c:v>
                </c:pt>
              </c:numCache>
            </c:numRef>
          </c:val>
          <c:extLst>
            <c:ext xmlns:c16="http://schemas.microsoft.com/office/drawing/2014/chart" uri="{C3380CC4-5D6E-409C-BE32-E72D297353CC}">
              <c16:uniqueId val="{00000000-27F8-41C2-B927-7D62DCED6FFF}"/>
            </c:ext>
          </c:extLst>
        </c:ser>
        <c:ser>
          <c:idx val="1"/>
          <c:order val="1"/>
          <c:tx>
            <c:strRef>
              <c:f>Sheet1!$C$1</c:f>
              <c:strCache>
                <c:ptCount val="1"/>
                <c:pt idx="0">
                  <c:v>PDx EBIT margin × 10 (proxy scale)</c:v>
                </c:pt>
              </c:strCache>
            </c:strRef>
          </c:tx>
          <c:spPr>
            <a:solidFill>
              <a:srgbClr val="006D64"/>
            </a:solidFill>
            <a:effectLst/>
          </c:spPr>
          <c:invertIfNegative val="0"/>
          <c:dLbls>
            <c:numFmt formatCode="#,##0" sourceLinked="0"/>
            <c:spPr>
              <a:noFill/>
              <a:ln>
                <a:noFill/>
              </a:ln>
              <a:effectLst/>
            </c:spPr>
            <c:txPr>
              <a:bodyPr/>
              <a:lstStyle/>
              <a:p>
                <a:pPr>
                  <a:defRPr sz="500" b="0" i="0" u="none" strike="noStrike">
                    <a:solidFill>
                      <a:srgbClr val="0D1B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FY25A</c:v>
                </c:pt>
                <c:pt idx="1">
                  <c:v>FY26E</c:v>
                </c:pt>
                <c:pt idx="2">
                  <c:v>FY27E</c:v>
                </c:pt>
                <c:pt idx="3">
                  <c:v>FY28E</c:v>
                </c:pt>
                <c:pt idx="4">
                  <c:v>FY29E</c:v>
                </c:pt>
                <c:pt idx="5">
                  <c:v>FY30E</c:v>
                </c:pt>
              </c:strCache>
            </c:strRef>
          </c:cat>
          <c:val>
            <c:numRef>
              <c:f>Sheet1!$C$2:$C$7</c:f>
              <c:numCache>
                <c:formatCode>General</c:formatCode>
                <c:ptCount val="6"/>
                <c:pt idx="0">
                  <c:v>301</c:v>
                </c:pt>
                <c:pt idx="1">
                  <c:v>307</c:v>
                </c:pt>
                <c:pt idx="2">
                  <c:v>317</c:v>
                </c:pt>
                <c:pt idx="3">
                  <c:v>324</c:v>
                </c:pt>
                <c:pt idx="4">
                  <c:v>328</c:v>
                </c:pt>
                <c:pt idx="5">
                  <c:v>331</c:v>
                </c:pt>
              </c:numCache>
            </c:numRef>
          </c:val>
          <c:extLst>
            <c:ext xmlns:c16="http://schemas.microsoft.com/office/drawing/2014/chart" uri="{C3380CC4-5D6E-409C-BE32-E72D297353CC}">
              <c16:uniqueId val="{00000001-27F8-41C2-B927-7D62DCED6FFF}"/>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70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Bear</c:v>
                </c:pt>
              </c:strCache>
            </c:strRef>
          </c:tx>
          <c:spPr>
            <a:ln w="25400" cap="flat">
              <a:solidFill>
                <a:srgbClr val="C62828"/>
              </a:solidFill>
              <a:prstDash val="solid"/>
              <a:round/>
            </a:ln>
            <a:effectLst/>
          </c:spPr>
          <c:marker>
            <c:symbol val="circle"/>
            <c:size val="6"/>
            <c:spPr>
              <a:solidFill>
                <a:srgbClr val="C62828"/>
              </a:solidFill>
              <a:ln w="9525" cap="flat">
                <a:solidFill>
                  <a:srgbClr val="C62828"/>
                </a:solidFill>
                <a:prstDash val="solid"/>
                <a:round/>
              </a:ln>
              <a:effectLst/>
            </c:spPr>
          </c:marker>
          <c:cat>
            <c:strRef>
              <c:f>Sheet1!$A$2:$A$6</c:f>
              <c:strCache>
                <c:ptCount val="5"/>
                <c:pt idx="0">
                  <c:v>FY26E</c:v>
                </c:pt>
                <c:pt idx="1">
                  <c:v>FY27E</c:v>
                </c:pt>
                <c:pt idx="2">
                  <c:v>FY28E</c:v>
                </c:pt>
                <c:pt idx="3">
                  <c:v>FY29E</c:v>
                </c:pt>
                <c:pt idx="4">
                  <c:v>FY30E</c:v>
                </c:pt>
              </c:strCache>
            </c:strRef>
          </c:cat>
          <c:val>
            <c:numRef>
              <c:f>Sheet1!$B$2:$B$6</c:f>
              <c:numCache>
                <c:formatCode>General</c:formatCode>
                <c:ptCount val="5"/>
                <c:pt idx="0">
                  <c:v>2487</c:v>
                </c:pt>
                <c:pt idx="1">
                  <c:v>2778</c:v>
                </c:pt>
                <c:pt idx="2">
                  <c:v>3073</c:v>
                </c:pt>
                <c:pt idx="3">
                  <c:v>3308</c:v>
                </c:pt>
                <c:pt idx="4">
                  <c:v>3507</c:v>
                </c:pt>
              </c:numCache>
            </c:numRef>
          </c:val>
          <c:smooth val="0"/>
          <c:extLst>
            <c:ext xmlns:c16="http://schemas.microsoft.com/office/drawing/2014/chart" uri="{C3380CC4-5D6E-409C-BE32-E72D297353CC}">
              <c16:uniqueId val="{00000000-F0A1-4041-8090-BC47E546162D}"/>
            </c:ext>
          </c:extLst>
        </c:ser>
        <c:ser>
          <c:idx val="1"/>
          <c:order val="1"/>
          <c:tx>
            <c:strRef>
              <c:f>Sheet1!$C$1</c:f>
              <c:strCache>
                <c:ptCount val="1"/>
                <c:pt idx="0">
                  <c:v>Base</c:v>
                </c:pt>
              </c:strCache>
            </c:strRef>
          </c:tx>
          <c:spPr>
            <a:ln w="25400" cap="flat">
              <a:solidFill>
                <a:srgbClr val="006D64"/>
              </a:solidFill>
              <a:prstDash val="solid"/>
              <a:round/>
            </a:ln>
            <a:effectLst/>
          </c:spPr>
          <c:marker>
            <c:symbol val="circle"/>
            <c:size val="6"/>
            <c:spPr>
              <a:solidFill>
                <a:srgbClr val="006D64"/>
              </a:solidFill>
              <a:ln w="9525" cap="flat">
                <a:solidFill>
                  <a:srgbClr val="006D64"/>
                </a:solidFill>
                <a:prstDash val="solid"/>
                <a:round/>
              </a:ln>
              <a:effectLst/>
            </c:spPr>
          </c:marker>
          <c:cat>
            <c:strRef>
              <c:f>Sheet1!$A$2:$A$6</c:f>
              <c:strCache>
                <c:ptCount val="5"/>
                <c:pt idx="0">
                  <c:v>FY26E</c:v>
                </c:pt>
                <c:pt idx="1">
                  <c:v>FY27E</c:v>
                </c:pt>
                <c:pt idx="2">
                  <c:v>FY28E</c:v>
                </c:pt>
                <c:pt idx="3">
                  <c:v>FY29E</c:v>
                </c:pt>
                <c:pt idx="4">
                  <c:v>FY30E</c:v>
                </c:pt>
              </c:strCache>
            </c:strRef>
          </c:cat>
          <c:val>
            <c:numRef>
              <c:f>Sheet1!$C$2:$C$6</c:f>
              <c:numCache>
                <c:formatCode>General</c:formatCode>
                <c:ptCount val="5"/>
                <c:pt idx="0">
                  <c:v>2518</c:v>
                </c:pt>
                <c:pt idx="1">
                  <c:v>2870</c:v>
                </c:pt>
                <c:pt idx="2">
                  <c:v>3160</c:v>
                </c:pt>
                <c:pt idx="3">
                  <c:v>3348</c:v>
                </c:pt>
                <c:pt idx="4">
                  <c:v>3519</c:v>
                </c:pt>
              </c:numCache>
            </c:numRef>
          </c:val>
          <c:smooth val="0"/>
          <c:extLst>
            <c:ext xmlns:c16="http://schemas.microsoft.com/office/drawing/2014/chart" uri="{C3380CC4-5D6E-409C-BE32-E72D297353CC}">
              <c16:uniqueId val="{00000001-F0A1-4041-8090-BC47E546162D}"/>
            </c:ext>
          </c:extLst>
        </c:ser>
        <c:ser>
          <c:idx val="2"/>
          <c:order val="2"/>
          <c:tx>
            <c:strRef>
              <c:f>Sheet1!$D$1</c:f>
              <c:strCache>
                <c:ptCount val="1"/>
                <c:pt idx="0">
                  <c:v>Bull</c:v>
                </c:pt>
              </c:strCache>
            </c:strRef>
          </c:tx>
          <c:spPr>
            <a:ln w="25400" cap="flat">
              <a:solidFill>
                <a:srgbClr val="D4A017"/>
              </a:solidFill>
              <a:prstDash val="solid"/>
              <a:round/>
            </a:ln>
            <a:effectLst/>
          </c:spPr>
          <c:marker>
            <c:symbol val="circle"/>
            <c:size val="6"/>
            <c:spPr>
              <a:solidFill>
                <a:srgbClr val="D4A017"/>
              </a:solidFill>
              <a:ln w="9525" cap="flat">
                <a:solidFill>
                  <a:srgbClr val="D4A017"/>
                </a:solidFill>
                <a:prstDash val="solid"/>
                <a:round/>
              </a:ln>
              <a:effectLst/>
            </c:spPr>
          </c:marker>
          <c:cat>
            <c:strRef>
              <c:f>Sheet1!$A$2:$A$6</c:f>
              <c:strCache>
                <c:ptCount val="5"/>
                <c:pt idx="0">
                  <c:v>FY26E</c:v>
                </c:pt>
                <c:pt idx="1">
                  <c:v>FY27E</c:v>
                </c:pt>
                <c:pt idx="2">
                  <c:v>FY28E</c:v>
                </c:pt>
                <c:pt idx="3">
                  <c:v>FY29E</c:v>
                </c:pt>
                <c:pt idx="4">
                  <c:v>FY30E</c:v>
                </c:pt>
              </c:strCache>
            </c:strRef>
          </c:cat>
          <c:val>
            <c:numRef>
              <c:f>Sheet1!$D$2:$D$6</c:f>
              <c:numCache>
                <c:formatCode>General</c:formatCode>
                <c:ptCount val="5"/>
                <c:pt idx="0">
                  <c:v>2634</c:v>
                </c:pt>
                <c:pt idx="1">
                  <c:v>2970</c:v>
                </c:pt>
                <c:pt idx="2">
                  <c:v>3161</c:v>
                </c:pt>
                <c:pt idx="3">
                  <c:v>3323</c:v>
                </c:pt>
                <c:pt idx="4">
                  <c:v>3503</c:v>
                </c:pt>
              </c:numCache>
            </c:numRef>
          </c:val>
          <c:smooth val="0"/>
          <c:extLst>
            <c:ext xmlns:c16="http://schemas.microsoft.com/office/drawing/2014/chart" uri="{C3380CC4-5D6E-409C-BE32-E72D297353CC}">
              <c16:uniqueId val="{00000002-F0A1-4041-8090-BC47E546162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4200"/>
          <c:min val="200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Actual DSO (days)</c:v>
                </c:pt>
              </c:strCache>
            </c:strRef>
          </c:tx>
          <c:spPr>
            <a:solidFill>
              <a:srgbClr val="0D1B3E"/>
            </a:solidFill>
            <a:effectLst/>
          </c:spPr>
          <c:invertIfNegative val="0"/>
          <c:dLbls>
            <c:numFmt formatCode="#,##0" sourceLinked="0"/>
            <c:spPr>
              <a:noFill/>
              <a:ln>
                <a:noFill/>
              </a:ln>
              <a:effectLst/>
            </c:spPr>
            <c:txPr>
              <a:bodyPr/>
              <a:lstStyle/>
              <a:p>
                <a:pPr>
                  <a:defRPr sz="7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FY22</c:v>
                </c:pt>
                <c:pt idx="1">
                  <c:v>FY23</c:v>
                </c:pt>
                <c:pt idx="2">
                  <c:v>FY24</c:v>
                </c:pt>
                <c:pt idx="3">
                  <c:v>FY25</c:v>
                </c:pt>
              </c:strCache>
            </c:strRef>
          </c:cat>
          <c:val>
            <c:numRef>
              <c:f>Sheet1!$B$2:$B$5</c:f>
              <c:numCache>
                <c:formatCode>General</c:formatCode>
                <c:ptCount val="4"/>
                <c:pt idx="0">
                  <c:v>57.2</c:v>
                </c:pt>
                <c:pt idx="1">
                  <c:v>60</c:v>
                </c:pt>
                <c:pt idx="2">
                  <c:v>62.8</c:v>
                </c:pt>
                <c:pt idx="3">
                  <c:v>65.8</c:v>
                </c:pt>
              </c:numCache>
            </c:numRef>
          </c:val>
          <c:extLst>
            <c:ext xmlns:c16="http://schemas.microsoft.com/office/drawing/2014/chart" uri="{C3380CC4-5D6E-409C-BE32-E72D297353CC}">
              <c16:uniqueId val="{00000000-1D89-4CEF-A677-F626F2D7CEE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max val="72"/>
          <c:min val="50"/>
        </c:scaling>
        <c:delete val="0"/>
        <c:axPos val="l"/>
        <c:majorGridlines>
          <c:spPr>
            <a:ln w="6350" cap="flat">
              <a:solidFill>
                <a:srgbClr val="E8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9C6F9-EBDB-4AF1-8622-3C49FDBFBC8C}" type="datetimeFigureOut">
              <a:rPr lang="en-GB" smtClean="0"/>
              <a:t>15/05/2026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62FC8-FA34-4A40-9CE8-B714E8A4128D}" type="slidenum">
              <a:rPr lang="en-GB" smtClean="0"/>
              <a:t>‹#›</a:t>
            </a:fld>
            <a:endParaRPr lang="en-GB"/>
          </a:p>
        </p:txBody>
      </p:sp>
    </p:spTree>
    <p:extLst>
      <p:ext uri="{BB962C8B-B14F-4D97-AF65-F5344CB8AC3E}">
        <p14:creationId xmlns:p14="http://schemas.microsoft.com/office/powerpoint/2010/main" val="1698999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FE62FC8-FA34-4A40-9CE8-B714E8A4128D}" type="slidenum">
              <a:rPr lang="en-GB" smtClean="0"/>
              <a:t>2</a:t>
            </a:fld>
            <a:endParaRPr lang="en-GB"/>
          </a:p>
        </p:txBody>
      </p:sp>
    </p:spTree>
    <p:extLst>
      <p:ext uri="{BB962C8B-B14F-4D97-AF65-F5344CB8AC3E}">
        <p14:creationId xmlns:p14="http://schemas.microsoft.com/office/powerpoint/2010/main" val="3036571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FE62FC8-FA34-4A40-9CE8-B714E8A4128D}" type="slidenum">
              <a:rPr lang="en-GB" smtClean="0"/>
              <a:t>3</a:t>
            </a:fld>
            <a:endParaRPr lang="en-GB"/>
          </a:p>
        </p:txBody>
      </p:sp>
    </p:spTree>
    <p:extLst>
      <p:ext uri="{BB962C8B-B14F-4D97-AF65-F5344CB8AC3E}">
        <p14:creationId xmlns:p14="http://schemas.microsoft.com/office/powerpoint/2010/main" val="2323208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FE62FC8-FA34-4A40-9CE8-B714E8A4128D}" type="slidenum">
              <a:rPr lang="en-GB" smtClean="0"/>
              <a:t>5</a:t>
            </a:fld>
            <a:endParaRPr lang="en-GB"/>
          </a:p>
        </p:txBody>
      </p:sp>
    </p:spTree>
    <p:extLst>
      <p:ext uri="{BB962C8B-B14F-4D97-AF65-F5344CB8AC3E}">
        <p14:creationId xmlns:p14="http://schemas.microsoft.com/office/powerpoint/2010/main" val="209570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FE62FC8-FA34-4A40-9CE8-B714E8A4128D}" type="slidenum">
              <a:rPr lang="en-GB" smtClean="0"/>
              <a:t>6</a:t>
            </a:fld>
            <a:endParaRPr lang="en-GB"/>
          </a:p>
        </p:txBody>
      </p:sp>
    </p:spTree>
    <p:extLst>
      <p:ext uri="{BB962C8B-B14F-4D97-AF65-F5344CB8AC3E}">
        <p14:creationId xmlns:p14="http://schemas.microsoft.com/office/powerpoint/2010/main" val="740086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FE62FC8-FA34-4A40-9CE8-B714E8A4128D}" type="slidenum">
              <a:rPr lang="en-GB" smtClean="0"/>
              <a:t>8</a:t>
            </a:fld>
            <a:endParaRPr lang="en-GB"/>
          </a:p>
        </p:txBody>
      </p:sp>
    </p:spTree>
    <p:extLst>
      <p:ext uri="{BB962C8B-B14F-4D97-AF65-F5344CB8AC3E}">
        <p14:creationId xmlns:p14="http://schemas.microsoft.com/office/powerpoint/2010/main" val="899238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6FD05-410B-BED8-1B5B-D630DFEF96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F9776AF-3759-0124-1737-65CE3AF2E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B88F60D-7EFD-C895-6AC3-1CF08C16EB6B}"/>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5" name="Footer Placeholder 4">
            <a:extLst>
              <a:ext uri="{FF2B5EF4-FFF2-40B4-BE49-F238E27FC236}">
                <a16:creationId xmlns:a16="http://schemas.microsoft.com/office/drawing/2014/main" id="{7C7D6A76-FF17-3FF5-3F60-7158B57A28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D38D17-A452-177C-5005-F3B5F3B3291F}"/>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225930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3A38-7250-08E7-D9F4-7C4A5584A6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A54C35-497F-8302-51DA-8E5E05404F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4CEDB8-DECE-F649-A572-A44F047C88E9}"/>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5" name="Footer Placeholder 4">
            <a:extLst>
              <a:ext uri="{FF2B5EF4-FFF2-40B4-BE49-F238E27FC236}">
                <a16:creationId xmlns:a16="http://schemas.microsoft.com/office/drawing/2014/main" id="{A4AC498A-DC18-4C8D-369F-5A548133F8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7B1FF4-349E-B77C-DC48-49F6879F9465}"/>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1823125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1A922-408B-9CD6-EF66-5F821A6FB0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A02CB84-D96F-14C0-037C-7E563BB4C5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85D731-7195-A519-2D39-0E2EF3467137}"/>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5" name="Footer Placeholder 4">
            <a:extLst>
              <a:ext uri="{FF2B5EF4-FFF2-40B4-BE49-F238E27FC236}">
                <a16:creationId xmlns:a16="http://schemas.microsoft.com/office/drawing/2014/main" id="{5748A57E-63F7-B0AC-338E-A8B8B48FC3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CE225D-402C-4BBF-8514-42B093436A7B}"/>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4037521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4340-07ED-7F72-2B30-6ADA913E39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AA0CB24-92FF-5A92-3740-2F01731E73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39CD7CD-49D6-0202-3F57-2ACBD64BD3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07FCDF9-DEF4-9CE4-8619-4CA46227BCD6}"/>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6" name="Footer Placeholder 5">
            <a:extLst>
              <a:ext uri="{FF2B5EF4-FFF2-40B4-BE49-F238E27FC236}">
                <a16:creationId xmlns:a16="http://schemas.microsoft.com/office/drawing/2014/main" id="{8A6C5665-D85E-FE72-149C-052A865BB74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65BD96-1228-90E2-BD87-F8729D62AB36}"/>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3509703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569E1-DFC2-1A26-60E9-807C3F617DD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43483BB-11FC-AE86-EE31-A27004ECD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D992DE-FDB8-7ACD-9074-21FB3F136F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E8D95C3-BA84-D0B6-ED09-E7EBD2087C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23FB1F-564E-D0CE-0868-5F54E0EE64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6EC93DA-B752-9E80-314B-C14BE22120E8}"/>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8" name="Footer Placeholder 7">
            <a:extLst>
              <a:ext uri="{FF2B5EF4-FFF2-40B4-BE49-F238E27FC236}">
                <a16:creationId xmlns:a16="http://schemas.microsoft.com/office/drawing/2014/main" id="{5EA48F34-B21B-A687-29E5-8125BF63D2A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EA013D7-64A4-E7FE-5CD7-5B5D7BD5C609}"/>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112853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06DB-1E9A-ECDD-F984-DD498C126A7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3E36461-F0A6-994E-D35E-E652ABFB1DA2}"/>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4" name="Footer Placeholder 3">
            <a:extLst>
              <a:ext uri="{FF2B5EF4-FFF2-40B4-BE49-F238E27FC236}">
                <a16:creationId xmlns:a16="http://schemas.microsoft.com/office/drawing/2014/main" id="{249DB587-68D7-69C5-932F-BA5B2210F9E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01461AC-3985-BD25-A7FB-416C40253AEE}"/>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2669685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0E911C-5CD7-8976-C30D-B98C0AF57C59}"/>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3" name="Footer Placeholder 2">
            <a:extLst>
              <a:ext uri="{FF2B5EF4-FFF2-40B4-BE49-F238E27FC236}">
                <a16:creationId xmlns:a16="http://schemas.microsoft.com/office/drawing/2014/main" id="{99E35E37-C10E-EA29-5A64-3C26A1CA84F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467BF8B-D532-4381-ABBC-CB5144DB4905}"/>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1058337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9530-51A8-5351-797A-DD92D872D4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AEDD9A-4536-E947-2D63-3FBD9F9FA5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6865FF3-DDEF-7522-644E-B5A74843C9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55E0A5-90E0-AC7E-EB35-FE3164B21BE5}"/>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6" name="Footer Placeholder 5">
            <a:extLst>
              <a:ext uri="{FF2B5EF4-FFF2-40B4-BE49-F238E27FC236}">
                <a16:creationId xmlns:a16="http://schemas.microsoft.com/office/drawing/2014/main" id="{BB7FF37D-3072-6432-0CE1-B78FA759537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27D3D8-57EE-E522-475C-AADC8D514C96}"/>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50947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3B11-7D65-FCCC-B9D5-323A777CE5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A206D97-033D-0525-35CD-3CBC46423E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D28C1E7-DDCB-F002-9EA1-D419AB97F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B55956-DA48-2F71-6125-2F1CFCB31BC4}"/>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6" name="Footer Placeholder 5">
            <a:extLst>
              <a:ext uri="{FF2B5EF4-FFF2-40B4-BE49-F238E27FC236}">
                <a16:creationId xmlns:a16="http://schemas.microsoft.com/office/drawing/2014/main" id="{B500F7B6-0E16-D5C0-8B12-43FA7697B37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1673A89-A8EE-6C24-0270-81F63BD9BF6C}"/>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91240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63BD8-C593-D78F-97F7-A41FDBB7497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5BE7CF8-1B7E-4F12-D29F-4D98FBDA9B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C61D6C-9C18-12E8-1A64-F3A19C9BEDF1}"/>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5" name="Footer Placeholder 4">
            <a:extLst>
              <a:ext uri="{FF2B5EF4-FFF2-40B4-BE49-F238E27FC236}">
                <a16:creationId xmlns:a16="http://schemas.microsoft.com/office/drawing/2014/main" id="{A45FB687-04BB-EEB6-0238-B1C9F8E5E23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6343AA-F851-3671-6D93-276ABEE93D11}"/>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957263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BD9C84-FD71-8F6F-3376-6503B80413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9E17124-A08A-028A-81CD-2BC1785F70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75BF23-5645-A661-1EDA-4935E59D73C7}"/>
              </a:ext>
            </a:extLst>
          </p:cNvPr>
          <p:cNvSpPr>
            <a:spLocks noGrp="1"/>
          </p:cNvSpPr>
          <p:nvPr>
            <p:ph type="dt" sz="half" idx="10"/>
          </p:nvPr>
        </p:nvSpPr>
        <p:spPr/>
        <p:txBody>
          <a:bodyPr/>
          <a:lstStyle/>
          <a:p>
            <a:fld id="{F2B52426-ED88-4892-8B69-95ED392E7DAA}" type="datetimeFigureOut">
              <a:rPr lang="en-GB" smtClean="0"/>
              <a:t>15/05/2026</a:t>
            </a:fld>
            <a:endParaRPr lang="en-GB"/>
          </a:p>
        </p:txBody>
      </p:sp>
      <p:sp>
        <p:nvSpPr>
          <p:cNvPr id="5" name="Footer Placeholder 4">
            <a:extLst>
              <a:ext uri="{FF2B5EF4-FFF2-40B4-BE49-F238E27FC236}">
                <a16:creationId xmlns:a16="http://schemas.microsoft.com/office/drawing/2014/main" id="{DB8BDB6F-A506-6899-682D-09ABB8BF9B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38201A-6B8F-8E7C-DB84-BF4B9D6FB8C7}"/>
              </a:ext>
            </a:extLst>
          </p:cNvPr>
          <p:cNvSpPr>
            <a:spLocks noGrp="1"/>
          </p:cNvSpPr>
          <p:nvPr>
            <p:ph type="sldNum" sz="quarter" idx="12"/>
          </p:nvPr>
        </p:nvSpPr>
        <p:spPr/>
        <p:txBody>
          <a:bodyPr/>
          <a:lstStyle/>
          <a:p>
            <a:fld id="{FE6B7576-259F-4B01-8662-F1E0D6435DF1}" type="slidenum">
              <a:rPr lang="en-GB" smtClean="0"/>
              <a:t>‹#›</a:t>
            </a:fld>
            <a:endParaRPr lang="en-GB"/>
          </a:p>
        </p:txBody>
      </p:sp>
    </p:spTree>
    <p:extLst>
      <p:ext uri="{BB962C8B-B14F-4D97-AF65-F5344CB8AC3E}">
        <p14:creationId xmlns:p14="http://schemas.microsoft.com/office/powerpoint/2010/main" val="24068913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861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E1CBB7-8DD5-637C-E9A2-790C1AD137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1EF3252-8490-2932-D85F-026E2D404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9D6449-8BC2-A01F-3D4D-ECD376600E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52426-ED88-4892-8B69-95ED392E7DAA}" type="datetimeFigureOut">
              <a:rPr lang="en-GB" smtClean="0"/>
              <a:t>15/05/2026</a:t>
            </a:fld>
            <a:endParaRPr lang="en-GB"/>
          </a:p>
        </p:txBody>
      </p:sp>
      <p:sp>
        <p:nvSpPr>
          <p:cNvPr id="5" name="Footer Placeholder 4">
            <a:extLst>
              <a:ext uri="{FF2B5EF4-FFF2-40B4-BE49-F238E27FC236}">
                <a16:creationId xmlns:a16="http://schemas.microsoft.com/office/drawing/2014/main" id="{F7C0ABE5-8F4D-D67F-2290-2D47572A0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9C3A77D-A481-E6A2-BB0A-58AB32350A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6B7576-259F-4B01-8662-F1E0D6435DF1}" type="slidenum">
              <a:rPr lang="en-GB" smtClean="0"/>
              <a:t>‹#›</a:t>
            </a:fld>
            <a:endParaRPr lang="en-GB"/>
          </a:p>
        </p:txBody>
      </p:sp>
    </p:spTree>
    <p:extLst>
      <p:ext uri="{BB962C8B-B14F-4D97-AF65-F5344CB8AC3E}">
        <p14:creationId xmlns:p14="http://schemas.microsoft.com/office/powerpoint/2010/main" val="234435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 Id="rId5" Type="http://schemas.openxmlformats.org/officeDocument/2006/relationships/chart" Target="../charts/chart14.xml"/><Relationship Id="rId4" Type="http://schemas.openxmlformats.org/officeDocument/2006/relationships/chart" Target="../charts/chart13.xml"/></Relationships>
</file>

<file path=ppt/slides/_rels/slide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16.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C3E"/>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6CC10B8-D41A-D68F-C2DD-1F9413D0AC88}"/>
              </a:ext>
            </a:extLst>
          </p:cNvPr>
          <p:cNvPicPr>
            <a:picLocks noChangeAspect="1"/>
          </p:cNvPicPr>
          <p:nvPr/>
        </p:nvPicPr>
        <p:blipFill>
          <a:blip r:embed="rId2">
            <a:alphaModFix amt="42000"/>
          </a:blip>
          <a:stretch>
            <a:fillRect/>
          </a:stretch>
        </p:blipFill>
        <p:spPr>
          <a:xfrm>
            <a:off x="5191833" y="-175661"/>
            <a:ext cx="7000167" cy="7033661"/>
          </a:xfrm>
          <a:prstGeom prst="rect">
            <a:avLst/>
          </a:prstGeom>
        </p:spPr>
      </p:pic>
      <p:pic>
        <p:nvPicPr>
          <p:cNvPr id="20" name="Picture 19" descr="A white letter o on a green background&#10;&#10;AI-generated content may be incorrect.">
            <a:extLst>
              <a:ext uri="{FF2B5EF4-FFF2-40B4-BE49-F238E27FC236}">
                <a16:creationId xmlns:a16="http://schemas.microsoft.com/office/drawing/2014/main" id="{2B5A27D7-D1E7-8049-3193-4AD8720505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84528"/>
            <a:ext cx="1273472" cy="1273472"/>
          </a:xfrm>
          <a:prstGeom prst="rect">
            <a:avLst/>
          </a:prstGeom>
          <a:ln>
            <a:solidFill>
              <a:schemeClr val="bg1">
                <a:alpha val="0"/>
              </a:schemeClr>
            </a:solidFill>
          </a:ln>
        </p:spPr>
      </p:pic>
      <p:sp>
        <p:nvSpPr>
          <p:cNvPr id="2" name="Title 1">
            <a:extLst>
              <a:ext uri="{FF2B5EF4-FFF2-40B4-BE49-F238E27FC236}">
                <a16:creationId xmlns:a16="http://schemas.microsoft.com/office/drawing/2014/main" id="{60B506B6-F32D-1BFC-B1F3-3276E12CDBD0}"/>
              </a:ext>
            </a:extLst>
          </p:cNvPr>
          <p:cNvSpPr>
            <a:spLocks noGrp="1"/>
          </p:cNvSpPr>
          <p:nvPr>
            <p:ph type="ctrTitle"/>
          </p:nvPr>
        </p:nvSpPr>
        <p:spPr>
          <a:xfrm>
            <a:off x="2595916" y="2752663"/>
            <a:ext cx="7000167" cy="1177011"/>
          </a:xfrm>
        </p:spPr>
        <p:txBody>
          <a:bodyPr>
            <a:normAutofit fontScale="90000"/>
          </a:bodyPr>
          <a:lstStyle/>
          <a:p>
            <a:r>
              <a:rPr lang="en-GB" sz="8000" noProof="0">
                <a:solidFill>
                  <a:schemeClr val="bg1"/>
                </a:solidFill>
                <a:latin typeface="Times New Roman"/>
                <a:cs typeface="Times New Roman"/>
              </a:rPr>
              <a:t>GE </a:t>
            </a:r>
            <a:r>
              <a:rPr lang="en-GB" sz="8900" noProof="0">
                <a:solidFill>
                  <a:schemeClr val="bg1"/>
                </a:solidFill>
                <a:latin typeface="Times New Roman"/>
                <a:cs typeface="Times New Roman"/>
              </a:rPr>
              <a:t>Healthcare</a:t>
            </a:r>
            <a:endParaRPr lang="en-GB" sz="8900" noProof="0">
              <a:solidFill>
                <a:schemeClr val="bg1"/>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DD372CBD-7DAA-BFE4-7E35-46BBB29793D2}"/>
              </a:ext>
            </a:extLst>
          </p:cNvPr>
          <p:cNvPicPr>
            <a:picLocks noChangeAspect="1"/>
          </p:cNvPicPr>
          <p:nvPr/>
        </p:nvPicPr>
        <p:blipFill>
          <a:blip r:embed="rId4"/>
          <a:stretch>
            <a:fillRect/>
          </a:stretch>
        </p:blipFill>
        <p:spPr>
          <a:xfrm>
            <a:off x="1852308" y="2590675"/>
            <a:ext cx="1487216" cy="1500986"/>
          </a:xfrm>
          <a:prstGeom prst="rect">
            <a:avLst/>
          </a:prstGeom>
        </p:spPr>
      </p:pic>
      <p:sp>
        <p:nvSpPr>
          <p:cNvPr id="15" name="Rectangle: Rounded Corners 14">
            <a:extLst>
              <a:ext uri="{FF2B5EF4-FFF2-40B4-BE49-F238E27FC236}">
                <a16:creationId xmlns:a16="http://schemas.microsoft.com/office/drawing/2014/main" id="{D5A42161-8640-2D89-C29D-923C7A830D73}"/>
              </a:ext>
            </a:extLst>
          </p:cNvPr>
          <p:cNvSpPr/>
          <p:nvPr/>
        </p:nvSpPr>
        <p:spPr>
          <a:xfrm>
            <a:off x="1089235" y="5710539"/>
            <a:ext cx="4572276" cy="102144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GB" sz="1600" noProof="0">
                <a:solidFill>
                  <a:schemeClr val="bg1"/>
                </a:solidFill>
                <a:latin typeface="Cambria"/>
                <a:ea typeface="Cambria"/>
              </a:rPr>
              <a:t>Senior: </a:t>
            </a:r>
            <a:r>
              <a:rPr lang="en-GB" sz="1600">
                <a:solidFill>
                  <a:schemeClr val="bg1"/>
                </a:solidFill>
                <a:latin typeface="Cambria"/>
                <a:ea typeface="Cambria"/>
              </a:rPr>
              <a:t>Theo </a:t>
            </a:r>
            <a:r>
              <a:rPr lang="en-GB" sz="1600" err="1">
                <a:solidFill>
                  <a:schemeClr val="bg1"/>
                </a:solidFill>
                <a:latin typeface="Cambria"/>
                <a:ea typeface="Cambria"/>
              </a:rPr>
              <a:t>Hotinceanu</a:t>
            </a:r>
            <a:endParaRPr lang="en-GB" sz="1600">
              <a:solidFill>
                <a:schemeClr val="bg1"/>
              </a:solidFill>
              <a:latin typeface="Cambria"/>
              <a:ea typeface="Cambria"/>
            </a:endParaRPr>
          </a:p>
          <a:p>
            <a:r>
              <a:rPr lang="en-GB" sz="1600" noProof="0">
                <a:solidFill>
                  <a:schemeClr val="bg1"/>
                </a:solidFill>
                <a:latin typeface="Cambria" panose="02040503050406030204" pitchFamily="18" charset="0"/>
                <a:ea typeface="Cambria" panose="02040503050406030204" pitchFamily="18" charset="0"/>
              </a:rPr>
              <a:t>Senior: Jetlir Hasani</a:t>
            </a:r>
          </a:p>
        </p:txBody>
      </p:sp>
      <p:sp>
        <p:nvSpPr>
          <p:cNvPr id="3" name="Title 1">
            <a:extLst>
              <a:ext uri="{FF2B5EF4-FFF2-40B4-BE49-F238E27FC236}">
                <a16:creationId xmlns:a16="http://schemas.microsoft.com/office/drawing/2014/main" id="{53F53A1B-4BC4-6CB1-11DC-0CD5EA57790E}"/>
              </a:ext>
            </a:extLst>
          </p:cNvPr>
          <p:cNvSpPr txBox="1">
            <a:spLocks/>
          </p:cNvSpPr>
          <p:nvPr/>
        </p:nvSpPr>
        <p:spPr>
          <a:xfrm>
            <a:off x="4028964" y="3562101"/>
            <a:ext cx="4134069" cy="36757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200">
                <a:solidFill>
                  <a:schemeClr val="bg1"/>
                </a:solidFill>
                <a:latin typeface="Times New Roman"/>
                <a:cs typeface="Times New Roman"/>
              </a:rPr>
              <a:t>Creating a world where healthcare has no limits</a:t>
            </a:r>
          </a:p>
        </p:txBody>
      </p:sp>
    </p:spTree>
    <p:extLst>
      <p:ext uri="{BB962C8B-B14F-4D97-AF65-F5344CB8AC3E}">
        <p14:creationId xmlns:p14="http://schemas.microsoft.com/office/powerpoint/2010/main" val="3723307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31776D-9EFD-3652-1242-EE147115D84E}"/>
              </a:ext>
            </a:extLst>
          </p:cNvPr>
          <p:cNvSpPr txBox="1"/>
          <p:nvPr/>
        </p:nvSpPr>
        <p:spPr>
          <a:xfrm>
            <a:off x="436677" y="555647"/>
            <a:ext cx="362097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noProof="0">
                <a:latin typeface="Cambria" panose="02040503050406030204" pitchFamily="18" charset="0"/>
                <a:ea typeface="Cambria" panose="02040503050406030204" pitchFamily="18" charset="0"/>
              </a:rPr>
              <a:t>A quality imaging franchise at an </a:t>
            </a:r>
            <a:r>
              <a:rPr lang="en-GB" sz="2000" b="1" noProof="0">
                <a:solidFill>
                  <a:srgbClr val="1F676B"/>
                </a:solidFill>
                <a:latin typeface="Cambria" panose="02040503050406030204" pitchFamily="18" charset="0"/>
                <a:ea typeface="Cambria" panose="02040503050406030204" pitchFamily="18" charset="0"/>
              </a:rPr>
              <a:t>unearned discount;</a:t>
            </a:r>
          </a:p>
        </p:txBody>
      </p:sp>
      <p:sp>
        <p:nvSpPr>
          <p:cNvPr id="10" name="TextBox 22">
            <a:extLst>
              <a:ext uri="{FF2B5EF4-FFF2-40B4-BE49-F238E27FC236}">
                <a16:creationId xmlns:a16="http://schemas.microsoft.com/office/drawing/2014/main" id="{659F6858-453A-556F-630C-8FD4801D4B2C}"/>
              </a:ext>
            </a:extLst>
          </p:cNvPr>
          <p:cNvSpPr txBox="1"/>
          <p:nvPr/>
        </p:nvSpPr>
        <p:spPr>
          <a:xfrm>
            <a:off x="10710693" y="176648"/>
            <a:ext cx="1360552" cy="1246624"/>
          </a:xfrm>
          <a:prstGeom prst="roundRect">
            <a:avLst>
              <a:gd name="adj" fmla="val 29537"/>
            </a:avLst>
          </a:prstGeom>
          <a:solidFill>
            <a:srgbClr val="0A282A"/>
          </a:solidFill>
          <a:ln w="25400">
            <a:solidFill>
              <a:srgbClr val="D8975E"/>
            </a:solidFill>
          </a:ln>
        </p:spPr>
        <p:txBody>
          <a:bodyPr wrap="square" lIns="152400" tIns="127000" rIns="152400" bIns="762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050" b="1">
                <a:solidFill>
                  <a:srgbClr val="D8975E"/>
                </a:solidFill>
                <a:latin typeface="Cambria" panose="02040503050406030204" pitchFamily="18" charset="0"/>
                <a:ea typeface="Cambria" panose="02040503050406030204" pitchFamily="18" charset="0"/>
              </a:rPr>
              <a:t>Scenario </a:t>
            </a:r>
          </a:p>
          <a:p>
            <a:endParaRPr lang="en-GB" sz="1050" b="1">
              <a:solidFill>
                <a:srgbClr val="D8975E"/>
              </a:solidFill>
              <a:latin typeface="Calibri"/>
            </a:endParaRPr>
          </a:p>
          <a:p>
            <a:r>
              <a:rPr sz="1100">
                <a:solidFill>
                  <a:schemeClr val="accent6"/>
                </a:solidFill>
                <a:latin typeface="Calibri"/>
              </a:rPr>
              <a:t>Bull</a:t>
            </a:r>
            <a:r>
              <a:rPr sz="1100" b="1">
                <a:solidFill>
                  <a:srgbClr val="FFFFFF"/>
                </a:solidFill>
                <a:latin typeface="Calibri"/>
              </a:rPr>
              <a:t>   $</a:t>
            </a:r>
            <a:r>
              <a:rPr lang="en-GB" sz="1100" b="1">
                <a:solidFill>
                  <a:srgbClr val="FFFFFF"/>
                </a:solidFill>
                <a:latin typeface="Calibri"/>
              </a:rPr>
              <a:t>108.13</a:t>
            </a:r>
          </a:p>
          <a:p>
            <a:r>
              <a:rPr sz="1100">
                <a:solidFill>
                  <a:srgbClr val="FFFFFF"/>
                </a:solidFill>
                <a:latin typeface="Calibri"/>
              </a:rPr>
              <a:t>Base</a:t>
            </a:r>
            <a:r>
              <a:rPr sz="1100" b="1">
                <a:solidFill>
                  <a:srgbClr val="FFFFFF"/>
                </a:solidFill>
                <a:latin typeface="Calibri"/>
              </a:rPr>
              <a:t>  $7</a:t>
            </a:r>
            <a:r>
              <a:rPr lang="en-GB" sz="1100" b="1">
                <a:solidFill>
                  <a:srgbClr val="FFFFFF"/>
                </a:solidFill>
                <a:latin typeface="Calibri"/>
              </a:rPr>
              <a:t>9.91</a:t>
            </a:r>
            <a:r>
              <a:rPr sz="1100" b="1">
                <a:solidFill>
                  <a:srgbClr val="FFFFFF"/>
                </a:solidFill>
                <a:latin typeface="Calibri"/>
              </a:rPr>
              <a:t>   </a:t>
            </a:r>
            <a:endParaRPr lang="en-GB" sz="1100" b="1">
              <a:solidFill>
                <a:srgbClr val="1A6B45"/>
              </a:solidFill>
              <a:latin typeface="Calibri"/>
            </a:endParaRPr>
          </a:p>
          <a:p>
            <a:r>
              <a:rPr sz="1100">
                <a:solidFill>
                  <a:srgbClr val="C00000"/>
                </a:solidFill>
                <a:latin typeface="Calibri"/>
              </a:rPr>
              <a:t>Bear </a:t>
            </a:r>
            <a:r>
              <a:rPr lang="en-GB" sz="1100">
                <a:solidFill>
                  <a:srgbClr val="C00000"/>
                </a:solidFill>
                <a:latin typeface="Calibri"/>
              </a:rPr>
              <a:t>  </a:t>
            </a:r>
            <a:r>
              <a:rPr sz="1100" b="1">
                <a:solidFill>
                  <a:srgbClr val="FFFFFF"/>
                </a:solidFill>
                <a:latin typeface="Calibri"/>
              </a:rPr>
              <a:t>$5</a:t>
            </a:r>
            <a:r>
              <a:rPr lang="en-GB" sz="1100" b="1">
                <a:solidFill>
                  <a:srgbClr val="FFFFFF"/>
                </a:solidFill>
                <a:latin typeface="Calibri"/>
              </a:rPr>
              <a:t>5</a:t>
            </a:r>
            <a:r>
              <a:rPr sz="1100" b="1">
                <a:solidFill>
                  <a:srgbClr val="FFFFFF"/>
                </a:solidFill>
                <a:latin typeface="Calibri"/>
              </a:rPr>
              <a:t>.</a:t>
            </a:r>
            <a:r>
              <a:rPr lang="en-GB" sz="1100" b="1">
                <a:solidFill>
                  <a:srgbClr val="FFFFFF"/>
                </a:solidFill>
                <a:latin typeface="Calibri"/>
              </a:rPr>
              <a:t>64</a:t>
            </a:r>
            <a:r>
              <a:rPr sz="1100" b="1">
                <a:solidFill>
                  <a:srgbClr val="FFFFFF"/>
                </a:solidFill>
                <a:latin typeface="Calibri"/>
              </a:rPr>
              <a:t>   </a:t>
            </a:r>
            <a:endParaRPr lang="en-GB" sz="1100" b="1">
              <a:solidFill>
                <a:srgbClr val="C0392B"/>
              </a:solidFill>
              <a:latin typeface="Calibri"/>
            </a:endParaRPr>
          </a:p>
        </p:txBody>
      </p:sp>
      <p:sp>
        <p:nvSpPr>
          <p:cNvPr id="39" name="Rectangle 38">
            <a:extLst>
              <a:ext uri="{FF2B5EF4-FFF2-40B4-BE49-F238E27FC236}">
                <a16:creationId xmlns:a16="http://schemas.microsoft.com/office/drawing/2014/main" id="{0C60537C-9ACA-C3D5-C8B0-ADFFFC978875}"/>
              </a:ext>
            </a:extLst>
          </p:cNvPr>
          <p:cNvSpPr/>
          <p:nvPr/>
        </p:nvSpPr>
        <p:spPr>
          <a:xfrm>
            <a:off x="380462" y="517865"/>
            <a:ext cx="64008" cy="868680"/>
          </a:xfrm>
          <a:prstGeom prst="rect">
            <a:avLst/>
          </a:prstGeom>
          <a:solidFill>
            <a:srgbClr val="D89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8A2C819D-4069-0A74-35FA-68562BAF9BFA}"/>
              </a:ext>
            </a:extLst>
          </p:cNvPr>
          <p:cNvSpPr txBox="1"/>
          <p:nvPr/>
        </p:nvSpPr>
        <p:spPr>
          <a:xfrm>
            <a:off x="449472" y="231555"/>
            <a:ext cx="7315200" cy="169277"/>
          </a:xfrm>
          <a:prstGeom prst="rect">
            <a:avLst/>
          </a:prstGeom>
          <a:noFill/>
        </p:spPr>
        <p:txBody>
          <a:bodyPr wrap="square" lIns="0" tIns="0" rIns="0" bIns="0" anchor="t">
            <a:spAutoFit/>
          </a:bodyPr>
          <a:lstStyle/>
          <a:p>
            <a:pPr algn="l"/>
            <a:r>
              <a:rPr sz="1100" b="1" i="0">
                <a:solidFill>
                  <a:srgbClr val="D8975E"/>
                </a:solidFill>
                <a:latin typeface="Calibri"/>
              </a:rPr>
              <a:t>0</a:t>
            </a:r>
            <a:r>
              <a:rPr lang="en-GB" sz="1100" b="1" i="0">
                <a:solidFill>
                  <a:srgbClr val="D8975E"/>
                </a:solidFill>
                <a:latin typeface="Calibri"/>
              </a:rPr>
              <a:t>1</a:t>
            </a:r>
            <a:r>
              <a:rPr sz="1100" b="1" i="0">
                <a:solidFill>
                  <a:srgbClr val="D8975E"/>
                </a:solidFill>
                <a:latin typeface="Calibri"/>
              </a:rPr>
              <a:t> /</a:t>
            </a:r>
            <a:r>
              <a:rPr lang="en-GB" sz="1100" b="1" i="0">
                <a:solidFill>
                  <a:srgbClr val="D8975E"/>
                </a:solidFill>
                <a:latin typeface="Calibri"/>
              </a:rPr>
              <a:t>AT A GLANCE</a:t>
            </a:r>
            <a:endParaRPr sz="1100" b="1" i="0">
              <a:solidFill>
                <a:srgbClr val="D8975E"/>
              </a:solidFill>
              <a:latin typeface="Calibri"/>
            </a:endParaRPr>
          </a:p>
        </p:txBody>
      </p:sp>
      <p:grpSp>
        <p:nvGrpSpPr>
          <p:cNvPr id="7" name="Group 6">
            <a:extLst>
              <a:ext uri="{FF2B5EF4-FFF2-40B4-BE49-F238E27FC236}">
                <a16:creationId xmlns:a16="http://schemas.microsoft.com/office/drawing/2014/main" id="{7CC45BA4-B026-DE06-B2BB-F336D32B1B91}"/>
              </a:ext>
            </a:extLst>
          </p:cNvPr>
          <p:cNvGrpSpPr/>
          <p:nvPr/>
        </p:nvGrpSpPr>
        <p:grpSpPr>
          <a:xfrm>
            <a:off x="108024" y="1518590"/>
            <a:ext cx="3182918" cy="5203960"/>
            <a:chOff x="108024" y="1518590"/>
            <a:chExt cx="3182918" cy="5203960"/>
          </a:xfrm>
        </p:grpSpPr>
        <p:sp>
          <p:nvSpPr>
            <p:cNvPr id="42" name="Rounded Rectangle 11">
              <a:extLst>
                <a:ext uri="{FF2B5EF4-FFF2-40B4-BE49-F238E27FC236}">
                  <a16:creationId xmlns:a16="http://schemas.microsoft.com/office/drawing/2014/main" id="{41673DC0-CBE6-C712-04EB-2F8BC56D6295}"/>
                </a:ext>
              </a:extLst>
            </p:cNvPr>
            <p:cNvSpPr/>
            <p:nvPr/>
          </p:nvSpPr>
          <p:spPr>
            <a:xfrm>
              <a:off x="108026" y="1531181"/>
              <a:ext cx="3182916" cy="5191369"/>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Cambria" panose="02040503050406030204" pitchFamily="18" charset="0"/>
                <a:ea typeface="Cambria" panose="02040503050406030204" pitchFamily="18" charset="0"/>
              </a:endParaRPr>
            </a:p>
          </p:txBody>
        </p:sp>
        <p:sp>
          <p:nvSpPr>
            <p:cNvPr id="31" name="TextBox 30">
              <a:extLst>
                <a:ext uri="{FF2B5EF4-FFF2-40B4-BE49-F238E27FC236}">
                  <a16:creationId xmlns:a16="http://schemas.microsoft.com/office/drawing/2014/main" id="{69E90F1C-A74E-8842-6F35-6CC25D7B11C8}"/>
                </a:ext>
              </a:extLst>
            </p:cNvPr>
            <p:cNvSpPr txBox="1"/>
            <p:nvPr/>
          </p:nvSpPr>
          <p:spPr>
            <a:xfrm>
              <a:off x="240124" y="1696640"/>
              <a:ext cx="2917912" cy="4524315"/>
            </a:xfrm>
            <a:prstGeom prst="rect">
              <a:avLst/>
            </a:prstGeom>
            <a:noFill/>
          </p:spPr>
          <p:txBody>
            <a:bodyPr wrap="square" lIns="91440" tIns="45720" rIns="91440" bIns="45720" rtlCol="0" anchor="t">
              <a:spAutoFit/>
            </a:bodyPr>
            <a:lstStyle/>
            <a:p>
              <a:pPr marL="342900" indent="-342900">
                <a:buAutoNum type="arabicPeriod"/>
              </a:pPr>
              <a:endParaRPr lang="en-GB" sz="1200" noProof="0">
                <a:latin typeface="Cambria" panose="02040503050406030204" pitchFamily="18" charset="0"/>
                <a:ea typeface="Cambria" panose="02040503050406030204" pitchFamily="18" charset="0"/>
              </a:endParaRPr>
            </a:p>
            <a:p>
              <a:pPr marL="342900" indent="-342900">
                <a:buAutoNum type="arabicPeriod"/>
              </a:pPr>
              <a:endParaRPr lang="en-GB" sz="1200">
                <a:latin typeface="Cambria" panose="02040503050406030204" pitchFamily="18" charset="0"/>
                <a:ea typeface="Cambria" panose="02040503050406030204" pitchFamily="18" charset="0"/>
              </a:endParaRPr>
            </a:p>
            <a:p>
              <a:r>
                <a:rPr lang="en-GB" sz="1200" noProof="0">
                  <a:latin typeface="Cambria" panose="02040503050406030204" pitchFamily="18" charset="0"/>
                  <a:ea typeface="Cambria" panose="02040503050406030204" pitchFamily="18" charset="0"/>
                </a:rPr>
                <a:t>Medical imaging is a mandatory infrastructure. Scanners have a 7–10-year replacement cycle, switching vendors is a multi-million dollar decision. Roughly 50% of GEHC’s revenue is recurring, backed by $21.8bn order book, defensive earnings </a:t>
              </a:r>
              <a:r>
                <a:rPr lang="en-GB" sz="1200" noProof="0" err="1">
                  <a:latin typeface="Cambria" panose="02040503050406030204" pitchFamily="18" charset="0"/>
                  <a:ea typeface="Cambria" panose="02040503050406030204" pitchFamily="18" charset="0"/>
                </a:rPr>
                <a:t>tha</a:t>
              </a:r>
              <a:r>
                <a:rPr lang="en-GB" sz="1200">
                  <a:latin typeface="Cambria" panose="02040503050406030204" pitchFamily="18" charset="0"/>
                  <a:ea typeface="Cambria" panose="02040503050406030204" pitchFamily="18" charset="0"/>
                </a:rPr>
                <a:t>t hold up through hospital budget cycles</a:t>
              </a:r>
              <a:endParaRPr lang="en-GB" sz="1200" noProof="0">
                <a:latin typeface="Cambria" panose="02040503050406030204" pitchFamily="18" charset="0"/>
                <a:ea typeface="Cambria" panose="02040503050406030204" pitchFamily="18" charset="0"/>
              </a:endParaRPr>
            </a:p>
            <a:p>
              <a:endParaRPr lang="en-GB" sz="120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GEHC spun out of GE, causing the valuation to collapse. GE retained 19.9% overhang. GE is slowly selling its stake to pay for its own debts, creating a price ceiling.</a:t>
              </a:r>
            </a:p>
            <a:p>
              <a:pPr marL="342900" indent="-342900">
                <a:buAutoNum type="arabicPeriod"/>
              </a:pPr>
              <a:endParaRPr lang="en-GB" sz="1200" noProof="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The result is a 44% discount to medtech peers, against a historical discount of 14% when GEHC sat inside GE. Roughly 15-20% can be justified by exposure to China, a margin gap to peers, residual demerger transition.</a:t>
              </a:r>
            </a:p>
            <a:p>
              <a:pPr marL="342900" indent="-342900">
                <a:buAutoNum type="arabicPeriod"/>
              </a:pPr>
              <a:endParaRPr lang="en-GB" sz="1200" noProof="0">
                <a:latin typeface="Cambria" panose="02040503050406030204" pitchFamily="18" charset="0"/>
                <a:ea typeface="Cambria" panose="02040503050406030204" pitchFamily="18" charset="0"/>
              </a:endParaRPr>
            </a:p>
          </p:txBody>
        </p:sp>
        <p:sp>
          <p:nvSpPr>
            <p:cNvPr id="41" name="Rounded Rectangle 9">
              <a:extLst>
                <a:ext uri="{FF2B5EF4-FFF2-40B4-BE49-F238E27FC236}">
                  <a16:creationId xmlns:a16="http://schemas.microsoft.com/office/drawing/2014/main" id="{356E6D93-4C4D-79AD-BFB4-B4C0CB432127}"/>
                </a:ext>
              </a:extLst>
            </p:cNvPr>
            <p:cNvSpPr/>
            <p:nvPr/>
          </p:nvSpPr>
          <p:spPr>
            <a:xfrm>
              <a:off x="108024" y="1518590"/>
              <a:ext cx="3182917" cy="222702"/>
            </a:xfrm>
            <a:prstGeom prst="roundRect">
              <a:avLst>
                <a:gd name="adj" fmla="val 8000"/>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latin typeface="Cambria" panose="02040503050406030204" pitchFamily="18" charset="0"/>
                  <a:ea typeface="Cambria" panose="02040503050406030204" pitchFamily="18" charset="0"/>
                </a:rPr>
                <a:t>Narrative</a:t>
              </a:r>
              <a:endParaRPr sz="1400" b="1">
                <a:latin typeface="Cambria" panose="02040503050406030204" pitchFamily="18" charset="0"/>
                <a:ea typeface="Cambria" panose="02040503050406030204" pitchFamily="18" charset="0"/>
              </a:endParaRPr>
            </a:p>
          </p:txBody>
        </p:sp>
      </p:grpSp>
      <p:sp>
        <p:nvSpPr>
          <p:cNvPr id="44" name="TextBox 20">
            <a:extLst>
              <a:ext uri="{FF2B5EF4-FFF2-40B4-BE49-F238E27FC236}">
                <a16:creationId xmlns:a16="http://schemas.microsoft.com/office/drawing/2014/main" id="{878C744C-3FDC-B4D5-334A-7ACA92788673}"/>
              </a:ext>
            </a:extLst>
          </p:cNvPr>
          <p:cNvSpPr txBox="1"/>
          <p:nvPr/>
        </p:nvSpPr>
        <p:spPr>
          <a:xfrm>
            <a:off x="4107072" y="176648"/>
            <a:ext cx="1566189" cy="1231196"/>
          </a:xfrm>
          <a:prstGeom prst="roundRect">
            <a:avLst>
              <a:gd name="adj" fmla="val 30000"/>
            </a:avLst>
          </a:prstGeom>
          <a:solidFill>
            <a:srgbClr val="0A282A"/>
          </a:solidFill>
          <a:ln w="25400">
            <a:solidFill>
              <a:srgbClr val="D8975E"/>
            </a:solidFill>
          </a:ln>
        </p:spPr>
        <p:txBody>
          <a:bodyPr wrap="square" lIns="152400" tIns="127000" rIns="152400" bIns="762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050" b="1" i="0">
                <a:solidFill>
                  <a:srgbClr val="D8975E"/>
                </a:solidFill>
                <a:latin typeface="Calibri"/>
              </a:rPr>
              <a:t>WHERE IT TRADES TODAY</a:t>
            </a:r>
            <a:endParaRPr sz="1050" b="1" i="0">
              <a:solidFill>
                <a:srgbClr val="D8975E"/>
              </a:solidFill>
              <a:latin typeface="Calibri"/>
            </a:endParaRPr>
          </a:p>
          <a:p>
            <a:pPr algn="ctr">
              <a:spcBef>
                <a:spcPts val="500"/>
              </a:spcBef>
            </a:pPr>
            <a:r>
              <a:rPr lang="en-GB" sz="1400" b="1">
                <a:solidFill>
                  <a:srgbClr val="FFFFFF"/>
                </a:solidFill>
                <a:latin typeface="Calibri"/>
              </a:rPr>
              <a:t>CURRENT PRICE: $61</a:t>
            </a:r>
            <a:endParaRPr sz="1300" b="1" i="0">
              <a:solidFill>
                <a:srgbClr val="FFFFFF"/>
              </a:solidFill>
              <a:latin typeface="Calibri"/>
            </a:endParaRPr>
          </a:p>
        </p:txBody>
      </p:sp>
      <p:grpSp>
        <p:nvGrpSpPr>
          <p:cNvPr id="9" name="Group 8">
            <a:extLst>
              <a:ext uri="{FF2B5EF4-FFF2-40B4-BE49-F238E27FC236}">
                <a16:creationId xmlns:a16="http://schemas.microsoft.com/office/drawing/2014/main" id="{C197062C-5CFB-2E8F-C591-53C0865ED0CC}"/>
              </a:ext>
            </a:extLst>
          </p:cNvPr>
          <p:cNvGrpSpPr/>
          <p:nvPr/>
        </p:nvGrpSpPr>
        <p:grpSpPr>
          <a:xfrm>
            <a:off x="3471975" y="1518590"/>
            <a:ext cx="3182918" cy="5203960"/>
            <a:chOff x="108024" y="1518590"/>
            <a:chExt cx="3182918" cy="5203960"/>
          </a:xfrm>
        </p:grpSpPr>
        <p:sp>
          <p:nvSpPr>
            <p:cNvPr id="11" name="Rounded Rectangle 11">
              <a:extLst>
                <a:ext uri="{FF2B5EF4-FFF2-40B4-BE49-F238E27FC236}">
                  <a16:creationId xmlns:a16="http://schemas.microsoft.com/office/drawing/2014/main" id="{184156F7-D008-8FBE-EA9F-C3835D9B6DAF}"/>
                </a:ext>
              </a:extLst>
            </p:cNvPr>
            <p:cNvSpPr/>
            <p:nvPr/>
          </p:nvSpPr>
          <p:spPr>
            <a:xfrm>
              <a:off x="108026" y="1531181"/>
              <a:ext cx="3182916" cy="5191369"/>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05543452-FDF7-905B-7617-AA6B1E47B952}"/>
                </a:ext>
              </a:extLst>
            </p:cNvPr>
            <p:cNvSpPr txBox="1"/>
            <p:nvPr/>
          </p:nvSpPr>
          <p:spPr>
            <a:xfrm>
              <a:off x="240526" y="1731253"/>
              <a:ext cx="2917912" cy="3785652"/>
            </a:xfrm>
            <a:prstGeom prst="rect">
              <a:avLst/>
            </a:prstGeom>
            <a:noFill/>
          </p:spPr>
          <p:txBody>
            <a:bodyPr wrap="square" lIns="91440" tIns="45720" rIns="91440" bIns="45720" rtlCol="0" anchor="t">
              <a:spAutoFit/>
            </a:bodyPr>
            <a:lstStyle/>
            <a:p>
              <a:pPr marL="342900" indent="-342900">
                <a:buAutoNum type="arabicPeriod"/>
              </a:pPr>
              <a:endParaRPr lang="en-GB" sz="1200" noProof="0">
                <a:latin typeface="Cambria" panose="02040503050406030204" pitchFamily="18" charset="0"/>
                <a:ea typeface="Cambria" panose="02040503050406030204" pitchFamily="18" charset="0"/>
              </a:endParaRPr>
            </a:p>
            <a:p>
              <a:pPr marL="342900" indent="-342900">
                <a:buAutoNum type="arabicPeriod"/>
              </a:pPr>
              <a:endParaRPr lang="en-GB" sz="120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Consensus underestimates margin expansion; three divisions are growing as a result of new M&amp;A and R&amp;D breakthroughs. </a:t>
              </a:r>
              <a:endParaRPr lang="en-GB" sz="1200" noProof="0">
                <a:latin typeface="Cambria" panose="02040503050406030204" pitchFamily="18" charset="0"/>
                <a:ea typeface="Cambria" panose="02040503050406030204" pitchFamily="18" charset="0"/>
              </a:endParaRPr>
            </a:p>
            <a:p>
              <a:pPr marL="342900" indent="-342900">
                <a:buAutoNum type="arabicPeriod"/>
              </a:pPr>
              <a:endParaRPr lang="en-GB" sz="120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FCF is on the decline. Our equity research shows that this is temporary. We expect over a 5-year period to receive locked cash, possible sovereign capital injection and payment flows to increase.</a:t>
              </a:r>
            </a:p>
            <a:p>
              <a:pPr marL="342900" indent="-342900">
                <a:buAutoNum type="arabicPeriod"/>
              </a:pPr>
              <a:endParaRPr lang="en-GB" sz="1200" noProof="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General Electric (previous parent company) is expected this year to extinguish any existing overhang. Combined with the recent US SC ruling has stated a tariff refund, these factors strengthen the bull valuation case.</a:t>
              </a:r>
            </a:p>
            <a:p>
              <a:pPr marL="342900" indent="-342900">
                <a:buAutoNum type="arabicPeriod"/>
              </a:pPr>
              <a:endParaRPr lang="en-GB" sz="1200" noProof="0">
                <a:latin typeface="Cambria" panose="02040503050406030204" pitchFamily="18" charset="0"/>
                <a:ea typeface="Cambria" panose="02040503050406030204" pitchFamily="18" charset="0"/>
              </a:endParaRPr>
            </a:p>
          </p:txBody>
        </p:sp>
        <p:sp>
          <p:nvSpPr>
            <p:cNvPr id="13" name="Rounded Rectangle 9">
              <a:extLst>
                <a:ext uri="{FF2B5EF4-FFF2-40B4-BE49-F238E27FC236}">
                  <a16:creationId xmlns:a16="http://schemas.microsoft.com/office/drawing/2014/main" id="{F9CFAB31-82A6-BE98-5116-2DCD4E5F4FBD}"/>
                </a:ext>
              </a:extLst>
            </p:cNvPr>
            <p:cNvSpPr/>
            <p:nvPr/>
          </p:nvSpPr>
          <p:spPr>
            <a:xfrm>
              <a:off x="108024" y="1518590"/>
              <a:ext cx="3182917" cy="222702"/>
            </a:xfrm>
            <a:prstGeom prst="roundRect">
              <a:avLst>
                <a:gd name="adj" fmla="val 8000"/>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400" b="1">
                  <a:latin typeface="Cambria" panose="02040503050406030204" pitchFamily="18" charset="0"/>
                  <a:ea typeface="Cambria" panose="02040503050406030204" pitchFamily="18" charset="0"/>
                </a:rPr>
                <a:t>Thesis</a:t>
              </a:r>
            </a:p>
          </p:txBody>
        </p:sp>
      </p:grpSp>
      <p:sp>
        <p:nvSpPr>
          <p:cNvPr id="20" name="Rounded Rectangle 11">
            <a:extLst>
              <a:ext uri="{FF2B5EF4-FFF2-40B4-BE49-F238E27FC236}">
                <a16:creationId xmlns:a16="http://schemas.microsoft.com/office/drawing/2014/main" id="{D5C110FC-F277-6FF8-6E07-EC123E70417D}"/>
              </a:ext>
            </a:extLst>
          </p:cNvPr>
          <p:cNvSpPr/>
          <p:nvPr/>
        </p:nvSpPr>
        <p:spPr>
          <a:xfrm>
            <a:off x="6793182" y="1637116"/>
            <a:ext cx="5283063" cy="1864590"/>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23" name="Rounded Rectangle 9">
            <a:extLst>
              <a:ext uri="{FF2B5EF4-FFF2-40B4-BE49-F238E27FC236}">
                <a16:creationId xmlns:a16="http://schemas.microsoft.com/office/drawing/2014/main" id="{531CEAD9-EA1F-7B01-1C9B-9650C768F88C}"/>
              </a:ext>
            </a:extLst>
          </p:cNvPr>
          <p:cNvSpPr/>
          <p:nvPr/>
        </p:nvSpPr>
        <p:spPr>
          <a:xfrm>
            <a:off x="6793180" y="1522307"/>
            <a:ext cx="5283063" cy="194824"/>
          </a:xfrm>
          <a:prstGeom prst="roundRect">
            <a:avLst>
              <a:gd name="adj" fmla="val 8000"/>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GB" sz="1600" b="1">
                <a:latin typeface="Cambria" panose="02040503050406030204" pitchFamily="18" charset="0"/>
                <a:ea typeface="Cambria" panose="02040503050406030204" pitchFamily="18" charset="0"/>
              </a:rPr>
              <a:t>ESG</a:t>
            </a:r>
          </a:p>
        </p:txBody>
      </p:sp>
      <p:sp>
        <p:nvSpPr>
          <p:cNvPr id="29" name="TextBox 28">
            <a:extLst>
              <a:ext uri="{FF2B5EF4-FFF2-40B4-BE49-F238E27FC236}">
                <a16:creationId xmlns:a16="http://schemas.microsoft.com/office/drawing/2014/main" id="{13FEC702-C391-E428-275C-8BC43E73ED7F}"/>
              </a:ext>
            </a:extLst>
          </p:cNvPr>
          <p:cNvSpPr txBox="1"/>
          <p:nvPr/>
        </p:nvSpPr>
        <p:spPr>
          <a:xfrm>
            <a:off x="6835925" y="1717306"/>
            <a:ext cx="5235320" cy="1754326"/>
          </a:xfrm>
          <a:prstGeom prst="rect">
            <a:avLst/>
          </a:prstGeom>
          <a:noFill/>
        </p:spPr>
        <p:txBody>
          <a:bodyPr wrap="square" lIns="91440" tIns="45720" rIns="91440" bIns="45720" rtlCol="0" anchor="t">
            <a:spAutoFit/>
          </a:bodyPr>
          <a:lstStyle/>
          <a:p>
            <a:endParaRPr lang="en-GB" sz="120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12 of GEHC’s competitors carry and average environmental score of just 2, reflecting their energy intense manufacturing and finite resource dependencies. Peers lean on disproportionally strong Social and Governance scores to support their otherwise weak composite ratings. </a:t>
            </a:r>
          </a:p>
          <a:p>
            <a:endParaRPr lang="en-GB" sz="1200">
              <a:latin typeface="Cambria" panose="02040503050406030204" pitchFamily="18" charset="0"/>
              <a:ea typeface="Cambria" panose="02040503050406030204" pitchFamily="18" charset="0"/>
            </a:endParaRPr>
          </a:p>
          <a:p>
            <a:r>
              <a:rPr lang="en-GB" sz="1200">
                <a:latin typeface="Cambria" panose="02040503050406030204" pitchFamily="18" charset="0"/>
                <a:ea typeface="Cambria" panose="02040503050406030204" pitchFamily="18" charset="0"/>
              </a:rPr>
              <a:t>GEHC breaks this pattern with an industry leading E score of 7.95 almost 4x the peer average proving that you can advance human health without compromising the environment. </a:t>
            </a:r>
          </a:p>
        </p:txBody>
      </p:sp>
      <p:pic>
        <p:nvPicPr>
          <p:cNvPr id="30" name="Graphic 29" descr="Arrow Right with solid fill">
            <a:extLst>
              <a:ext uri="{FF2B5EF4-FFF2-40B4-BE49-F238E27FC236}">
                <a16:creationId xmlns:a16="http://schemas.microsoft.com/office/drawing/2014/main" id="{9B0A5EBD-DBD8-1525-98F4-A500EE795E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90983" y="3802690"/>
            <a:ext cx="436880" cy="325120"/>
          </a:xfrm>
          <a:prstGeom prst="rect">
            <a:avLst/>
          </a:prstGeom>
        </p:spPr>
      </p:pic>
      <p:graphicFrame>
        <p:nvGraphicFramePr>
          <p:cNvPr id="8" name="Chart 7">
            <a:extLst>
              <a:ext uri="{FF2B5EF4-FFF2-40B4-BE49-F238E27FC236}">
                <a16:creationId xmlns:a16="http://schemas.microsoft.com/office/drawing/2014/main" id="{0C426EB0-9BEA-39ED-E879-8F0860EBE8AD}"/>
              </a:ext>
            </a:extLst>
          </p:cNvPr>
          <p:cNvGraphicFramePr>
            <a:graphicFrameLocks/>
          </p:cNvGraphicFramePr>
          <p:nvPr>
            <p:extLst>
              <p:ext uri="{D42A27DB-BD31-4B8C-83A1-F6EECF244321}">
                <p14:modId xmlns:p14="http://schemas.microsoft.com/office/powerpoint/2010/main" val="3763210204"/>
              </p:ext>
            </p:extLst>
          </p:nvPr>
        </p:nvGraphicFramePr>
        <p:xfrm>
          <a:off x="6801155" y="3665797"/>
          <a:ext cx="5270090" cy="3190164"/>
        </p:xfrm>
        <a:graphic>
          <a:graphicData uri="http://schemas.openxmlformats.org/drawingml/2006/chart">
            <c:chart xmlns:c="http://schemas.openxmlformats.org/drawingml/2006/chart" xmlns:r="http://schemas.openxmlformats.org/officeDocument/2006/relationships" r:id="rId4"/>
          </a:graphicData>
        </a:graphic>
      </p:graphicFrame>
      <p:cxnSp>
        <p:nvCxnSpPr>
          <p:cNvPr id="14" name="Straight Connector 13">
            <a:extLst>
              <a:ext uri="{FF2B5EF4-FFF2-40B4-BE49-F238E27FC236}">
                <a16:creationId xmlns:a16="http://schemas.microsoft.com/office/drawing/2014/main" id="{4A049F27-3186-C8FE-94A2-ED789F6613A5}"/>
              </a:ext>
            </a:extLst>
          </p:cNvPr>
          <p:cNvCxnSpPr>
            <a:cxnSpLocks/>
          </p:cNvCxnSpPr>
          <p:nvPr/>
        </p:nvCxnSpPr>
        <p:spPr>
          <a:xfrm>
            <a:off x="7131529" y="5040626"/>
            <a:ext cx="4820347" cy="0"/>
          </a:xfrm>
          <a:prstGeom prst="line">
            <a:avLst/>
          </a:prstGeom>
        </p:spPr>
        <p:style>
          <a:lnRef idx="2">
            <a:schemeClr val="accent2"/>
          </a:lnRef>
          <a:fillRef idx="0">
            <a:schemeClr val="accent2"/>
          </a:fillRef>
          <a:effectRef idx="1">
            <a:schemeClr val="accent2"/>
          </a:effectRef>
          <a:fontRef idx="minor">
            <a:schemeClr val="tx1"/>
          </a:fontRef>
        </p:style>
      </p:cxnSp>
      <p:pic>
        <p:nvPicPr>
          <p:cNvPr id="5" name="Graphic 4" descr="Arrow Right with solid fill">
            <a:extLst>
              <a:ext uri="{FF2B5EF4-FFF2-40B4-BE49-F238E27FC236}">
                <a16:creationId xmlns:a16="http://schemas.microsoft.com/office/drawing/2014/main" id="{C74E89E7-2231-760F-640C-49EECFAB5F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47153" y="909926"/>
            <a:ext cx="436880" cy="325120"/>
          </a:xfrm>
          <a:prstGeom prst="rect">
            <a:avLst/>
          </a:prstGeom>
        </p:spPr>
      </p:pic>
      <p:pic>
        <p:nvPicPr>
          <p:cNvPr id="6" name="Graphic 5" descr="Arrow Right with solid fill">
            <a:extLst>
              <a:ext uri="{FF2B5EF4-FFF2-40B4-BE49-F238E27FC236}">
                <a16:creationId xmlns:a16="http://schemas.microsoft.com/office/drawing/2014/main" id="{224E2693-08B0-C004-D276-6343E20B67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64820" y="870061"/>
            <a:ext cx="436880" cy="325120"/>
          </a:xfrm>
          <a:prstGeom prst="rect">
            <a:avLst/>
          </a:prstGeom>
        </p:spPr>
      </p:pic>
      <p:sp>
        <p:nvSpPr>
          <p:cNvPr id="15" name="TextBox 20">
            <a:extLst>
              <a:ext uri="{FF2B5EF4-FFF2-40B4-BE49-F238E27FC236}">
                <a16:creationId xmlns:a16="http://schemas.microsoft.com/office/drawing/2014/main" id="{63633D93-E44C-16B0-DF98-0871B0CF8BFE}"/>
              </a:ext>
            </a:extLst>
          </p:cNvPr>
          <p:cNvSpPr txBox="1"/>
          <p:nvPr/>
        </p:nvSpPr>
        <p:spPr>
          <a:xfrm>
            <a:off x="6313726" y="176648"/>
            <a:ext cx="1566189" cy="1231196"/>
          </a:xfrm>
          <a:prstGeom prst="roundRect">
            <a:avLst>
              <a:gd name="adj" fmla="val 30000"/>
            </a:avLst>
          </a:prstGeom>
          <a:solidFill>
            <a:srgbClr val="0A282A"/>
          </a:solidFill>
          <a:ln w="25400">
            <a:solidFill>
              <a:srgbClr val="D8975E"/>
            </a:solidFill>
          </a:ln>
        </p:spPr>
        <p:txBody>
          <a:bodyPr wrap="square" lIns="152400" tIns="127000" rIns="152400" bIns="762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050" b="1">
                <a:solidFill>
                  <a:srgbClr val="D8975E"/>
                </a:solidFill>
                <a:latin typeface="Calibri"/>
              </a:rPr>
              <a:t>HISTORICAL DISCOUNT</a:t>
            </a:r>
            <a:endParaRPr sz="1050" b="1" i="0">
              <a:solidFill>
                <a:srgbClr val="D8975E"/>
              </a:solidFill>
              <a:latin typeface="Calibri"/>
            </a:endParaRPr>
          </a:p>
          <a:p>
            <a:pPr algn="ctr">
              <a:spcBef>
                <a:spcPts val="500"/>
              </a:spcBef>
            </a:pPr>
            <a:r>
              <a:rPr lang="en-GB" sz="1400" b="1">
                <a:solidFill>
                  <a:srgbClr val="FFFFFF"/>
                </a:solidFill>
                <a:latin typeface="Calibri"/>
              </a:rPr>
              <a:t> DISCOUNT: 44%</a:t>
            </a:r>
            <a:endParaRPr sz="1300" b="1" i="0">
              <a:solidFill>
                <a:srgbClr val="FFFFFF"/>
              </a:solidFill>
              <a:latin typeface="Calibri"/>
            </a:endParaRPr>
          </a:p>
        </p:txBody>
      </p:sp>
      <p:pic>
        <p:nvPicPr>
          <p:cNvPr id="17" name="Graphic 16" descr="Arrow Right with solid fill">
            <a:extLst>
              <a:ext uri="{FF2B5EF4-FFF2-40B4-BE49-F238E27FC236}">
                <a16:creationId xmlns:a16="http://schemas.microsoft.com/office/drawing/2014/main" id="{7BE8CABC-6D15-B023-11F6-1EFB5745DD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1570" y="870061"/>
            <a:ext cx="436880" cy="325120"/>
          </a:xfrm>
          <a:prstGeom prst="rect">
            <a:avLst/>
          </a:prstGeom>
        </p:spPr>
      </p:pic>
      <p:sp>
        <p:nvSpPr>
          <p:cNvPr id="18" name="TextBox 20">
            <a:extLst>
              <a:ext uri="{FF2B5EF4-FFF2-40B4-BE49-F238E27FC236}">
                <a16:creationId xmlns:a16="http://schemas.microsoft.com/office/drawing/2014/main" id="{57010AFA-1D9F-6359-00A7-5BF7A8092A37}"/>
              </a:ext>
            </a:extLst>
          </p:cNvPr>
          <p:cNvSpPr txBox="1"/>
          <p:nvPr/>
        </p:nvSpPr>
        <p:spPr>
          <a:xfrm>
            <a:off x="8405137" y="176648"/>
            <a:ext cx="1566189" cy="1231196"/>
          </a:xfrm>
          <a:prstGeom prst="roundRect">
            <a:avLst>
              <a:gd name="adj" fmla="val 30000"/>
            </a:avLst>
          </a:prstGeom>
          <a:solidFill>
            <a:srgbClr val="0A282A"/>
          </a:solidFill>
          <a:ln w="25400">
            <a:solidFill>
              <a:srgbClr val="D8975E"/>
            </a:solidFill>
          </a:ln>
        </p:spPr>
        <p:txBody>
          <a:bodyPr wrap="square" lIns="152400" tIns="127000" rIns="152400" bIns="762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1050" b="1" i="0">
                <a:solidFill>
                  <a:srgbClr val="D8975E"/>
                </a:solidFill>
                <a:latin typeface="Calibri"/>
              </a:rPr>
              <a:t>ESG &amp; MSCI</a:t>
            </a:r>
          </a:p>
          <a:p>
            <a:pPr algn="ctr"/>
            <a:r>
              <a:rPr lang="en-GB" sz="1050" b="1" i="0">
                <a:solidFill>
                  <a:srgbClr val="D8975E"/>
                </a:solidFill>
                <a:latin typeface="Calibri"/>
              </a:rPr>
              <a:t> </a:t>
            </a:r>
          </a:p>
          <a:p>
            <a:pPr algn="ctr"/>
            <a:r>
              <a:rPr lang="en-GB" sz="1400" b="1">
                <a:solidFill>
                  <a:srgbClr val="FFFFFF"/>
                </a:solidFill>
                <a:latin typeface="Calibri"/>
              </a:rPr>
              <a:t>MSCI: A</a:t>
            </a:r>
          </a:p>
          <a:p>
            <a:pPr algn="ctr">
              <a:spcBef>
                <a:spcPts val="500"/>
              </a:spcBef>
            </a:pPr>
            <a:r>
              <a:rPr lang="en-GB" sz="1400" b="1">
                <a:solidFill>
                  <a:srgbClr val="FFFFFF"/>
                </a:solidFill>
                <a:latin typeface="Calibri"/>
              </a:rPr>
              <a:t>ESG</a:t>
            </a:r>
            <a:r>
              <a:rPr lang="en-GB" sz="1400" b="1" i="0">
                <a:solidFill>
                  <a:srgbClr val="FFFFFF"/>
                </a:solidFill>
                <a:latin typeface="Calibri"/>
              </a:rPr>
              <a:t>: 7.26</a:t>
            </a:r>
            <a:endParaRPr sz="1300" b="1" i="0">
              <a:solidFill>
                <a:srgbClr val="FFFFFF"/>
              </a:solidFill>
              <a:latin typeface="Calibri"/>
            </a:endParaRPr>
          </a:p>
        </p:txBody>
      </p:sp>
      <p:pic>
        <p:nvPicPr>
          <p:cNvPr id="19" name="Graphic 18" descr="Arrow Right with solid fill">
            <a:extLst>
              <a:ext uri="{FF2B5EF4-FFF2-40B4-BE49-F238E27FC236}">
                <a16:creationId xmlns:a16="http://schemas.microsoft.com/office/drawing/2014/main" id="{AE9CFA9B-4604-0D02-A387-60355E3D43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46091" y="909926"/>
            <a:ext cx="436880" cy="325120"/>
          </a:xfrm>
          <a:prstGeom prst="rect">
            <a:avLst/>
          </a:prstGeom>
        </p:spPr>
      </p:pic>
    </p:spTree>
    <p:extLst>
      <p:ext uri="{BB962C8B-B14F-4D97-AF65-F5344CB8AC3E}">
        <p14:creationId xmlns:p14="http://schemas.microsoft.com/office/powerpoint/2010/main" val="780759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11480"/>
            <a:ext cx="64008" cy="868680"/>
          </a:xfrm>
          <a:prstGeom prst="rect">
            <a:avLst/>
          </a:prstGeom>
          <a:solidFill>
            <a:srgbClr val="D89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274320"/>
          </a:xfrm>
          <a:prstGeom prst="rect">
            <a:avLst/>
          </a:prstGeom>
          <a:noFill/>
        </p:spPr>
        <p:txBody>
          <a:bodyPr wrap="square" lIns="0" tIns="0" rIns="0" bIns="0" anchor="t">
            <a:spAutoFit/>
          </a:bodyPr>
          <a:lstStyle/>
          <a:p>
            <a:pPr algn="l"/>
            <a:r>
              <a:rPr sz="1100" b="1" i="0">
                <a:solidFill>
                  <a:srgbClr val="D8975E"/>
                </a:solidFill>
                <a:latin typeface="Calibri"/>
              </a:rPr>
              <a:t>02 / COMPANY OVERVIEW</a:t>
            </a:r>
          </a:p>
        </p:txBody>
      </p:sp>
      <p:sp>
        <p:nvSpPr>
          <p:cNvPr id="4" name="TextBox 3"/>
          <p:cNvSpPr txBox="1"/>
          <p:nvPr/>
        </p:nvSpPr>
        <p:spPr>
          <a:xfrm>
            <a:off x="640080" y="713232"/>
            <a:ext cx="10515600" cy="677108"/>
          </a:xfrm>
          <a:prstGeom prst="rect">
            <a:avLst/>
          </a:prstGeom>
          <a:noFill/>
        </p:spPr>
        <p:txBody>
          <a:bodyPr wrap="square" lIns="0" tIns="0" rIns="0" bIns="0" anchor="t">
            <a:spAutoFit/>
          </a:bodyPr>
          <a:lstStyle/>
          <a:p>
            <a:pPr algn="l"/>
            <a:r>
              <a:rPr sz="2200" b="1" i="0">
                <a:solidFill>
                  <a:srgbClr val="123C3E"/>
                </a:solidFill>
                <a:latin typeface="Calibri"/>
              </a:rPr>
              <a:t>A century-old franchise, three years independent </a:t>
            </a:r>
            <a:r>
              <a:rPr lang="en-GB" sz="2200" b="1" i="0">
                <a:solidFill>
                  <a:srgbClr val="123C3E"/>
                </a:solidFill>
                <a:latin typeface="Calibri"/>
              </a:rPr>
              <a:t>-</a:t>
            </a:r>
            <a:r>
              <a:rPr sz="2200" b="1" i="0">
                <a:solidFill>
                  <a:srgbClr val="123C3E"/>
                </a:solidFill>
                <a:latin typeface="Calibri"/>
              </a:rPr>
              <a:t> diversified across four high-quality segments</a:t>
            </a:r>
          </a:p>
        </p:txBody>
      </p:sp>
      <p:sp>
        <p:nvSpPr>
          <p:cNvPr id="5" name="Rectangle 4"/>
          <p:cNvSpPr/>
          <p:nvPr/>
        </p:nvSpPr>
        <p:spPr>
          <a:xfrm>
            <a:off x="457200" y="1417320"/>
            <a:ext cx="11274552" cy="13716"/>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6" name="TextBox 5"/>
          <p:cNvSpPr txBox="1"/>
          <p:nvPr/>
        </p:nvSpPr>
        <p:spPr>
          <a:xfrm>
            <a:off x="457200" y="1600200"/>
            <a:ext cx="3291840" cy="153888"/>
          </a:xfrm>
          <a:prstGeom prst="rect">
            <a:avLst/>
          </a:prstGeom>
          <a:noFill/>
        </p:spPr>
        <p:txBody>
          <a:bodyPr wrap="square" lIns="0" tIns="0" rIns="0" bIns="0" anchor="t">
            <a:spAutoFit/>
          </a:bodyPr>
          <a:lstStyle/>
          <a:p>
            <a:pPr algn="l"/>
            <a:r>
              <a:rPr lang="en-GB" sz="1000" b="1" i="0">
                <a:solidFill>
                  <a:srgbClr val="D8975E"/>
                </a:solidFill>
                <a:latin typeface="Cambria" panose="02040503050406030204" pitchFamily="18" charset="0"/>
                <a:ea typeface="Cambria" panose="02040503050406030204" pitchFamily="18" charset="0"/>
              </a:rPr>
              <a:t>FY25 Revenue</a:t>
            </a:r>
          </a:p>
        </p:txBody>
      </p:sp>
      <p:sp>
        <p:nvSpPr>
          <p:cNvPr id="7" name="TextBox 6"/>
          <p:cNvSpPr txBox="1"/>
          <p:nvPr/>
        </p:nvSpPr>
        <p:spPr>
          <a:xfrm>
            <a:off x="457200" y="1874519"/>
            <a:ext cx="3291840" cy="584775"/>
          </a:xfrm>
          <a:prstGeom prst="rect">
            <a:avLst/>
          </a:prstGeom>
          <a:noFill/>
        </p:spPr>
        <p:txBody>
          <a:bodyPr wrap="square" lIns="0" tIns="0" rIns="0" bIns="0" anchor="t">
            <a:spAutoFit/>
          </a:bodyPr>
          <a:lstStyle/>
          <a:p>
            <a:pPr algn="l"/>
            <a:r>
              <a:rPr lang="en-GB" sz="3800" b="1" i="0">
                <a:solidFill>
                  <a:srgbClr val="123C3E"/>
                </a:solidFill>
                <a:latin typeface="Cambria" panose="02040503050406030204" pitchFamily="18" charset="0"/>
                <a:ea typeface="Cambria" panose="02040503050406030204" pitchFamily="18" charset="0"/>
              </a:rPr>
              <a:t>$20.6bn</a:t>
            </a:r>
          </a:p>
        </p:txBody>
      </p:sp>
      <p:sp>
        <p:nvSpPr>
          <p:cNvPr id="8" name="TextBox 7"/>
          <p:cNvSpPr txBox="1"/>
          <p:nvPr/>
        </p:nvSpPr>
        <p:spPr>
          <a:xfrm>
            <a:off x="457200" y="2697480"/>
            <a:ext cx="3291840" cy="169277"/>
          </a:xfrm>
          <a:prstGeom prst="rect">
            <a:avLst/>
          </a:prstGeom>
          <a:noFill/>
        </p:spPr>
        <p:txBody>
          <a:bodyPr wrap="square" lIns="0" tIns="0" rIns="0" bIns="0" anchor="t">
            <a:spAutoFit/>
          </a:bodyPr>
          <a:lstStyle/>
          <a:p>
            <a:pPr algn="l"/>
            <a:r>
              <a:rPr lang="en-GB" sz="1100" b="0" i="0">
                <a:solidFill>
                  <a:srgbClr val="6B7B7D"/>
                </a:solidFill>
                <a:latin typeface="Cambria" panose="02040503050406030204" pitchFamily="18" charset="0"/>
                <a:ea typeface="Cambria" panose="02040503050406030204" pitchFamily="18" charset="0"/>
              </a:rPr>
              <a:t>+3.4% organic  |  15.3% adj. EBIT margin</a:t>
            </a:r>
          </a:p>
        </p:txBody>
      </p:sp>
      <p:sp>
        <p:nvSpPr>
          <p:cNvPr id="9" name="TextBox 8"/>
          <p:cNvSpPr txBox="1"/>
          <p:nvPr/>
        </p:nvSpPr>
        <p:spPr>
          <a:xfrm>
            <a:off x="526805" y="3102617"/>
            <a:ext cx="3291840" cy="1107996"/>
          </a:xfrm>
          <a:prstGeom prst="rect">
            <a:avLst/>
          </a:prstGeom>
          <a:noFill/>
        </p:spPr>
        <p:txBody>
          <a:bodyPr wrap="square" lIns="0" tIns="0" rIns="0" bIns="0" anchor="t">
            <a:spAutoFit/>
          </a:bodyPr>
          <a:lstStyle/>
          <a:p>
            <a:pPr algn="l"/>
            <a:r>
              <a:rPr lang="en-GB" sz="1200" b="0" i="0">
                <a:solidFill>
                  <a:srgbClr val="1A2A2C"/>
                </a:solidFill>
                <a:latin typeface="Cambria" panose="02040503050406030204" pitchFamily="18" charset="0"/>
                <a:ea typeface="Cambria" panose="02040503050406030204" pitchFamily="18" charset="0"/>
              </a:rPr>
              <a:t>Each segment serves a different buyer with different purchase economics — locking in a recurring revenue rhythm: hardware sale → multi-year service contract → software upgrade → consumable pull-through across a 7–10 year equipment lifecycle.</a:t>
            </a:r>
          </a:p>
        </p:txBody>
      </p:sp>
      <p:sp>
        <p:nvSpPr>
          <p:cNvPr id="12" name="Rounded Rectangle 11"/>
          <p:cNvSpPr/>
          <p:nvPr/>
        </p:nvSpPr>
        <p:spPr>
          <a:xfrm>
            <a:off x="4023360" y="1600200"/>
            <a:ext cx="3950208" cy="2377440"/>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13" name="Rectangle 12"/>
          <p:cNvSpPr/>
          <p:nvPr/>
        </p:nvSpPr>
        <p:spPr>
          <a:xfrm>
            <a:off x="4023360" y="1600200"/>
            <a:ext cx="73152" cy="2377440"/>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14" name="TextBox 13"/>
          <p:cNvSpPr txBox="1"/>
          <p:nvPr/>
        </p:nvSpPr>
        <p:spPr>
          <a:xfrm>
            <a:off x="4224528" y="1764792"/>
            <a:ext cx="2176272" cy="246221"/>
          </a:xfrm>
          <a:prstGeom prst="rect">
            <a:avLst/>
          </a:prstGeom>
          <a:noFill/>
        </p:spPr>
        <p:txBody>
          <a:bodyPr wrap="square" lIns="0" tIns="0" rIns="0" bIns="0" anchor="t">
            <a:spAutoFit/>
          </a:bodyPr>
          <a:lstStyle/>
          <a:p>
            <a:pPr algn="l"/>
            <a:r>
              <a:rPr lang="en-GB" sz="1600" b="1" i="0">
                <a:solidFill>
                  <a:srgbClr val="123C3E"/>
                </a:solidFill>
                <a:latin typeface="Cambria" panose="02040503050406030204" pitchFamily="18" charset="0"/>
                <a:ea typeface="Cambria" panose="02040503050406030204" pitchFamily="18" charset="0"/>
              </a:rPr>
              <a:t>Imaging</a:t>
            </a:r>
          </a:p>
        </p:txBody>
      </p:sp>
      <p:sp>
        <p:nvSpPr>
          <p:cNvPr id="15" name="TextBox 14"/>
          <p:cNvSpPr txBox="1"/>
          <p:nvPr/>
        </p:nvSpPr>
        <p:spPr>
          <a:xfrm>
            <a:off x="6400800" y="1764792"/>
            <a:ext cx="1371600" cy="353943"/>
          </a:xfrm>
          <a:prstGeom prst="rect">
            <a:avLst/>
          </a:prstGeom>
          <a:noFill/>
        </p:spPr>
        <p:txBody>
          <a:bodyPr wrap="square" lIns="0" tIns="0" rIns="0" bIns="0" anchor="t">
            <a:spAutoFit/>
          </a:bodyPr>
          <a:lstStyle/>
          <a:p>
            <a:pPr algn="r"/>
            <a:r>
              <a:rPr lang="en-GB" sz="1400" b="1">
                <a:solidFill>
                  <a:srgbClr val="1A2A2C"/>
                </a:solidFill>
                <a:latin typeface="Cambria" panose="02040503050406030204" pitchFamily="18" charset="0"/>
                <a:ea typeface="Cambria" panose="02040503050406030204" pitchFamily="18" charset="0"/>
              </a:rPr>
              <a:t>$9.2bn</a:t>
            </a:r>
          </a:p>
          <a:p>
            <a:pPr algn="r"/>
            <a:r>
              <a:rPr lang="en-GB" sz="900" b="1">
                <a:solidFill>
                  <a:srgbClr val="1A6B45"/>
                </a:solidFill>
                <a:latin typeface="Cambria" panose="02040503050406030204" pitchFamily="18" charset="0"/>
                <a:ea typeface="Cambria" panose="02040503050406030204" pitchFamily="18" charset="0"/>
              </a:rPr>
              <a:t>+3.8% organic</a:t>
            </a:r>
          </a:p>
        </p:txBody>
      </p:sp>
      <p:sp>
        <p:nvSpPr>
          <p:cNvPr id="16" name="TextBox 15"/>
          <p:cNvSpPr txBox="1"/>
          <p:nvPr/>
        </p:nvSpPr>
        <p:spPr>
          <a:xfrm>
            <a:off x="4211320" y="2264807"/>
            <a:ext cx="3547872"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CT, MRI, X-ray, PET. Large fixed hospital equipment at $1–3M per machine on a 7–10 year replacement cycle. Hardware sale anchors a multi-year service contract; AIR Recon DL ($50k AI software upgrade) drives high-margin attach revenue.</a:t>
            </a:r>
          </a:p>
        </p:txBody>
      </p:sp>
      <p:sp>
        <p:nvSpPr>
          <p:cNvPr id="17" name="TextBox 16"/>
          <p:cNvSpPr txBox="1"/>
          <p:nvPr/>
        </p:nvSpPr>
        <p:spPr>
          <a:xfrm>
            <a:off x="4224528" y="3754120"/>
            <a:ext cx="3547872" cy="138499"/>
          </a:xfrm>
          <a:prstGeom prst="rect">
            <a:avLst/>
          </a:prstGeom>
          <a:noFill/>
        </p:spPr>
        <p:txBody>
          <a:bodyPr wrap="square" lIns="0" tIns="0" rIns="0" bIns="0" anchor="t">
            <a:spAutoFit/>
          </a:bodyPr>
          <a:lstStyle/>
          <a:p>
            <a:pPr algn="l"/>
            <a:r>
              <a:rPr lang="it-IT" sz="900" b="1" i="1">
                <a:solidFill>
                  <a:srgbClr val="123C3E"/>
                </a:solidFill>
                <a:latin typeface="Cambria" panose="02040503050406030204" pitchFamily="18" charset="0"/>
                <a:ea typeface="Cambria" panose="02040503050406030204" pitchFamily="18" charset="0"/>
              </a:rPr>
              <a:t>Largest segment  |  45% AI software attach</a:t>
            </a:r>
          </a:p>
        </p:txBody>
      </p:sp>
      <p:sp>
        <p:nvSpPr>
          <p:cNvPr id="18" name="Rounded Rectangle 17"/>
          <p:cNvSpPr/>
          <p:nvPr/>
        </p:nvSpPr>
        <p:spPr>
          <a:xfrm>
            <a:off x="8138160" y="1600200"/>
            <a:ext cx="3950208" cy="2377440"/>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19" name="Rectangle 18"/>
          <p:cNvSpPr/>
          <p:nvPr/>
        </p:nvSpPr>
        <p:spPr>
          <a:xfrm>
            <a:off x="8138160" y="1600200"/>
            <a:ext cx="73152" cy="2377440"/>
          </a:xfrm>
          <a:prstGeom prst="rect">
            <a:avLst/>
          </a:prstGeom>
          <a:solidFill>
            <a:srgbClr val="4567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0" name="TextBox 19"/>
          <p:cNvSpPr txBox="1"/>
          <p:nvPr/>
        </p:nvSpPr>
        <p:spPr>
          <a:xfrm>
            <a:off x="8339328" y="1764792"/>
            <a:ext cx="2176272" cy="246221"/>
          </a:xfrm>
          <a:prstGeom prst="rect">
            <a:avLst/>
          </a:prstGeom>
          <a:noFill/>
        </p:spPr>
        <p:txBody>
          <a:bodyPr wrap="square" lIns="0" tIns="0" rIns="0" bIns="0" anchor="t">
            <a:spAutoFit/>
          </a:bodyPr>
          <a:lstStyle/>
          <a:p>
            <a:pPr algn="l"/>
            <a:r>
              <a:rPr lang="en-GB" sz="1600" b="1" i="0">
                <a:solidFill>
                  <a:srgbClr val="123C3E"/>
                </a:solidFill>
                <a:latin typeface="Cambria" panose="02040503050406030204" pitchFamily="18" charset="0"/>
                <a:ea typeface="Cambria" panose="02040503050406030204" pitchFamily="18" charset="0"/>
              </a:rPr>
              <a:t>AVS</a:t>
            </a:r>
          </a:p>
        </p:txBody>
      </p:sp>
      <p:sp>
        <p:nvSpPr>
          <p:cNvPr id="21" name="TextBox 20"/>
          <p:cNvSpPr txBox="1"/>
          <p:nvPr/>
        </p:nvSpPr>
        <p:spPr>
          <a:xfrm>
            <a:off x="10515600" y="1764792"/>
            <a:ext cx="1371600" cy="353943"/>
          </a:xfrm>
          <a:prstGeom prst="rect">
            <a:avLst/>
          </a:prstGeom>
          <a:noFill/>
        </p:spPr>
        <p:txBody>
          <a:bodyPr wrap="square" lIns="0" tIns="0" rIns="0" bIns="0" anchor="t">
            <a:spAutoFit/>
          </a:bodyPr>
          <a:lstStyle/>
          <a:p>
            <a:pPr algn="r"/>
            <a:r>
              <a:rPr lang="en-GB" sz="1400" b="1">
                <a:solidFill>
                  <a:srgbClr val="1A2A2C"/>
                </a:solidFill>
                <a:latin typeface="Cambria" panose="02040503050406030204" pitchFamily="18" charset="0"/>
                <a:ea typeface="Cambria" panose="02040503050406030204" pitchFamily="18" charset="0"/>
              </a:rPr>
              <a:t>$5.4bn</a:t>
            </a:r>
          </a:p>
          <a:p>
            <a:pPr algn="r"/>
            <a:r>
              <a:rPr lang="en-GB" sz="900" b="1">
                <a:solidFill>
                  <a:srgbClr val="1A6B45"/>
                </a:solidFill>
                <a:latin typeface="Cambria" panose="02040503050406030204" pitchFamily="18" charset="0"/>
                <a:ea typeface="Cambria" panose="02040503050406030204" pitchFamily="18" charset="0"/>
              </a:rPr>
              <a:t>+3.8% organic</a:t>
            </a:r>
          </a:p>
        </p:txBody>
      </p:sp>
      <p:sp>
        <p:nvSpPr>
          <p:cNvPr id="22" name="TextBox 21"/>
          <p:cNvSpPr txBox="1"/>
          <p:nvPr/>
        </p:nvSpPr>
        <p:spPr>
          <a:xfrm>
            <a:off x="8339328" y="2225325"/>
            <a:ext cx="3547872"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Advanced Visualization Solutions — ultrasound and surgical-guidance systems are used intraoperatively. Acquisition of BK Medical added premium-margin intraoperative imaging; smaller, more portable form factors than fixed Imaging.</a:t>
            </a:r>
          </a:p>
        </p:txBody>
      </p:sp>
      <p:sp>
        <p:nvSpPr>
          <p:cNvPr id="23" name="TextBox 22"/>
          <p:cNvSpPr txBox="1"/>
          <p:nvPr/>
        </p:nvSpPr>
        <p:spPr>
          <a:xfrm>
            <a:off x="8339328" y="3754120"/>
            <a:ext cx="3547872" cy="138499"/>
          </a:xfrm>
          <a:prstGeom prst="rect">
            <a:avLst/>
          </a:prstGeom>
          <a:noFill/>
        </p:spPr>
        <p:txBody>
          <a:bodyPr wrap="square" lIns="0" tIns="0" rIns="0" bIns="0" anchor="t">
            <a:spAutoFit/>
          </a:bodyPr>
          <a:lstStyle/>
          <a:p>
            <a:pPr algn="l"/>
            <a:r>
              <a:rPr lang="en-GB" sz="900" b="1" i="1">
                <a:solidFill>
                  <a:srgbClr val="456794"/>
                </a:solidFill>
                <a:latin typeface="Cambria" panose="02040503050406030204" pitchFamily="18" charset="0"/>
                <a:ea typeface="Cambria" panose="02040503050406030204" pitchFamily="18" charset="0"/>
              </a:rPr>
              <a:t>Mid-20s segment EBIT margin</a:t>
            </a:r>
          </a:p>
        </p:txBody>
      </p:sp>
      <p:sp>
        <p:nvSpPr>
          <p:cNvPr id="24" name="Rounded Rectangle 23"/>
          <p:cNvSpPr/>
          <p:nvPr/>
        </p:nvSpPr>
        <p:spPr>
          <a:xfrm>
            <a:off x="4023360" y="4142232"/>
            <a:ext cx="3950208" cy="2377440"/>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25" name="Rectangle 24"/>
          <p:cNvSpPr/>
          <p:nvPr/>
        </p:nvSpPr>
        <p:spPr>
          <a:xfrm>
            <a:off x="4023360" y="4142232"/>
            <a:ext cx="73152" cy="2377440"/>
          </a:xfrm>
          <a:prstGeom prst="rect">
            <a:avLst/>
          </a:prstGeom>
          <a:solidFill>
            <a:srgbClr val="6B7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6" name="TextBox 25"/>
          <p:cNvSpPr txBox="1"/>
          <p:nvPr/>
        </p:nvSpPr>
        <p:spPr>
          <a:xfrm>
            <a:off x="4224528" y="4306824"/>
            <a:ext cx="2176272" cy="246221"/>
          </a:xfrm>
          <a:prstGeom prst="rect">
            <a:avLst/>
          </a:prstGeom>
          <a:noFill/>
        </p:spPr>
        <p:txBody>
          <a:bodyPr wrap="square" lIns="0" tIns="0" rIns="0" bIns="0" anchor="t">
            <a:spAutoFit/>
          </a:bodyPr>
          <a:lstStyle/>
          <a:p>
            <a:pPr algn="l"/>
            <a:r>
              <a:rPr lang="en-GB" sz="1600" b="1" i="0">
                <a:solidFill>
                  <a:srgbClr val="123C3E"/>
                </a:solidFill>
                <a:latin typeface="Cambria" panose="02040503050406030204" pitchFamily="18" charset="0"/>
                <a:ea typeface="Cambria" panose="02040503050406030204" pitchFamily="18" charset="0"/>
              </a:rPr>
              <a:t>Patient Care Solutions</a:t>
            </a:r>
          </a:p>
        </p:txBody>
      </p:sp>
      <p:sp>
        <p:nvSpPr>
          <p:cNvPr id="27" name="TextBox 26"/>
          <p:cNvSpPr txBox="1"/>
          <p:nvPr/>
        </p:nvSpPr>
        <p:spPr>
          <a:xfrm>
            <a:off x="6400800" y="4306824"/>
            <a:ext cx="1371600" cy="353943"/>
          </a:xfrm>
          <a:prstGeom prst="rect">
            <a:avLst/>
          </a:prstGeom>
          <a:noFill/>
        </p:spPr>
        <p:txBody>
          <a:bodyPr wrap="square" lIns="0" tIns="0" rIns="0" bIns="0" anchor="t">
            <a:spAutoFit/>
          </a:bodyPr>
          <a:lstStyle/>
          <a:p>
            <a:pPr algn="r"/>
            <a:r>
              <a:rPr lang="en-GB" sz="1400" b="1">
                <a:solidFill>
                  <a:srgbClr val="1A2A2C"/>
                </a:solidFill>
                <a:latin typeface="Cambria" panose="02040503050406030204" pitchFamily="18" charset="0"/>
                <a:ea typeface="Cambria" panose="02040503050406030204" pitchFamily="18" charset="0"/>
              </a:rPr>
              <a:t>$3.1bn</a:t>
            </a:r>
          </a:p>
          <a:p>
            <a:pPr algn="r"/>
            <a:r>
              <a:rPr lang="en-GB" sz="900" b="1">
                <a:solidFill>
                  <a:srgbClr val="C0392B"/>
                </a:solidFill>
                <a:latin typeface="Cambria" panose="02040503050406030204" pitchFamily="18" charset="0"/>
                <a:ea typeface="Cambria" panose="02040503050406030204" pitchFamily="18" charset="0"/>
              </a:rPr>
              <a:t>−1.5% organic</a:t>
            </a:r>
          </a:p>
        </p:txBody>
      </p:sp>
      <p:sp>
        <p:nvSpPr>
          <p:cNvPr id="28" name="TextBox 27"/>
          <p:cNvSpPr txBox="1"/>
          <p:nvPr/>
        </p:nvSpPr>
        <p:spPr>
          <a:xfrm>
            <a:off x="4219458" y="4766503"/>
            <a:ext cx="3547872"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Monitors, ventilators, anesthesia, ECG — bedside devices plus 1,100 consumable SKUs. FY25 declined as hospitals paused post-COVID monitor replacements; recovery expected as hospital capex </a:t>
            </a:r>
            <a:r>
              <a:rPr lang="en-GB" sz="1000" b="0" i="0" err="1">
                <a:solidFill>
                  <a:srgbClr val="1A2A2C"/>
                </a:solidFill>
                <a:latin typeface="Cambria" panose="02040503050406030204" pitchFamily="18" charset="0"/>
                <a:ea typeface="Cambria" panose="02040503050406030204" pitchFamily="18" charset="0"/>
              </a:rPr>
              <a:t>normalises</a:t>
            </a:r>
            <a:r>
              <a:rPr lang="en-GB" sz="1000" b="0" i="0">
                <a:solidFill>
                  <a:srgbClr val="1A2A2C"/>
                </a:solidFill>
                <a:latin typeface="Cambria" panose="02040503050406030204" pitchFamily="18" charset="0"/>
                <a:ea typeface="Cambria" panose="02040503050406030204" pitchFamily="18" charset="0"/>
              </a:rPr>
              <a:t>.</a:t>
            </a:r>
          </a:p>
        </p:txBody>
      </p:sp>
      <p:sp>
        <p:nvSpPr>
          <p:cNvPr id="29" name="TextBox 28"/>
          <p:cNvSpPr txBox="1"/>
          <p:nvPr/>
        </p:nvSpPr>
        <p:spPr>
          <a:xfrm>
            <a:off x="4211320" y="6292673"/>
            <a:ext cx="3547872" cy="138499"/>
          </a:xfrm>
          <a:prstGeom prst="rect">
            <a:avLst/>
          </a:prstGeom>
          <a:noFill/>
        </p:spPr>
        <p:txBody>
          <a:bodyPr wrap="square" lIns="0" tIns="0" rIns="0" bIns="0" anchor="t">
            <a:spAutoFit/>
          </a:bodyPr>
          <a:lstStyle/>
          <a:p>
            <a:pPr algn="l"/>
            <a:r>
              <a:rPr lang="en-GB" sz="900" b="1" i="1">
                <a:solidFill>
                  <a:srgbClr val="6B7B7D"/>
                </a:solidFill>
                <a:latin typeface="Cambria" panose="02040503050406030204" pitchFamily="18" charset="0"/>
                <a:ea typeface="Cambria" panose="02040503050406030204" pitchFamily="18" charset="0"/>
              </a:rPr>
              <a:t>Cyclical pause, not structural</a:t>
            </a:r>
          </a:p>
        </p:txBody>
      </p:sp>
      <p:sp>
        <p:nvSpPr>
          <p:cNvPr id="30" name="Rounded Rectangle 29"/>
          <p:cNvSpPr/>
          <p:nvPr/>
        </p:nvSpPr>
        <p:spPr>
          <a:xfrm>
            <a:off x="8138160" y="4142232"/>
            <a:ext cx="3950208" cy="2377440"/>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31" name="Rectangle 30"/>
          <p:cNvSpPr/>
          <p:nvPr/>
        </p:nvSpPr>
        <p:spPr>
          <a:xfrm>
            <a:off x="8138160" y="4142232"/>
            <a:ext cx="73152" cy="2377440"/>
          </a:xfrm>
          <a:prstGeom prst="rect">
            <a:avLst/>
          </a:prstGeom>
          <a:solidFill>
            <a:srgbClr val="D89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32" name="TextBox 31"/>
          <p:cNvSpPr txBox="1"/>
          <p:nvPr/>
        </p:nvSpPr>
        <p:spPr>
          <a:xfrm>
            <a:off x="8339327" y="4306824"/>
            <a:ext cx="2566797" cy="492443"/>
          </a:xfrm>
          <a:prstGeom prst="rect">
            <a:avLst/>
          </a:prstGeom>
          <a:noFill/>
        </p:spPr>
        <p:txBody>
          <a:bodyPr wrap="square" lIns="0" tIns="0" rIns="0" bIns="0" anchor="t">
            <a:spAutoFit/>
          </a:bodyPr>
          <a:lstStyle/>
          <a:p>
            <a:pPr algn="l"/>
            <a:r>
              <a:rPr lang="en-GB" sz="1600" b="1" i="0">
                <a:solidFill>
                  <a:srgbClr val="123C3E"/>
                </a:solidFill>
                <a:latin typeface="Cambria" panose="02040503050406030204" pitchFamily="18" charset="0"/>
                <a:ea typeface="Cambria" panose="02040503050406030204" pitchFamily="18" charset="0"/>
              </a:rPr>
              <a:t>Pharmaceutical Diagnostics</a:t>
            </a:r>
          </a:p>
        </p:txBody>
      </p:sp>
      <p:sp>
        <p:nvSpPr>
          <p:cNvPr id="33" name="TextBox 32"/>
          <p:cNvSpPr txBox="1"/>
          <p:nvPr/>
        </p:nvSpPr>
        <p:spPr>
          <a:xfrm>
            <a:off x="10515600" y="4306824"/>
            <a:ext cx="1371600" cy="353943"/>
          </a:xfrm>
          <a:prstGeom prst="rect">
            <a:avLst/>
          </a:prstGeom>
          <a:noFill/>
        </p:spPr>
        <p:txBody>
          <a:bodyPr wrap="square" lIns="0" tIns="0" rIns="0" bIns="0" anchor="t">
            <a:spAutoFit/>
          </a:bodyPr>
          <a:lstStyle/>
          <a:p>
            <a:pPr algn="r"/>
            <a:r>
              <a:rPr lang="en-GB" sz="1400" b="1">
                <a:solidFill>
                  <a:srgbClr val="1A2A2C"/>
                </a:solidFill>
                <a:latin typeface="Cambria" panose="02040503050406030204" pitchFamily="18" charset="0"/>
                <a:ea typeface="Cambria" panose="02040503050406030204" pitchFamily="18" charset="0"/>
              </a:rPr>
              <a:t>$2.9bn</a:t>
            </a:r>
          </a:p>
          <a:p>
            <a:pPr algn="r"/>
            <a:r>
              <a:rPr lang="en-GB" sz="900" b="1">
                <a:solidFill>
                  <a:srgbClr val="1A6B45"/>
                </a:solidFill>
                <a:latin typeface="Cambria" panose="02040503050406030204" pitchFamily="18" charset="0"/>
                <a:ea typeface="Cambria" panose="02040503050406030204" pitchFamily="18" charset="0"/>
              </a:rPr>
              <a:t>+8.8% organic</a:t>
            </a:r>
          </a:p>
        </p:txBody>
      </p:sp>
      <p:sp>
        <p:nvSpPr>
          <p:cNvPr id="34" name="TextBox 33"/>
          <p:cNvSpPr txBox="1"/>
          <p:nvPr/>
        </p:nvSpPr>
        <p:spPr>
          <a:xfrm>
            <a:off x="8339326" y="4766503"/>
            <a:ext cx="3740911"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Contrast agents and PET tracers injected before a scan — pure consumable revenue tied to the imaging installed base. Highest-margin segment (~30% EBIT). </a:t>
            </a:r>
            <a:r>
              <a:rPr lang="en-GB" sz="1000" b="0" i="0" err="1">
                <a:solidFill>
                  <a:srgbClr val="1A2A2C"/>
                </a:solidFill>
                <a:latin typeface="Cambria" panose="02040503050406030204" pitchFamily="18" charset="0"/>
                <a:ea typeface="Cambria" panose="02040503050406030204" pitchFamily="18" charset="0"/>
              </a:rPr>
              <a:t>Flyrcado</a:t>
            </a:r>
            <a:r>
              <a:rPr lang="en-GB" sz="1000" b="0" i="0">
                <a:solidFill>
                  <a:srgbClr val="1A2A2C"/>
                </a:solidFill>
                <a:latin typeface="Cambria" panose="02040503050406030204" pitchFamily="18" charset="0"/>
                <a:ea typeface="Cambria" panose="02040503050406030204" pitchFamily="18" charset="0"/>
              </a:rPr>
              <a:t> in commercial rollout; Nihon Medi-Physics scales </a:t>
            </a:r>
            <a:r>
              <a:rPr lang="en-GB" sz="1000" b="0" i="0" err="1">
                <a:solidFill>
                  <a:srgbClr val="1A2A2C"/>
                </a:solidFill>
                <a:latin typeface="Cambria" panose="02040503050406030204" pitchFamily="18" charset="0"/>
                <a:ea typeface="Cambria" panose="02040503050406030204" pitchFamily="18" charset="0"/>
              </a:rPr>
              <a:t>PDx</a:t>
            </a:r>
            <a:r>
              <a:rPr lang="en-GB" sz="1000" b="0" i="0">
                <a:solidFill>
                  <a:srgbClr val="1A2A2C"/>
                </a:solidFill>
                <a:latin typeface="Cambria" panose="02040503050406030204" pitchFamily="18" charset="0"/>
                <a:ea typeface="Cambria" panose="02040503050406030204" pitchFamily="18" charset="0"/>
              </a:rPr>
              <a:t> in Asia.</a:t>
            </a:r>
          </a:p>
        </p:txBody>
      </p:sp>
      <p:sp>
        <p:nvSpPr>
          <p:cNvPr id="35" name="TextBox 34"/>
          <p:cNvSpPr txBox="1"/>
          <p:nvPr/>
        </p:nvSpPr>
        <p:spPr>
          <a:xfrm>
            <a:off x="8347456" y="6291072"/>
            <a:ext cx="3547872" cy="138499"/>
          </a:xfrm>
          <a:prstGeom prst="rect">
            <a:avLst/>
          </a:prstGeom>
          <a:noFill/>
        </p:spPr>
        <p:txBody>
          <a:bodyPr wrap="square" lIns="0" tIns="0" rIns="0" bIns="0" anchor="t">
            <a:spAutoFit/>
          </a:bodyPr>
          <a:lstStyle/>
          <a:p>
            <a:r>
              <a:rPr lang="en-GB" sz="900" b="1" i="1">
                <a:solidFill>
                  <a:srgbClr val="D8975E"/>
                </a:solidFill>
                <a:latin typeface="Cambria" panose="02040503050406030204" pitchFamily="18" charset="0"/>
                <a:ea typeface="Cambria" panose="02040503050406030204" pitchFamily="18" charset="0"/>
              </a:rPr>
              <a:t>Fastest-growing, highest-margin 7-10 years</a:t>
            </a:r>
          </a:p>
        </p:txBody>
      </p:sp>
      <p:sp>
        <p:nvSpPr>
          <p:cNvPr id="36" name="TextBox 35"/>
          <p:cNvSpPr txBox="1"/>
          <p:nvPr/>
        </p:nvSpPr>
        <p:spPr>
          <a:xfrm>
            <a:off x="457200" y="6565393"/>
            <a:ext cx="3634244" cy="246221"/>
          </a:xfrm>
          <a:prstGeom prst="rect">
            <a:avLst/>
          </a:prstGeom>
          <a:noFill/>
        </p:spPr>
        <p:txBody>
          <a:bodyPr wrap="square" lIns="0" tIns="0" rIns="0" bIns="0" anchor="t">
            <a:spAutoFit/>
          </a:bodyPr>
          <a:lstStyle/>
          <a:p>
            <a:pPr algn="l"/>
            <a:r>
              <a:rPr lang="en-GB" sz="800" b="0" i="1">
                <a:solidFill>
                  <a:srgbClr val="6B7B7D"/>
                </a:solidFill>
                <a:latin typeface="Cambria" panose="02040503050406030204" pitchFamily="18" charset="0"/>
                <a:ea typeface="Cambria" panose="02040503050406030204" pitchFamily="18" charset="0"/>
              </a:rPr>
              <a:t>Source: GEHC FY25 10-K; Q4 2025 earnings release; Bloomberg Terminal (FA Segments)</a:t>
            </a:r>
          </a:p>
        </p:txBody>
      </p:sp>
      <p:sp>
        <p:nvSpPr>
          <p:cNvPr id="43" name="TextBox 42">
            <a:extLst>
              <a:ext uri="{FF2B5EF4-FFF2-40B4-BE49-F238E27FC236}">
                <a16:creationId xmlns:a16="http://schemas.microsoft.com/office/drawing/2014/main" id="{BDD66096-AAF9-0D09-D974-1A0913D67E1C}"/>
              </a:ext>
            </a:extLst>
          </p:cNvPr>
          <p:cNvSpPr txBox="1"/>
          <p:nvPr/>
        </p:nvSpPr>
        <p:spPr>
          <a:xfrm>
            <a:off x="4211320" y="3198536"/>
            <a:ext cx="3717544"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Hospitals sign multi-year service contracts upon scanner installation. AI software (AIR Recon DL) attach rate at 45% — already ahead of the 30% management target — at 85% gross margin.</a:t>
            </a:r>
          </a:p>
        </p:txBody>
      </p:sp>
      <p:sp>
        <p:nvSpPr>
          <p:cNvPr id="44" name="TextBox 43">
            <a:extLst>
              <a:ext uri="{FF2B5EF4-FFF2-40B4-BE49-F238E27FC236}">
                <a16:creationId xmlns:a16="http://schemas.microsoft.com/office/drawing/2014/main" id="{FBDA4267-F637-A560-3559-026EDEA49F4E}"/>
              </a:ext>
            </a:extLst>
          </p:cNvPr>
          <p:cNvSpPr txBox="1"/>
          <p:nvPr/>
        </p:nvSpPr>
        <p:spPr>
          <a:xfrm>
            <a:off x="4226429" y="2942055"/>
            <a:ext cx="2176272" cy="184666"/>
          </a:xfrm>
          <a:prstGeom prst="rect">
            <a:avLst/>
          </a:prstGeom>
          <a:noFill/>
        </p:spPr>
        <p:txBody>
          <a:bodyPr wrap="square" lIns="0" tIns="0" rIns="0" bIns="0" anchor="t">
            <a:spAutoFit/>
          </a:bodyPr>
          <a:lstStyle/>
          <a:p>
            <a:pPr algn="l"/>
            <a:r>
              <a:rPr lang="en-US" sz="1200" b="1">
                <a:solidFill>
                  <a:srgbClr val="123C3E"/>
                </a:solidFill>
                <a:latin typeface="Cambria" panose="02040503050406030204" pitchFamily="18" charset="0"/>
                <a:ea typeface="Cambria" panose="02040503050406030204" pitchFamily="18" charset="0"/>
                <a:cs typeface="Calibri"/>
              </a:rPr>
              <a:t>Moat</a:t>
            </a:r>
            <a:endParaRPr lang="en-US" sz="1200" b="1" i="0">
              <a:solidFill>
                <a:srgbClr val="123C3E"/>
              </a:solidFill>
              <a:latin typeface="Cambria" panose="02040503050406030204" pitchFamily="18" charset="0"/>
              <a:ea typeface="Cambria" panose="02040503050406030204" pitchFamily="18" charset="0"/>
              <a:cs typeface="Calibri"/>
            </a:endParaRPr>
          </a:p>
        </p:txBody>
      </p:sp>
      <p:sp>
        <p:nvSpPr>
          <p:cNvPr id="45" name="TextBox 44">
            <a:extLst>
              <a:ext uri="{FF2B5EF4-FFF2-40B4-BE49-F238E27FC236}">
                <a16:creationId xmlns:a16="http://schemas.microsoft.com/office/drawing/2014/main" id="{F5A78B4F-EF8C-08E8-D0A2-4543D3B3AC46}"/>
              </a:ext>
            </a:extLst>
          </p:cNvPr>
          <p:cNvSpPr txBox="1"/>
          <p:nvPr/>
        </p:nvSpPr>
        <p:spPr>
          <a:xfrm>
            <a:off x="8239760" y="3046315"/>
            <a:ext cx="38486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0" i="0" u="none" strike="noStrike" baseline="0">
                <a:solidFill>
                  <a:srgbClr val="1A2A2C"/>
                </a:solidFill>
                <a:latin typeface="Cambria" panose="02040503050406030204" pitchFamily="18" charset="0"/>
                <a:ea typeface="Cambria" panose="02040503050406030204" pitchFamily="18" charset="0"/>
                <a:cs typeface="Segoe UI"/>
              </a:rPr>
              <a:t>Long-term service contracts plus </a:t>
            </a:r>
            <a:r>
              <a:rPr lang="en-US" sz="1000">
                <a:solidFill>
                  <a:srgbClr val="1A2A2C"/>
                </a:solidFill>
                <a:latin typeface="Cambria" panose="02040503050406030204" pitchFamily="18" charset="0"/>
                <a:ea typeface="Cambria" panose="02040503050406030204" pitchFamily="18" charset="0"/>
                <a:cs typeface="Segoe UI"/>
              </a:rPr>
              <a:t>deep integration</a:t>
            </a:r>
            <a:r>
              <a:rPr lang="en-US" sz="1000" b="0" i="0" u="none" strike="noStrike" baseline="0">
                <a:solidFill>
                  <a:srgbClr val="1A2A2C"/>
                </a:solidFill>
                <a:latin typeface="Cambria" panose="02040503050406030204" pitchFamily="18" charset="0"/>
                <a:ea typeface="Cambria" panose="02040503050406030204" pitchFamily="18" charset="0"/>
                <a:cs typeface="Segoe UI"/>
              </a:rPr>
              <a:t> into hospital IT. </a:t>
            </a:r>
            <a:r>
              <a:rPr lang="en-US" sz="1000">
                <a:solidFill>
                  <a:srgbClr val="1A2A2C"/>
                </a:solidFill>
                <a:latin typeface="Cambria" panose="02040503050406030204" pitchFamily="18" charset="0"/>
                <a:ea typeface="Cambria" panose="02040503050406030204" pitchFamily="18" charset="0"/>
                <a:cs typeface="Segoe UI"/>
              </a:rPr>
              <a:t>Ultrasound systems</a:t>
            </a:r>
            <a:r>
              <a:rPr lang="en-US" sz="1000" b="0" i="0" u="none" strike="noStrike" baseline="0">
                <a:solidFill>
                  <a:srgbClr val="1A2A2C"/>
                </a:solidFill>
                <a:latin typeface="Cambria" panose="02040503050406030204" pitchFamily="18" charset="0"/>
                <a:ea typeface="Cambria" panose="02040503050406030204" pitchFamily="18" charset="0"/>
                <a:cs typeface="Segoe UI"/>
              </a:rPr>
              <a:t> plug into picture archive systems(PACS) and clinical networks</a:t>
            </a:r>
            <a:r>
              <a:rPr lang="en-US" sz="1000">
                <a:solidFill>
                  <a:srgbClr val="1A2A2C"/>
                </a:solidFill>
                <a:latin typeface="Cambria" panose="02040503050406030204" pitchFamily="18" charset="0"/>
                <a:ea typeface="Cambria" panose="02040503050406030204" pitchFamily="18" charset="0"/>
                <a:cs typeface="Segoe UI"/>
              </a:rPr>
              <a:t>,</a:t>
            </a:r>
            <a:r>
              <a:rPr lang="en-US" sz="1000" b="0" i="0" u="none" strike="noStrike" baseline="0">
                <a:solidFill>
                  <a:srgbClr val="1A2A2C"/>
                </a:solidFill>
                <a:latin typeface="Cambria" panose="02040503050406030204" pitchFamily="18" charset="0"/>
                <a:ea typeface="Cambria" panose="02040503050406030204" pitchFamily="18" charset="0"/>
                <a:cs typeface="Segoe UI"/>
              </a:rPr>
              <a:t> replacing </a:t>
            </a:r>
            <a:r>
              <a:rPr lang="en-US" sz="1000">
                <a:solidFill>
                  <a:srgbClr val="1A2A2C"/>
                </a:solidFill>
                <a:latin typeface="Cambria" panose="02040503050406030204" pitchFamily="18" charset="0"/>
                <a:ea typeface="Cambria" panose="02040503050406030204" pitchFamily="18" charset="0"/>
                <a:cs typeface="Segoe UI"/>
              </a:rPr>
              <a:t>a vendor</a:t>
            </a:r>
            <a:r>
              <a:rPr lang="en-US" sz="1000" b="0" i="0" u="none" strike="noStrike" baseline="0">
                <a:solidFill>
                  <a:srgbClr val="1A2A2C"/>
                </a:solidFill>
                <a:latin typeface="Cambria" panose="02040503050406030204" pitchFamily="18" charset="0"/>
                <a:ea typeface="Cambria" panose="02040503050406030204" pitchFamily="18" charset="0"/>
                <a:cs typeface="Segoe UI"/>
              </a:rPr>
              <a:t> means replacing the entire </a:t>
            </a:r>
            <a:r>
              <a:rPr lang="en-US" sz="1000">
                <a:solidFill>
                  <a:srgbClr val="1A2A2C"/>
                </a:solidFill>
                <a:latin typeface="Cambria" panose="02040503050406030204" pitchFamily="18" charset="0"/>
                <a:ea typeface="Cambria" panose="02040503050406030204" pitchFamily="18" charset="0"/>
                <a:cs typeface="Segoe UI"/>
              </a:rPr>
              <a:t>data pipeline</a:t>
            </a:r>
            <a:r>
              <a:rPr lang="en-US" sz="1000" b="0" i="0" u="none" strike="noStrike" baseline="0">
                <a:solidFill>
                  <a:srgbClr val="1A2A2C"/>
                </a:solidFill>
                <a:latin typeface="Cambria" panose="02040503050406030204" pitchFamily="18" charset="0"/>
                <a:ea typeface="Cambria" panose="02040503050406030204" pitchFamily="18" charset="0"/>
                <a:cs typeface="Segoe UI"/>
              </a:rPr>
              <a:t>.</a:t>
            </a:r>
            <a:endParaRPr lang="en-GB">
              <a:latin typeface="Cambria" panose="02040503050406030204" pitchFamily="18" charset="0"/>
              <a:ea typeface="Cambria" panose="02040503050406030204" pitchFamily="18" charset="0"/>
            </a:endParaRPr>
          </a:p>
        </p:txBody>
      </p:sp>
      <p:sp>
        <p:nvSpPr>
          <p:cNvPr id="46" name="TextBox 45">
            <a:extLst>
              <a:ext uri="{FF2B5EF4-FFF2-40B4-BE49-F238E27FC236}">
                <a16:creationId xmlns:a16="http://schemas.microsoft.com/office/drawing/2014/main" id="{78E554D2-D495-A8C1-42BF-7712AA5DB45A}"/>
              </a:ext>
            </a:extLst>
          </p:cNvPr>
          <p:cNvSpPr txBox="1"/>
          <p:nvPr/>
        </p:nvSpPr>
        <p:spPr>
          <a:xfrm>
            <a:off x="8339328" y="2920615"/>
            <a:ext cx="2176272" cy="184666"/>
          </a:xfrm>
          <a:prstGeom prst="rect">
            <a:avLst/>
          </a:prstGeom>
          <a:noFill/>
        </p:spPr>
        <p:txBody>
          <a:bodyPr wrap="square" lIns="0" tIns="0" rIns="0" bIns="0" anchor="t">
            <a:spAutoFit/>
          </a:bodyPr>
          <a:lstStyle/>
          <a:p>
            <a:pPr algn="l"/>
            <a:r>
              <a:rPr lang="en-US" sz="1200" b="1">
                <a:solidFill>
                  <a:srgbClr val="123C3E"/>
                </a:solidFill>
                <a:latin typeface="Cambria" panose="02040503050406030204" pitchFamily="18" charset="0"/>
                <a:ea typeface="Cambria" panose="02040503050406030204" pitchFamily="18" charset="0"/>
                <a:cs typeface="Calibri"/>
              </a:rPr>
              <a:t>Moat</a:t>
            </a:r>
            <a:endParaRPr lang="en-US" sz="1200" b="1" i="0">
              <a:solidFill>
                <a:srgbClr val="123C3E"/>
              </a:solidFill>
              <a:latin typeface="Cambria" panose="02040503050406030204" pitchFamily="18" charset="0"/>
              <a:ea typeface="Cambria" panose="02040503050406030204" pitchFamily="18" charset="0"/>
              <a:cs typeface="Calibri"/>
            </a:endParaRPr>
          </a:p>
        </p:txBody>
      </p:sp>
      <p:sp>
        <p:nvSpPr>
          <p:cNvPr id="48" name="TextBox 47">
            <a:extLst>
              <a:ext uri="{FF2B5EF4-FFF2-40B4-BE49-F238E27FC236}">
                <a16:creationId xmlns:a16="http://schemas.microsoft.com/office/drawing/2014/main" id="{E729CCB6-8796-98EC-EBED-7C7E5BE1F944}"/>
              </a:ext>
            </a:extLst>
          </p:cNvPr>
          <p:cNvSpPr txBox="1"/>
          <p:nvPr/>
        </p:nvSpPr>
        <p:spPr>
          <a:xfrm>
            <a:off x="4226429" y="5634977"/>
            <a:ext cx="3829304"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Monitors use proprietary GE sensors, electrodes and cables — non-interchangeable with competitor devices. Once a hospital buys GE hardware they buy GE consumables for 7–10 years — the full equipment lifecycle.</a:t>
            </a:r>
          </a:p>
        </p:txBody>
      </p:sp>
      <p:sp>
        <p:nvSpPr>
          <p:cNvPr id="10" name="TextBox 9">
            <a:extLst>
              <a:ext uri="{FF2B5EF4-FFF2-40B4-BE49-F238E27FC236}">
                <a16:creationId xmlns:a16="http://schemas.microsoft.com/office/drawing/2014/main" id="{3FD77C60-E95C-7B8F-3D19-FCC8F82D9DD3}"/>
              </a:ext>
            </a:extLst>
          </p:cNvPr>
          <p:cNvSpPr txBox="1"/>
          <p:nvPr/>
        </p:nvSpPr>
        <p:spPr>
          <a:xfrm>
            <a:off x="8347456" y="5428630"/>
            <a:ext cx="2176272" cy="184666"/>
          </a:xfrm>
          <a:prstGeom prst="rect">
            <a:avLst/>
          </a:prstGeom>
          <a:noFill/>
        </p:spPr>
        <p:txBody>
          <a:bodyPr wrap="square" lIns="0" tIns="0" rIns="0" bIns="0" anchor="t">
            <a:spAutoFit/>
          </a:bodyPr>
          <a:lstStyle/>
          <a:p>
            <a:pPr algn="l"/>
            <a:r>
              <a:rPr lang="en-US" sz="1200" b="1">
                <a:solidFill>
                  <a:srgbClr val="123C3E"/>
                </a:solidFill>
                <a:latin typeface="Cambria" panose="02040503050406030204" pitchFamily="18" charset="0"/>
                <a:ea typeface="Cambria" panose="02040503050406030204" pitchFamily="18" charset="0"/>
                <a:cs typeface="Calibri"/>
              </a:rPr>
              <a:t>Moat</a:t>
            </a:r>
            <a:endParaRPr lang="en-US" sz="1200" b="1" i="0">
              <a:solidFill>
                <a:srgbClr val="123C3E"/>
              </a:solidFill>
              <a:latin typeface="Cambria" panose="02040503050406030204" pitchFamily="18" charset="0"/>
              <a:ea typeface="Cambria" panose="02040503050406030204" pitchFamily="18" charset="0"/>
              <a:cs typeface="Calibri"/>
            </a:endParaRPr>
          </a:p>
        </p:txBody>
      </p:sp>
      <p:sp>
        <p:nvSpPr>
          <p:cNvPr id="38" name="TextBox 37">
            <a:extLst>
              <a:ext uri="{FF2B5EF4-FFF2-40B4-BE49-F238E27FC236}">
                <a16:creationId xmlns:a16="http://schemas.microsoft.com/office/drawing/2014/main" id="{7B0C814D-98AB-B6A0-E1C4-401D61BD5BA4}"/>
              </a:ext>
            </a:extLst>
          </p:cNvPr>
          <p:cNvSpPr txBox="1"/>
          <p:nvPr/>
        </p:nvSpPr>
        <p:spPr>
          <a:xfrm>
            <a:off x="8339326" y="5629799"/>
            <a:ext cx="3727704" cy="615553"/>
          </a:xfrm>
          <a:prstGeom prst="rect">
            <a:avLst/>
          </a:prstGeom>
          <a:noFill/>
        </p:spPr>
        <p:txBody>
          <a:bodyPr wrap="square" lIns="0" tIns="0" rIns="0" bIns="0" anchor="t">
            <a:spAutoFit/>
          </a:bodyPr>
          <a:lstStyle/>
          <a:p>
            <a:pPr algn="l"/>
            <a:r>
              <a:rPr lang="en-GB" sz="1000" b="0" i="0">
                <a:solidFill>
                  <a:srgbClr val="1A2A2C"/>
                </a:solidFill>
                <a:latin typeface="Cambria" panose="02040503050406030204" pitchFamily="18" charset="0"/>
                <a:ea typeface="Cambria" panose="02040503050406030204" pitchFamily="18" charset="0"/>
              </a:rPr>
              <a:t>Every contrast agent and PET tracer carries product-specific FDA / EMA clearance tied to a defined clinical pathway. Switching requires re-approving the entire workflow — a multi-year, multi-million-dollar barrier.</a:t>
            </a:r>
          </a:p>
        </p:txBody>
      </p:sp>
      <p:sp>
        <p:nvSpPr>
          <p:cNvPr id="40" name="TextBox 39">
            <a:extLst>
              <a:ext uri="{FF2B5EF4-FFF2-40B4-BE49-F238E27FC236}">
                <a16:creationId xmlns:a16="http://schemas.microsoft.com/office/drawing/2014/main" id="{C4EDD0D3-6634-D041-1AAB-E2BB6F29F05F}"/>
              </a:ext>
            </a:extLst>
          </p:cNvPr>
          <p:cNvSpPr txBox="1"/>
          <p:nvPr/>
        </p:nvSpPr>
        <p:spPr>
          <a:xfrm>
            <a:off x="4224528" y="5438775"/>
            <a:ext cx="2176272" cy="184666"/>
          </a:xfrm>
          <a:prstGeom prst="rect">
            <a:avLst/>
          </a:prstGeom>
          <a:noFill/>
        </p:spPr>
        <p:txBody>
          <a:bodyPr wrap="square" lIns="0" tIns="0" rIns="0" bIns="0" anchor="t">
            <a:spAutoFit/>
          </a:bodyPr>
          <a:lstStyle/>
          <a:p>
            <a:pPr algn="l"/>
            <a:r>
              <a:rPr lang="en-US" sz="1200" b="1">
                <a:solidFill>
                  <a:srgbClr val="123C3E"/>
                </a:solidFill>
                <a:latin typeface="Cambria" panose="02040503050406030204" pitchFamily="18" charset="0"/>
                <a:ea typeface="Cambria" panose="02040503050406030204" pitchFamily="18" charset="0"/>
                <a:cs typeface="Calibri"/>
              </a:rPr>
              <a:t>Moat</a:t>
            </a:r>
            <a:endParaRPr lang="en-US" sz="1200" b="1" i="0">
              <a:solidFill>
                <a:srgbClr val="123C3E"/>
              </a:solidFill>
              <a:latin typeface="Cambria" panose="02040503050406030204" pitchFamily="18" charset="0"/>
              <a:ea typeface="Cambria" panose="02040503050406030204" pitchFamily="18" charset="0"/>
              <a:cs typeface="Calibri"/>
            </a:endParaRPr>
          </a:p>
        </p:txBody>
      </p:sp>
      <p:graphicFrame>
        <p:nvGraphicFramePr>
          <p:cNvPr id="11" name="Chart 10">
            <a:extLst>
              <a:ext uri="{FF2B5EF4-FFF2-40B4-BE49-F238E27FC236}">
                <a16:creationId xmlns:a16="http://schemas.microsoft.com/office/drawing/2014/main" id="{48EA50ED-18E7-2BE2-D596-097A3B79A6A0}"/>
              </a:ext>
            </a:extLst>
          </p:cNvPr>
          <p:cNvGraphicFramePr>
            <a:graphicFrameLocks noGrp="1"/>
          </p:cNvGraphicFramePr>
          <p:nvPr>
            <p:extLst>
              <p:ext uri="{D42A27DB-BD31-4B8C-83A1-F6EECF244321}">
                <p14:modId xmlns:p14="http://schemas.microsoft.com/office/powerpoint/2010/main" val="2697645342"/>
              </p:ext>
            </p:extLst>
          </p:nvPr>
        </p:nvGraphicFramePr>
        <p:xfrm>
          <a:off x="457200" y="4133089"/>
          <a:ext cx="3228848" cy="238658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11480"/>
            <a:ext cx="64008" cy="868680"/>
          </a:xfrm>
          <a:prstGeom prst="rect">
            <a:avLst/>
          </a:prstGeom>
          <a:solidFill>
            <a:srgbClr val="D89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274320"/>
          </a:xfrm>
          <a:prstGeom prst="rect">
            <a:avLst/>
          </a:prstGeom>
          <a:noFill/>
        </p:spPr>
        <p:txBody>
          <a:bodyPr wrap="square" lIns="0" tIns="0" rIns="0" bIns="0" anchor="t">
            <a:spAutoFit/>
          </a:bodyPr>
          <a:lstStyle/>
          <a:p>
            <a:pPr algn="l"/>
            <a:r>
              <a:rPr sz="1100" b="1" i="0">
                <a:solidFill>
                  <a:srgbClr val="D8975E"/>
                </a:solidFill>
                <a:latin typeface="Calibri"/>
              </a:rPr>
              <a:t>03 / INDUSTRY OVERVIEW</a:t>
            </a:r>
          </a:p>
        </p:txBody>
      </p:sp>
      <p:sp>
        <p:nvSpPr>
          <p:cNvPr id="4" name="TextBox 3"/>
          <p:cNvSpPr txBox="1"/>
          <p:nvPr/>
        </p:nvSpPr>
        <p:spPr>
          <a:xfrm>
            <a:off x="640080" y="713232"/>
            <a:ext cx="10515600" cy="677108"/>
          </a:xfrm>
          <a:prstGeom prst="rect">
            <a:avLst/>
          </a:prstGeom>
          <a:noFill/>
        </p:spPr>
        <p:txBody>
          <a:bodyPr wrap="square" lIns="0" tIns="0" rIns="0" bIns="0" anchor="t">
            <a:spAutoFit/>
          </a:bodyPr>
          <a:lstStyle/>
          <a:p>
            <a:pPr algn="l"/>
            <a:r>
              <a:rPr sz="2200" b="1" i="0">
                <a:solidFill>
                  <a:srgbClr val="123C3E"/>
                </a:solidFill>
                <a:latin typeface="Cambria" panose="02040503050406030204" pitchFamily="18" charset="0"/>
                <a:ea typeface="Cambria" panose="02040503050406030204" pitchFamily="18" charset="0"/>
              </a:rPr>
              <a:t>Structural growth driven by </a:t>
            </a:r>
            <a:r>
              <a:rPr lang="en-GB" sz="2200" b="1" i="0">
                <a:solidFill>
                  <a:srgbClr val="123C3E"/>
                </a:solidFill>
                <a:latin typeface="Cambria" panose="02040503050406030204" pitchFamily="18" charset="0"/>
                <a:ea typeface="Cambria" panose="02040503050406030204" pitchFamily="18" charset="0"/>
              </a:rPr>
              <a:t>ageing</a:t>
            </a:r>
            <a:r>
              <a:rPr sz="2200" b="1" i="0">
                <a:solidFill>
                  <a:srgbClr val="123C3E"/>
                </a:solidFill>
                <a:latin typeface="Cambria" panose="02040503050406030204" pitchFamily="18" charset="0"/>
                <a:ea typeface="Cambria" panose="02040503050406030204" pitchFamily="18" charset="0"/>
              </a:rPr>
              <a:t> populations, AI adoption, and the global shift to value-based care</a:t>
            </a:r>
          </a:p>
        </p:txBody>
      </p:sp>
      <p:sp>
        <p:nvSpPr>
          <p:cNvPr id="5" name="Rectangle 4"/>
          <p:cNvSpPr/>
          <p:nvPr/>
        </p:nvSpPr>
        <p:spPr>
          <a:xfrm>
            <a:off x="457200" y="1417320"/>
            <a:ext cx="11274552" cy="13716"/>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6" name="TextBox 5"/>
          <p:cNvSpPr txBox="1"/>
          <p:nvPr/>
        </p:nvSpPr>
        <p:spPr>
          <a:xfrm>
            <a:off x="457200" y="1554480"/>
            <a:ext cx="11247120" cy="338554"/>
          </a:xfrm>
          <a:prstGeom prst="rect">
            <a:avLst/>
          </a:prstGeom>
          <a:noFill/>
        </p:spPr>
        <p:txBody>
          <a:bodyPr wrap="square" lIns="0" tIns="0" rIns="0" bIns="0" anchor="t">
            <a:spAutoFit/>
          </a:bodyPr>
          <a:lstStyle/>
          <a:p>
            <a:pPr algn="l"/>
            <a:r>
              <a:rPr lang="en-GB" sz="1100" b="0" i="1">
                <a:latin typeface="Cambria" panose="02040503050406030204" pitchFamily="18" charset="0"/>
                <a:ea typeface="Cambria" panose="02040503050406030204" pitchFamily="18" charset="0"/>
              </a:rPr>
              <a:t>Healthcare costs are growing faster than GDP across every major region — payers are forcing a wholesale shift from volume to value, creating a structural tailwind for diagnostic efficiency and AI-enabled imaging</a:t>
            </a:r>
            <a:r>
              <a:rPr lang="en-GB" sz="1100" b="0" i="1">
                <a:solidFill>
                  <a:srgbClr val="6B7B7D"/>
                </a:solidFill>
                <a:latin typeface="Cambria" panose="02040503050406030204" pitchFamily="18" charset="0"/>
                <a:ea typeface="Cambria" panose="02040503050406030204" pitchFamily="18" charset="0"/>
              </a:rPr>
              <a:t>.</a:t>
            </a:r>
          </a:p>
        </p:txBody>
      </p:sp>
      <p:sp>
        <p:nvSpPr>
          <p:cNvPr id="7" name="Rounded Rectangle 6"/>
          <p:cNvSpPr/>
          <p:nvPr/>
        </p:nvSpPr>
        <p:spPr>
          <a:xfrm>
            <a:off x="457200" y="2057400"/>
            <a:ext cx="3611880" cy="2240280"/>
          </a:xfrm>
          <a:prstGeom prst="roundRect">
            <a:avLst>
              <a:gd name="adj" fmla="val 6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8" name="Rectangle 7"/>
          <p:cNvSpPr/>
          <p:nvPr/>
        </p:nvSpPr>
        <p:spPr>
          <a:xfrm>
            <a:off x="457200" y="2057400"/>
            <a:ext cx="3611880" cy="73152"/>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9" name="TextBox 8"/>
          <p:cNvSpPr txBox="1"/>
          <p:nvPr/>
        </p:nvSpPr>
        <p:spPr>
          <a:xfrm>
            <a:off x="658368" y="2258568"/>
            <a:ext cx="3209544" cy="153888"/>
          </a:xfrm>
          <a:prstGeom prst="rect">
            <a:avLst/>
          </a:prstGeom>
          <a:noFill/>
        </p:spPr>
        <p:txBody>
          <a:bodyPr wrap="square" lIns="0" tIns="0" rIns="0" bIns="0" anchor="t">
            <a:spAutoFit/>
          </a:bodyPr>
          <a:lstStyle/>
          <a:p>
            <a:pPr algn="l"/>
            <a:r>
              <a:rPr lang="en-GB" sz="1000" b="1" i="0" dirty="0">
                <a:solidFill>
                  <a:srgbClr val="123C3E"/>
                </a:solidFill>
                <a:latin typeface="Cambria" panose="02040503050406030204" pitchFamily="18" charset="0"/>
                <a:ea typeface="Cambria" panose="02040503050406030204" pitchFamily="18" charset="0"/>
              </a:rPr>
              <a:t>POLICY TAILWINDS</a:t>
            </a:r>
          </a:p>
        </p:txBody>
      </p:sp>
      <p:sp>
        <p:nvSpPr>
          <p:cNvPr id="10" name="TextBox 9"/>
          <p:cNvSpPr txBox="1"/>
          <p:nvPr/>
        </p:nvSpPr>
        <p:spPr>
          <a:xfrm>
            <a:off x="658368" y="2514600"/>
            <a:ext cx="3209544" cy="215444"/>
          </a:xfrm>
          <a:prstGeom prst="rect">
            <a:avLst/>
          </a:prstGeom>
          <a:noFill/>
        </p:spPr>
        <p:txBody>
          <a:bodyPr wrap="square" lIns="0" tIns="0" rIns="0" bIns="0" anchor="t">
            <a:spAutoFit/>
          </a:bodyPr>
          <a:lstStyle/>
          <a:p>
            <a:pPr algn="l"/>
            <a:r>
              <a:rPr lang="en-GB" sz="1400" b="1" i="0">
                <a:solidFill>
                  <a:srgbClr val="1A2A2C"/>
                </a:solidFill>
                <a:latin typeface="Cambria" panose="02040503050406030204" pitchFamily="18" charset="0"/>
                <a:ea typeface="Cambria" panose="02040503050406030204" pitchFamily="18" charset="0"/>
              </a:rPr>
              <a:t>Value-based reimbursement shift</a:t>
            </a:r>
          </a:p>
        </p:txBody>
      </p:sp>
      <p:sp>
        <p:nvSpPr>
          <p:cNvPr id="11" name="TextBox 10"/>
          <p:cNvSpPr txBox="1"/>
          <p:nvPr/>
        </p:nvSpPr>
        <p:spPr>
          <a:xfrm>
            <a:off x="658368" y="2796962"/>
            <a:ext cx="3209544" cy="1437701"/>
          </a:xfrm>
          <a:prstGeom prst="rect">
            <a:avLst/>
          </a:prstGeom>
          <a:noFill/>
        </p:spPr>
        <p:txBody>
          <a:bodyPr wrap="square" lIns="0" tIns="0" rIns="0" bIns="0">
            <a:spAutoFit/>
          </a:bodyPr>
          <a:lstStyle/>
          <a:p>
            <a:pPr>
              <a:lnSpc>
                <a:spcPct val="115000"/>
              </a:lnSpc>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US Medicare/Medicaid: ~$1bn in cost-containment pressure projected over the next decade as fee-for-service is replaced by outcome-based payment</a:t>
            </a:r>
          </a:p>
          <a:p>
            <a:pPr>
              <a:lnSpc>
                <a:spcPct val="115000"/>
              </a:lnSpc>
              <a:spcBef>
                <a:spcPts val="400"/>
              </a:spcBef>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EU European Health Data Space (EHDS) live Sept 2025 — projected ~€11B in savings; 20–30% expansion of digital health spending — direct tailwind for GEHC's interoperable AI</a:t>
            </a:r>
          </a:p>
          <a:p>
            <a:pPr>
              <a:lnSpc>
                <a:spcPct val="115000"/>
              </a:lnSpc>
              <a:spcBef>
                <a:spcPts val="400"/>
              </a:spcBef>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New EU MDR rules raise compliance costs but also raise the entry barrier for smaller competitors</a:t>
            </a:r>
          </a:p>
        </p:txBody>
      </p:sp>
      <p:sp>
        <p:nvSpPr>
          <p:cNvPr id="12" name="Rounded Rectangle 11"/>
          <p:cNvSpPr/>
          <p:nvPr/>
        </p:nvSpPr>
        <p:spPr>
          <a:xfrm>
            <a:off x="4233672" y="2057400"/>
            <a:ext cx="3611880" cy="2240280"/>
          </a:xfrm>
          <a:prstGeom prst="roundRect">
            <a:avLst>
              <a:gd name="adj" fmla="val 6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13" name="Rectangle 12"/>
          <p:cNvSpPr/>
          <p:nvPr/>
        </p:nvSpPr>
        <p:spPr>
          <a:xfrm>
            <a:off x="4233672" y="2057400"/>
            <a:ext cx="3611880" cy="73152"/>
          </a:xfrm>
          <a:prstGeom prst="rect">
            <a:avLst/>
          </a:prstGeom>
          <a:solidFill>
            <a:srgbClr val="4567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14" name="TextBox 13"/>
          <p:cNvSpPr txBox="1"/>
          <p:nvPr/>
        </p:nvSpPr>
        <p:spPr>
          <a:xfrm>
            <a:off x="4434840" y="2258568"/>
            <a:ext cx="3209544" cy="153888"/>
          </a:xfrm>
          <a:prstGeom prst="rect">
            <a:avLst/>
          </a:prstGeom>
          <a:noFill/>
        </p:spPr>
        <p:txBody>
          <a:bodyPr wrap="square" lIns="0" tIns="0" rIns="0" bIns="0" anchor="t">
            <a:spAutoFit/>
          </a:bodyPr>
          <a:lstStyle/>
          <a:p>
            <a:pPr algn="l"/>
            <a:r>
              <a:rPr lang="en-GB" sz="1000" b="1" i="0">
                <a:solidFill>
                  <a:srgbClr val="456794"/>
                </a:solidFill>
                <a:latin typeface="Cambria" panose="02040503050406030204" pitchFamily="18" charset="0"/>
                <a:ea typeface="Cambria" panose="02040503050406030204" pitchFamily="18" charset="0"/>
              </a:rPr>
              <a:t>STRUCTURAL DEMAND</a:t>
            </a:r>
          </a:p>
        </p:txBody>
      </p:sp>
      <p:sp>
        <p:nvSpPr>
          <p:cNvPr id="15" name="TextBox 14"/>
          <p:cNvSpPr txBox="1"/>
          <p:nvPr/>
        </p:nvSpPr>
        <p:spPr>
          <a:xfrm>
            <a:off x="4434840" y="2514600"/>
            <a:ext cx="3209544" cy="430887"/>
          </a:xfrm>
          <a:prstGeom prst="rect">
            <a:avLst/>
          </a:prstGeom>
          <a:noFill/>
        </p:spPr>
        <p:txBody>
          <a:bodyPr wrap="square" lIns="0" tIns="0" rIns="0" bIns="0" anchor="t">
            <a:spAutoFit/>
          </a:bodyPr>
          <a:lstStyle/>
          <a:p>
            <a:pPr algn="l"/>
            <a:r>
              <a:rPr lang="en-GB" sz="1400" b="1" i="0" dirty="0">
                <a:solidFill>
                  <a:srgbClr val="1A2A2C"/>
                </a:solidFill>
                <a:latin typeface="Cambria" panose="02040503050406030204" pitchFamily="18" charset="0"/>
                <a:ea typeface="Cambria" panose="02040503050406030204" pitchFamily="18" charset="0"/>
              </a:rPr>
              <a:t>Ageing populations, chronic disease, AI-driven efficiency</a:t>
            </a:r>
          </a:p>
        </p:txBody>
      </p:sp>
      <p:sp>
        <p:nvSpPr>
          <p:cNvPr id="16" name="TextBox 15"/>
          <p:cNvSpPr txBox="1"/>
          <p:nvPr/>
        </p:nvSpPr>
        <p:spPr>
          <a:xfrm>
            <a:off x="4434840" y="3002868"/>
            <a:ext cx="3209544" cy="1269578"/>
          </a:xfrm>
          <a:prstGeom prst="rect">
            <a:avLst/>
          </a:prstGeom>
          <a:noFill/>
        </p:spPr>
        <p:txBody>
          <a:bodyPr wrap="square" lIns="0" tIns="0" rIns="0" bIns="0">
            <a:spAutoFit/>
          </a:bodyPr>
          <a:lstStyle/>
          <a:p>
            <a:pPr>
              <a:lnSpc>
                <a:spcPct val="115000"/>
              </a:lnSpc>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Global over-65 population to grow &gt;50% by 2050 — directly drives MRI/CT volume per capita</a:t>
            </a:r>
          </a:p>
          <a:p>
            <a:pPr>
              <a:lnSpc>
                <a:spcPct val="115000"/>
              </a:lnSpc>
              <a:spcBef>
                <a:spcPts val="400"/>
              </a:spcBef>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Cancer incidence rising fastest in emerging markets — higher diagnostic intensity per case</a:t>
            </a:r>
          </a:p>
          <a:p>
            <a:pPr>
              <a:lnSpc>
                <a:spcPct val="115000"/>
              </a:lnSpc>
              <a:spcBef>
                <a:spcPts val="400"/>
              </a:spcBef>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Shift to minimally-invasive procedures (image-guided therapy, robotics, AI reconstruction) shortens recovery, reduces cost per episode</a:t>
            </a:r>
          </a:p>
        </p:txBody>
      </p:sp>
      <p:sp>
        <p:nvSpPr>
          <p:cNvPr id="17" name="Rounded Rectangle 16"/>
          <p:cNvSpPr/>
          <p:nvPr/>
        </p:nvSpPr>
        <p:spPr>
          <a:xfrm>
            <a:off x="8010144" y="2057400"/>
            <a:ext cx="3611880" cy="2240280"/>
          </a:xfrm>
          <a:prstGeom prst="roundRect">
            <a:avLst>
              <a:gd name="adj" fmla="val 6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18" name="Rectangle 17"/>
          <p:cNvSpPr/>
          <p:nvPr/>
        </p:nvSpPr>
        <p:spPr>
          <a:xfrm>
            <a:off x="8010144" y="2057400"/>
            <a:ext cx="3611880" cy="73152"/>
          </a:xfrm>
          <a:prstGeom prst="rect">
            <a:avLst/>
          </a:prstGeom>
          <a:solidFill>
            <a:srgbClr val="D89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19" name="TextBox 18"/>
          <p:cNvSpPr txBox="1"/>
          <p:nvPr/>
        </p:nvSpPr>
        <p:spPr>
          <a:xfrm>
            <a:off x="8211312" y="2258568"/>
            <a:ext cx="3209544" cy="153888"/>
          </a:xfrm>
          <a:prstGeom prst="rect">
            <a:avLst/>
          </a:prstGeom>
          <a:noFill/>
        </p:spPr>
        <p:txBody>
          <a:bodyPr wrap="square" lIns="0" tIns="0" rIns="0" bIns="0" anchor="t">
            <a:spAutoFit/>
          </a:bodyPr>
          <a:lstStyle/>
          <a:p>
            <a:pPr algn="l"/>
            <a:r>
              <a:rPr lang="en-GB" sz="1000" b="1" i="0">
                <a:solidFill>
                  <a:srgbClr val="D8975E"/>
                </a:solidFill>
                <a:latin typeface="Cambria" panose="02040503050406030204" pitchFamily="18" charset="0"/>
                <a:ea typeface="Cambria" panose="02040503050406030204" pitchFamily="18" charset="0"/>
              </a:rPr>
              <a:t>REGIONAL DYNAMICS</a:t>
            </a:r>
          </a:p>
        </p:txBody>
      </p:sp>
      <p:sp>
        <p:nvSpPr>
          <p:cNvPr id="20" name="TextBox 19"/>
          <p:cNvSpPr txBox="1"/>
          <p:nvPr/>
        </p:nvSpPr>
        <p:spPr>
          <a:xfrm>
            <a:off x="8211312" y="2514600"/>
            <a:ext cx="3209544" cy="215444"/>
          </a:xfrm>
          <a:prstGeom prst="rect">
            <a:avLst/>
          </a:prstGeom>
          <a:noFill/>
        </p:spPr>
        <p:txBody>
          <a:bodyPr wrap="square" lIns="0" tIns="0" rIns="0" bIns="0" anchor="t">
            <a:spAutoFit/>
          </a:bodyPr>
          <a:lstStyle/>
          <a:p>
            <a:pPr algn="l"/>
            <a:r>
              <a:rPr lang="en-GB" sz="1400" b="1" i="0" dirty="0">
                <a:solidFill>
                  <a:srgbClr val="1A2A2C"/>
                </a:solidFill>
                <a:latin typeface="Cambria" panose="02040503050406030204" pitchFamily="18" charset="0"/>
                <a:ea typeface="Cambria" panose="02040503050406030204" pitchFamily="18" charset="0"/>
              </a:rPr>
              <a:t>China pause is cyclical, not structural</a:t>
            </a:r>
          </a:p>
        </p:txBody>
      </p:sp>
      <p:sp>
        <p:nvSpPr>
          <p:cNvPr id="21" name="TextBox 20"/>
          <p:cNvSpPr txBox="1"/>
          <p:nvPr/>
        </p:nvSpPr>
        <p:spPr>
          <a:xfrm>
            <a:off x="8211312" y="2839047"/>
            <a:ext cx="3209544" cy="1218282"/>
          </a:xfrm>
          <a:prstGeom prst="rect">
            <a:avLst/>
          </a:prstGeom>
          <a:noFill/>
        </p:spPr>
        <p:txBody>
          <a:bodyPr wrap="square" lIns="0" tIns="0" rIns="0" bIns="0">
            <a:spAutoFit/>
          </a:bodyPr>
          <a:lstStyle/>
          <a:p>
            <a:pPr>
              <a:lnSpc>
                <a:spcPct val="115000"/>
              </a:lnSpc>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China’s large equipment renewal programme was halted because of the anti-corruption campaign (2023 – on-going)</a:t>
            </a:r>
          </a:p>
          <a:p>
            <a:pPr>
              <a:lnSpc>
                <a:spcPct val="115000"/>
              </a:lnSpc>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China shift to local sourcing for gov't tenders favours domestic players short-term, but premium imaging segments remain import-dependent</a:t>
            </a:r>
          </a:p>
          <a:p>
            <a:pPr>
              <a:lnSpc>
                <a:spcPct val="115000"/>
              </a:lnSpc>
              <a:spcBef>
                <a:spcPts val="400"/>
              </a:spcBef>
            </a:pPr>
            <a:r>
              <a:rPr lang="en-GB" sz="950" b="1">
                <a:solidFill>
                  <a:srgbClr val="D8975E"/>
                </a:solidFill>
                <a:latin typeface="Cambria" panose="02040503050406030204" pitchFamily="18" charset="0"/>
                <a:ea typeface="Cambria" panose="02040503050406030204" pitchFamily="18" charset="0"/>
              </a:rPr>
              <a:t>• </a:t>
            </a:r>
            <a:r>
              <a:rPr lang="en-GB" sz="950">
                <a:solidFill>
                  <a:srgbClr val="1A2A2C"/>
                </a:solidFill>
                <a:latin typeface="Cambria" panose="02040503050406030204" pitchFamily="18" charset="0"/>
                <a:ea typeface="Cambria" panose="02040503050406030204" pitchFamily="18" charset="0"/>
              </a:rPr>
              <a:t>EU &amp; ROW growing 14% on average FY22–25, more than offsetting China softness in GEHC's mix</a:t>
            </a:r>
          </a:p>
        </p:txBody>
      </p:sp>
      <p:sp>
        <p:nvSpPr>
          <p:cNvPr id="22" name="TextBox 21"/>
          <p:cNvSpPr txBox="1"/>
          <p:nvPr/>
        </p:nvSpPr>
        <p:spPr>
          <a:xfrm>
            <a:off x="457200" y="4480560"/>
            <a:ext cx="7315200" cy="169277"/>
          </a:xfrm>
          <a:prstGeom prst="rect">
            <a:avLst/>
          </a:prstGeom>
          <a:noFill/>
        </p:spPr>
        <p:txBody>
          <a:bodyPr wrap="square" lIns="0" tIns="0" rIns="0" bIns="0" anchor="t">
            <a:spAutoFit/>
          </a:bodyPr>
          <a:lstStyle/>
          <a:p>
            <a:pPr algn="l"/>
            <a:r>
              <a:rPr lang="en-GB" sz="1100" b="1" i="0">
                <a:solidFill>
                  <a:srgbClr val="123C3E"/>
                </a:solidFill>
                <a:latin typeface="Cambria" panose="02040503050406030204" pitchFamily="18" charset="0"/>
                <a:ea typeface="Cambria" panose="02040503050406030204" pitchFamily="18" charset="0"/>
              </a:rPr>
              <a:t>Global Medical Imaging Market Size — $ billions, 2024–2030E</a:t>
            </a:r>
          </a:p>
        </p:txBody>
      </p:sp>
      <p:graphicFrame>
        <p:nvGraphicFramePr>
          <p:cNvPr id="23" name="Chart 22"/>
          <p:cNvGraphicFramePr>
            <a:graphicFrameLocks noGrp="1"/>
          </p:cNvGraphicFramePr>
          <p:nvPr>
            <p:extLst>
              <p:ext uri="{D42A27DB-BD31-4B8C-83A1-F6EECF244321}">
                <p14:modId xmlns:p14="http://schemas.microsoft.com/office/powerpoint/2010/main" val="1104577925"/>
              </p:ext>
            </p:extLst>
          </p:nvPr>
        </p:nvGraphicFramePr>
        <p:xfrm>
          <a:off x="457200" y="4754880"/>
          <a:ext cx="7315200" cy="1645919"/>
        </p:xfrm>
        <a:graphic>
          <a:graphicData uri="http://schemas.openxmlformats.org/drawingml/2006/chart">
            <c:chart xmlns:c="http://schemas.openxmlformats.org/drawingml/2006/chart" xmlns:r="http://schemas.openxmlformats.org/officeDocument/2006/relationships" r:id="rId2"/>
          </a:graphicData>
        </a:graphic>
      </p:graphicFrame>
      <p:sp>
        <p:nvSpPr>
          <p:cNvPr id="24" name="Rounded Rectangle 23"/>
          <p:cNvSpPr/>
          <p:nvPr/>
        </p:nvSpPr>
        <p:spPr>
          <a:xfrm>
            <a:off x="7955279" y="4754880"/>
            <a:ext cx="3776472" cy="1554480"/>
          </a:xfrm>
          <a:prstGeom prst="roundRect">
            <a:avLst>
              <a:gd name="adj" fmla="val 6000"/>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25" name="TextBox 24"/>
          <p:cNvSpPr txBox="1"/>
          <p:nvPr/>
        </p:nvSpPr>
        <p:spPr>
          <a:xfrm>
            <a:off x="8183879" y="4919472"/>
            <a:ext cx="3319272" cy="138499"/>
          </a:xfrm>
          <a:prstGeom prst="rect">
            <a:avLst/>
          </a:prstGeom>
          <a:noFill/>
        </p:spPr>
        <p:txBody>
          <a:bodyPr wrap="square" lIns="0" tIns="0" rIns="0" bIns="0" anchor="t">
            <a:spAutoFit/>
          </a:bodyPr>
          <a:lstStyle/>
          <a:p>
            <a:pPr algn="l"/>
            <a:r>
              <a:rPr lang="en-GB" sz="900" b="1" i="0">
                <a:solidFill>
                  <a:srgbClr val="D8975E"/>
                </a:solidFill>
                <a:latin typeface="Cambria" panose="02040503050406030204" pitchFamily="18" charset="0"/>
                <a:ea typeface="Cambria" panose="02040503050406030204" pitchFamily="18" charset="0"/>
              </a:rPr>
              <a:t>MARKET GROWTH RATE</a:t>
            </a:r>
          </a:p>
        </p:txBody>
      </p:sp>
      <p:sp>
        <p:nvSpPr>
          <p:cNvPr id="26" name="TextBox 25"/>
          <p:cNvSpPr txBox="1"/>
          <p:nvPr/>
        </p:nvSpPr>
        <p:spPr>
          <a:xfrm>
            <a:off x="8183879" y="5166360"/>
            <a:ext cx="3319272" cy="461665"/>
          </a:xfrm>
          <a:prstGeom prst="rect">
            <a:avLst/>
          </a:prstGeom>
          <a:noFill/>
        </p:spPr>
        <p:txBody>
          <a:bodyPr wrap="square" lIns="0" tIns="0" rIns="0" bIns="0" anchor="t">
            <a:spAutoFit/>
          </a:bodyPr>
          <a:lstStyle/>
          <a:p>
            <a:pPr algn="l"/>
            <a:r>
              <a:rPr lang="en-GB" sz="3000" b="1" i="0">
                <a:solidFill>
                  <a:srgbClr val="FFFFFF"/>
                </a:solidFill>
                <a:latin typeface="Cambria" panose="02040503050406030204" pitchFamily="18" charset="0"/>
                <a:ea typeface="Cambria" panose="02040503050406030204" pitchFamily="18" charset="0"/>
              </a:rPr>
              <a:t>+5.9% CAGR</a:t>
            </a:r>
          </a:p>
        </p:txBody>
      </p:sp>
      <p:sp>
        <p:nvSpPr>
          <p:cNvPr id="27" name="TextBox 26"/>
          <p:cNvSpPr txBox="1"/>
          <p:nvPr/>
        </p:nvSpPr>
        <p:spPr>
          <a:xfrm>
            <a:off x="8183879" y="5715000"/>
            <a:ext cx="3319272" cy="292388"/>
          </a:xfrm>
          <a:prstGeom prst="rect">
            <a:avLst/>
          </a:prstGeom>
          <a:noFill/>
        </p:spPr>
        <p:txBody>
          <a:bodyPr wrap="square" lIns="0" tIns="0" rIns="0" bIns="0" anchor="t">
            <a:spAutoFit/>
          </a:bodyPr>
          <a:lstStyle/>
          <a:p>
            <a:pPr algn="l"/>
            <a:r>
              <a:rPr lang="en-GB" sz="950" b="0" i="0">
                <a:solidFill>
                  <a:srgbClr val="FFFFFF"/>
                </a:solidFill>
                <a:latin typeface="Cambria" panose="02040503050406030204" pitchFamily="18" charset="0"/>
                <a:ea typeface="Cambria" panose="02040503050406030204" pitchFamily="18" charset="0"/>
              </a:rPr>
              <a:t>2024 → 2030 forecast.  Diagnostic imaging is one of the few healthcare sub-sectors growing meaningfully ahead of GDP.</a:t>
            </a:r>
          </a:p>
        </p:txBody>
      </p:sp>
      <p:sp>
        <p:nvSpPr>
          <p:cNvPr id="28" name="TextBox 27"/>
          <p:cNvSpPr txBox="1"/>
          <p:nvPr/>
        </p:nvSpPr>
        <p:spPr>
          <a:xfrm>
            <a:off x="457200" y="6565392"/>
            <a:ext cx="10972800" cy="123111"/>
          </a:xfrm>
          <a:prstGeom prst="rect">
            <a:avLst/>
          </a:prstGeom>
          <a:noFill/>
        </p:spPr>
        <p:txBody>
          <a:bodyPr wrap="square" lIns="0" tIns="0" rIns="0" bIns="0" anchor="t">
            <a:spAutoFit/>
          </a:bodyPr>
          <a:lstStyle/>
          <a:p>
            <a:pPr algn="l"/>
            <a:r>
              <a:rPr lang="en-GB" sz="800" b="0" i="1">
                <a:solidFill>
                  <a:srgbClr val="6B7B7D"/>
                </a:solidFill>
                <a:latin typeface="Cambria" panose="02040503050406030204" pitchFamily="18" charset="0"/>
                <a:ea typeface="Cambria" panose="02040503050406030204" pitchFamily="18" charset="0"/>
              </a:rPr>
              <a:t>Source: Siemens Healthineers Annual Report 2024; Grand View Research; OECD Health Statistics; European Commission EHDS impact assessment</a:t>
            </a:r>
          </a:p>
        </p:txBody>
      </p:sp>
      <p:sp>
        <p:nvSpPr>
          <p:cNvPr id="29" name="TextBox 28"/>
          <p:cNvSpPr txBox="1"/>
          <p:nvPr/>
        </p:nvSpPr>
        <p:spPr>
          <a:xfrm>
            <a:off x="11521440" y="6565392"/>
            <a:ext cx="548640" cy="153888"/>
          </a:xfrm>
          <a:prstGeom prst="rect">
            <a:avLst/>
          </a:prstGeom>
          <a:noFill/>
        </p:spPr>
        <p:txBody>
          <a:bodyPr wrap="square" lIns="0" tIns="0" rIns="0" bIns="0" anchor="t">
            <a:spAutoFit/>
          </a:bodyPr>
          <a:lstStyle/>
          <a:p>
            <a:pPr algn="r"/>
            <a:r>
              <a:rPr lang="en-GB" sz="1000" b="0" i="0">
                <a:solidFill>
                  <a:srgbClr val="6B7B7D"/>
                </a:solidFill>
                <a:latin typeface="Cambria" panose="02040503050406030204" pitchFamily="18" charset="0"/>
                <a:ea typeface="Cambria" panose="02040503050406030204" pitchFamily="18" charset="0"/>
              </a:rPr>
              <a:t>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C58884B-152A-A75E-0758-76CD82AE4C77}"/>
              </a:ext>
            </a:extLst>
          </p:cNvPr>
          <p:cNvSpPr txBox="1"/>
          <p:nvPr/>
        </p:nvSpPr>
        <p:spPr>
          <a:xfrm>
            <a:off x="218170" y="258931"/>
            <a:ext cx="9301771" cy="369332"/>
          </a:xfrm>
          <a:prstGeom prst="rect">
            <a:avLst/>
          </a:prstGeom>
          <a:noFill/>
        </p:spPr>
        <p:txBody>
          <a:bodyPr wrap="square" lIns="91440" tIns="45720" rIns="91440" bIns="45720" rtlCol="0" anchor="t">
            <a:spAutoFit/>
          </a:bodyPr>
          <a:lstStyle/>
          <a:p>
            <a:r>
              <a:rPr lang="en-GB" b="1" dirty="0">
                <a:latin typeface="Cambria" panose="02040503050406030204" pitchFamily="18" charset="0"/>
                <a:ea typeface="Cambria" panose="02040503050406030204" pitchFamily="18" charset="0"/>
              </a:rPr>
              <a:t>1) Consensus underestimates the margin expansion path</a:t>
            </a:r>
          </a:p>
        </p:txBody>
      </p:sp>
      <p:sp>
        <p:nvSpPr>
          <p:cNvPr id="18" name="TextBox 17">
            <a:extLst>
              <a:ext uri="{FF2B5EF4-FFF2-40B4-BE49-F238E27FC236}">
                <a16:creationId xmlns:a16="http://schemas.microsoft.com/office/drawing/2014/main" id="{2103E68D-CB70-6EE6-42A9-F6A0C3958703}"/>
              </a:ext>
            </a:extLst>
          </p:cNvPr>
          <p:cNvSpPr txBox="1"/>
          <p:nvPr/>
        </p:nvSpPr>
        <p:spPr>
          <a:xfrm>
            <a:off x="218170" y="103805"/>
            <a:ext cx="7315200" cy="169277"/>
          </a:xfrm>
          <a:prstGeom prst="rect">
            <a:avLst/>
          </a:prstGeom>
          <a:noFill/>
        </p:spPr>
        <p:txBody>
          <a:bodyPr wrap="square" lIns="0" tIns="0" rIns="0" bIns="0" anchor="t">
            <a:spAutoFit/>
          </a:bodyPr>
          <a:lstStyle/>
          <a:p>
            <a:r>
              <a:rPr lang="en-GB" sz="1100" b="1">
                <a:solidFill>
                  <a:srgbClr val="D8975E"/>
                </a:solidFill>
                <a:latin typeface="Cambria" panose="02040503050406030204" pitchFamily="18" charset="0"/>
                <a:ea typeface="Cambria" panose="02040503050406030204" pitchFamily="18" charset="0"/>
              </a:rPr>
              <a:t>04 </a:t>
            </a:r>
            <a:r>
              <a:rPr lang="en-GB" sz="1100" b="1" i="0">
                <a:solidFill>
                  <a:srgbClr val="D8975E"/>
                </a:solidFill>
                <a:latin typeface="Cambria" panose="02040503050406030204" pitchFamily="18" charset="0"/>
                <a:ea typeface="Cambria" panose="02040503050406030204" pitchFamily="18" charset="0"/>
              </a:rPr>
              <a:t>/ </a:t>
            </a:r>
            <a:r>
              <a:rPr lang="en-GB" sz="1100" b="1">
                <a:solidFill>
                  <a:srgbClr val="D8975E"/>
                </a:solidFill>
                <a:latin typeface="Cambria" panose="02040503050406030204" pitchFamily="18" charset="0"/>
                <a:ea typeface="Cambria" panose="02040503050406030204" pitchFamily="18" charset="0"/>
              </a:rPr>
              <a:t>INVESTMENT THESIS: PART 1</a:t>
            </a:r>
            <a:endParaRPr lang="en-GB" sz="1100" b="1" i="0">
              <a:solidFill>
                <a:srgbClr val="D8975E"/>
              </a:solidFill>
              <a:latin typeface="Cambria" panose="02040503050406030204" pitchFamily="18" charset="0"/>
              <a:ea typeface="Cambria" panose="02040503050406030204" pitchFamily="18" charset="0"/>
              <a:cs typeface="Calibri"/>
            </a:endParaRPr>
          </a:p>
        </p:txBody>
      </p:sp>
      <p:sp>
        <p:nvSpPr>
          <p:cNvPr id="81" name="Rounded Rectangle 11">
            <a:extLst>
              <a:ext uri="{FF2B5EF4-FFF2-40B4-BE49-F238E27FC236}">
                <a16:creationId xmlns:a16="http://schemas.microsoft.com/office/drawing/2014/main" id="{7A12F985-BD8B-A59A-F45C-5B3FAE3974AD}"/>
              </a:ext>
            </a:extLst>
          </p:cNvPr>
          <p:cNvSpPr/>
          <p:nvPr/>
        </p:nvSpPr>
        <p:spPr>
          <a:xfrm>
            <a:off x="299342" y="663220"/>
            <a:ext cx="3662167" cy="4223141"/>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913ACC08-809F-0F6A-8BDA-866C836A4603}"/>
              </a:ext>
            </a:extLst>
          </p:cNvPr>
          <p:cNvSpPr txBox="1"/>
          <p:nvPr/>
        </p:nvSpPr>
        <p:spPr>
          <a:xfrm>
            <a:off x="290771" y="577713"/>
            <a:ext cx="3628144" cy="307777"/>
          </a:xfrm>
          <a:prstGeom prst="rect">
            <a:avLst/>
          </a:prstGeom>
          <a:solidFill>
            <a:srgbClr val="123C3E"/>
          </a:solidFill>
          <a:ln>
            <a:noFill/>
          </a:ln>
        </p:spPr>
        <p:txBody>
          <a:bodyPr wrap="square" lIns="91440" tIns="45720" rIns="91440" bIns="45720" rtlCol="0" anchor="t">
            <a:spAutoFit/>
          </a:bodyPr>
          <a:lstStyle/>
          <a:p>
            <a:pPr algn="ctr"/>
            <a:r>
              <a:rPr lang="en-GB" sz="1400" b="1" dirty="0">
                <a:solidFill>
                  <a:schemeClr val="bg1"/>
                </a:solidFill>
                <a:latin typeface="Cambria" panose="02040503050406030204" pitchFamily="18" charset="0"/>
                <a:ea typeface="Cambria" panose="02040503050406030204" pitchFamily="18" charset="0"/>
                <a:cs typeface="Calibri" panose="020F0502020204030204" pitchFamily="34" charset="0"/>
              </a:rPr>
              <a:t>Software Attach </a:t>
            </a:r>
          </a:p>
        </p:txBody>
      </p:sp>
      <p:sp>
        <p:nvSpPr>
          <p:cNvPr id="57" name="TextBox 56">
            <a:extLst>
              <a:ext uri="{FF2B5EF4-FFF2-40B4-BE49-F238E27FC236}">
                <a16:creationId xmlns:a16="http://schemas.microsoft.com/office/drawing/2014/main" id="{DAAD7C35-8E8D-9819-49C2-68ED2AA7CA40}"/>
              </a:ext>
            </a:extLst>
          </p:cNvPr>
          <p:cNvSpPr txBox="1"/>
          <p:nvPr/>
        </p:nvSpPr>
        <p:spPr>
          <a:xfrm>
            <a:off x="260418" y="1121063"/>
            <a:ext cx="1164792" cy="766373"/>
          </a:xfrm>
          <a:prstGeom prst="rect">
            <a:avLst/>
          </a:prstGeom>
          <a:noFill/>
        </p:spPr>
        <p:txBody>
          <a:bodyPr wrap="square" lIns="91440" tIns="45720" rIns="91440" bIns="45720" rtlCol="0" anchor="t">
            <a:spAutoFit/>
          </a:bodyPr>
          <a:lstStyle/>
          <a:p>
            <a:pPr algn="ctr"/>
            <a:r>
              <a:rPr lang="en-GB" b="1" dirty="0">
                <a:solidFill>
                  <a:srgbClr val="1F676B"/>
                </a:solidFill>
                <a:latin typeface="Cambria" panose="02040503050406030204" pitchFamily="18" charset="0"/>
                <a:ea typeface="Cambria" panose="02040503050406030204" pitchFamily="18" charset="0"/>
              </a:rPr>
              <a:t>$619m</a:t>
            </a:r>
          </a:p>
          <a:p>
            <a:pPr algn="ctr"/>
            <a:r>
              <a:rPr lang="en-GB" sz="1200" dirty="0">
                <a:latin typeface="Cambria" panose="02040503050406030204" pitchFamily="18" charset="0"/>
                <a:ea typeface="Cambria" panose="02040503050406030204" pitchFamily="18" charset="0"/>
              </a:rPr>
              <a:t>AIR Recon DL FY30</a:t>
            </a:r>
          </a:p>
        </p:txBody>
      </p:sp>
      <p:sp>
        <p:nvSpPr>
          <p:cNvPr id="60" name="TextBox 59">
            <a:extLst>
              <a:ext uri="{FF2B5EF4-FFF2-40B4-BE49-F238E27FC236}">
                <a16:creationId xmlns:a16="http://schemas.microsoft.com/office/drawing/2014/main" id="{D09753D9-CCA0-B8EF-E254-EE3274A3D0D0}"/>
              </a:ext>
            </a:extLst>
          </p:cNvPr>
          <p:cNvSpPr txBox="1"/>
          <p:nvPr/>
        </p:nvSpPr>
        <p:spPr>
          <a:xfrm>
            <a:off x="1553658" y="1120402"/>
            <a:ext cx="1164661" cy="707886"/>
          </a:xfrm>
          <a:prstGeom prst="rect">
            <a:avLst/>
          </a:prstGeom>
          <a:noFill/>
        </p:spPr>
        <p:txBody>
          <a:bodyPr wrap="square" lIns="91440" tIns="45720" rIns="91440" bIns="45720" rtlCol="0" anchor="t">
            <a:spAutoFit/>
          </a:bodyPr>
          <a:lstStyle/>
          <a:p>
            <a:pPr algn="ctr"/>
            <a:r>
              <a:rPr lang="en-GB" b="1" dirty="0">
                <a:solidFill>
                  <a:srgbClr val="1F676B"/>
                </a:solidFill>
                <a:latin typeface="Cambria" panose="02040503050406030204" pitchFamily="18" charset="0"/>
                <a:ea typeface="Cambria" panose="02040503050406030204" pitchFamily="18" charset="0"/>
              </a:rPr>
              <a:t>44.5%</a:t>
            </a:r>
          </a:p>
          <a:p>
            <a:pPr algn="ctr"/>
            <a:r>
              <a:rPr lang="en-GB" sz="1100" dirty="0">
                <a:latin typeface="Cambria" panose="02040503050406030204" pitchFamily="18" charset="0"/>
                <a:ea typeface="Cambria" panose="02040503050406030204" pitchFamily="18" charset="0"/>
              </a:rPr>
              <a:t>Software EBIT margin</a:t>
            </a:r>
          </a:p>
        </p:txBody>
      </p:sp>
      <p:sp>
        <p:nvSpPr>
          <p:cNvPr id="61" name="TextBox 60">
            <a:extLst>
              <a:ext uri="{FF2B5EF4-FFF2-40B4-BE49-F238E27FC236}">
                <a16:creationId xmlns:a16="http://schemas.microsoft.com/office/drawing/2014/main" id="{7161EE48-4F2C-930F-533F-E5AC92781B55}"/>
              </a:ext>
            </a:extLst>
          </p:cNvPr>
          <p:cNvSpPr txBox="1"/>
          <p:nvPr/>
        </p:nvSpPr>
        <p:spPr>
          <a:xfrm>
            <a:off x="2691472" y="1121062"/>
            <a:ext cx="1289483" cy="677108"/>
          </a:xfrm>
          <a:prstGeom prst="rect">
            <a:avLst/>
          </a:prstGeom>
          <a:noFill/>
        </p:spPr>
        <p:txBody>
          <a:bodyPr wrap="square" lIns="91440" tIns="45720" rIns="91440" bIns="45720" rtlCol="0" anchor="t">
            <a:spAutoFit/>
          </a:bodyPr>
          <a:lstStyle/>
          <a:p>
            <a:pPr algn="ctr"/>
            <a:r>
              <a:rPr lang="en-GB" sz="1600" b="1" dirty="0">
                <a:solidFill>
                  <a:srgbClr val="1F676B"/>
                </a:solidFill>
                <a:latin typeface="Cambria" panose="02040503050406030204" pitchFamily="18" charset="0"/>
                <a:ea typeface="Cambria" panose="02040503050406030204" pitchFamily="18" charset="0"/>
              </a:rPr>
              <a:t>+350 bps</a:t>
            </a:r>
          </a:p>
          <a:p>
            <a:pPr algn="ctr"/>
            <a:r>
              <a:rPr lang="en-GB" sz="1100" dirty="0">
                <a:latin typeface="Cambria" panose="02040503050406030204" pitchFamily="18" charset="0"/>
                <a:ea typeface="Cambria" panose="02040503050406030204" pitchFamily="18" charset="0"/>
              </a:rPr>
              <a:t>Imaging margin lift</a:t>
            </a:r>
          </a:p>
        </p:txBody>
      </p:sp>
      <p:sp>
        <p:nvSpPr>
          <p:cNvPr id="82" name="Rounded Rectangle 11">
            <a:extLst>
              <a:ext uri="{FF2B5EF4-FFF2-40B4-BE49-F238E27FC236}">
                <a16:creationId xmlns:a16="http://schemas.microsoft.com/office/drawing/2014/main" id="{364D071F-A8B9-73C6-1CA7-3E5CF168556F}"/>
              </a:ext>
            </a:extLst>
          </p:cNvPr>
          <p:cNvSpPr/>
          <p:nvPr/>
        </p:nvSpPr>
        <p:spPr>
          <a:xfrm>
            <a:off x="4225809" y="622827"/>
            <a:ext cx="3654790" cy="3430700"/>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GB">
              <a:latin typeface="Cambria" panose="02040503050406030204" pitchFamily="18" charset="0"/>
              <a:ea typeface="Cambria" panose="02040503050406030204" pitchFamily="18" charset="0"/>
            </a:endParaRPr>
          </a:p>
        </p:txBody>
      </p:sp>
      <p:sp>
        <p:nvSpPr>
          <p:cNvPr id="43" name="TextBox 42">
            <a:extLst>
              <a:ext uri="{FF2B5EF4-FFF2-40B4-BE49-F238E27FC236}">
                <a16:creationId xmlns:a16="http://schemas.microsoft.com/office/drawing/2014/main" id="{BC2C1F39-F5DD-E424-BE97-28FFF68ACE87}"/>
              </a:ext>
            </a:extLst>
          </p:cNvPr>
          <p:cNvSpPr txBox="1"/>
          <p:nvPr/>
        </p:nvSpPr>
        <p:spPr>
          <a:xfrm>
            <a:off x="4118818" y="1120546"/>
            <a:ext cx="1261774" cy="707886"/>
          </a:xfrm>
          <a:prstGeom prst="rect">
            <a:avLst/>
          </a:prstGeom>
          <a:noFill/>
        </p:spPr>
        <p:txBody>
          <a:bodyPr wrap="square" lIns="91440" tIns="45720" rIns="91440" bIns="45720" rtlCol="0" anchor="t">
            <a:spAutoFit/>
          </a:bodyPr>
          <a:lstStyle/>
          <a:p>
            <a:pPr algn="ctr"/>
            <a:r>
              <a:rPr lang="en-GB" sz="1600" b="1">
                <a:solidFill>
                  <a:srgbClr val="1F676B"/>
                </a:solidFill>
                <a:latin typeface="Cambria" panose="02040503050406030204" pitchFamily="18" charset="0"/>
                <a:ea typeface="Cambria" panose="02040503050406030204" pitchFamily="18" charset="0"/>
              </a:rPr>
              <a:t>$50 ~&gt; 590</a:t>
            </a:r>
          </a:p>
          <a:p>
            <a:pPr algn="ctr"/>
            <a:r>
              <a:rPr lang="en-GB" sz="1200" err="1">
                <a:latin typeface="Cambria" panose="02040503050406030204" pitchFamily="18" charset="0"/>
                <a:ea typeface="Cambria" panose="02040503050406030204" pitchFamily="18" charset="0"/>
              </a:rPr>
              <a:t>Flyrcado</a:t>
            </a:r>
            <a:r>
              <a:rPr lang="en-GB" sz="1200">
                <a:latin typeface="Cambria" panose="02040503050406030204" pitchFamily="18" charset="0"/>
                <a:ea typeface="Cambria" panose="02040503050406030204" pitchFamily="18" charset="0"/>
              </a:rPr>
              <a:t> revenue</a:t>
            </a:r>
          </a:p>
        </p:txBody>
      </p:sp>
      <p:sp>
        <p:nvSpPr>
          <p:cNvPr id="62" name="TextBox 61">
            <a:extLst>
              <a:ext uri="{FF2B5EF4-FFF2-40B4-BE49-F238E27FC236}">
                <a16:creationId xmlns:a16="http://schemas.microsoft.com/office/drawing/2014/main" id="{BCA3CB95-1669-BDE6-9945-807FA7352822}"/>
              </a:ext>
            </a:extLst>
          </p:cNvPr>
          <p:cNvSpPr txBox="1"/>
          <p:nvPr/>
        </p:nvSpPr>
        <p:spPr>
          <a:xfrm>
            <a:off x="5495184" y="1119884"/>
            <a:ext cx="998407" cy="677108"/>
          </a:xfrm>
          <a:prstGeom prst="rect">
            <a:avLst/>
          </a:prstGeom>
          <a:noFill/>
        </p:spPr>
        <p:txBody>
          <a:bodyPr wrap="square" lIns="91440" tIns="45720" rIns="91440" bIns="45720" rtlCol="0" anchor="t">
            <a:spAutoFit/>
          </a:bodyPr>
          <a:lstStyle/>
          <a:p>
            <a:pPr algn="ctr"/>
            <a:r>
              <a:rPr lang="en-GB" sz="1600" b="1">
                <a:solidFill>
                  <a:srgbClr val="1F676B"/>
                </a:solidFill>
                <a:latin typeface="Cambria" panose="02040503050406030204" pitchFamily="18" charset="0"/>
                <a:ea typeface="Cambria" panose="02040503050406030204" pitchFamily="18" charset="0"/>
              </a:rPr>
              <a:t>33.1%</a:t>
            </a:r>
          </a:p>
          <a:p>
            <a:pPr algn="ctr"/>
            <a:r>
              <a:rPr lang="en-GB" sz="1100" err="1">
                <a:latin typeface="Cambria" panose="02040503050406030204" pitchFamily="18" charset="0"/>
                <a:ea typeface="Cambria" panose="02040503050406030204" pitchFamily="18" charset="0"/>
              </a:rPr>
              <a:t>PDx</a:t>
            </a:r>
            <a:r>
              <a:rPr lang="en-GB" sz="1100">
                <a:latin typeface="Cambria" panose="02040503050406030204" pitchFamily="18" charset="0"/>
                <a:ea typeface="Cambria" panose="02040503050406030204" pitchFamily="18" charset="0"/>
              </a:rPr>
              <a:t> EBIT margin</a:t>
            </a:r>
          </a:p>
        </p:txBody>
      </p:sp>
      <p:sp>
        <p:nvSpPr>
          <p:cNvPr id="63" name="TextBox 62">
            <a:extLst>
              <a:ext uri="{FF2B5EF4-FFF2-40B4-BE49-F238E27FC236}">
                <a16:creationId xmlns:a16="http://schemas.microsoft.com/office/drawing/2014/main" id="{2B0A71EB-045A-7AF0-0C06-717C7C58AAB3}"/>
              </a:ext>
            </a:extLst>
          </p:cNvPr>
          <p:cNvSpPr txBox="1"/>
          <p:nvPr/>
        </p:nvSpPr>
        <p:spPr>
          <a:xfrm>
            <a:off x="6591434" y="1120545"/>
            <a:ext cx="1289483" cy="677108"/>
          </a:xfrm>
          <a:prstGeom prst="rect">
            <a:avLst/>
          </a:prstGeom>
          <a:noFill/>
        </p:spPr>
        <p:txBody>
          <a:bodyPr wrap="square" lIns="91440" tIns="45720" rIns="91440" bIns="45720" rtlCol="0" anchor="t">
            <a:spAutoFit/>
          </a:bodyPr>
          <a:lstStyle/>
          <a:p>
            <a:pPr algn="ctr"/>
            <a:r>
              <a:rPr lang="en-GB" sz="1600" b="1">
                <a:solidFill>
                  <a:srgbClr val="1F676B"/>
                </a:solidFill>
                <a:latin typeface="Cambria" panose="02040503050406030204" pitchFamily="18" charset="0"/>
                <a:ea typeface="Cambria" panose="02040503050406030204" pitchFamily="18" charset="0"/>
              </a:rPr>
              <a:t>+41%</a:t>
            </a:r>
          </a:p>
          <a:p>
            <a:pPr algn="ctr"/>
            <a:r>
              <a:rPr lang="en-GB" sz="1100" err="1">
                <a:latin typeface="Cambria" panose="02040503050406030204" pitchFamily="18" charset="0"/>
                <a:ea typeface="Cambria" panose="02040503050406030204" pitchFamily="18" charset="0"/>
              </a:rPr>
              <a:t>PDx</a:t>
            </a:r>
            <a:r>
              <a:rPr lang="en-GB" sz="1100">
                <a:latin typeface="Cambria" panose="02040503050406030204" pitchFamily="18" charset="0"/>
                <a:ea typeface="Cambria" panose="02040503050406030204" pitchFamily="18" charset="0"/>
              </a:rPr>
              <a:t> revenue growth</a:t>
            </a:r>
          </a:p>
        </p:txBody>
      </p:sp>
      <p:sp>
        <p:nvSpPr>
          <p:cNvPr id="86" name="Rounded Rectangle 11">
            <a:extLst>
              <a:ext uri="{FF2B5EF4-FFF2-40B4-BE49-F238E27FC236}">
                <a16:creationId xmlns:a16="http://schemas.microsoft.com/office/drawing/2014/main" id="{73C42C43-7D75-A48B-48A5-C71482150B5F}"/>
              </a:ext>
            </a:extLst>
          </p:cNvPr>
          <p:cNvSpPr/>
          <p:nvPr/>
        </p:nvSpPr>
        <p:spPr>
          <a:xfrm>
            <a:off x="8240892" y="618336"/>
            <a:ext cx="3728731" cy="3435191"/>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latin typeface="Cambria" panose="02040503050406030204" pitchFamily="18" charset="0"/>
              <a:ea typeface="Cambria" panose="02040503050406030204" pitchFamily="18" charset="0"/>
            </a:endParaRPr>
          </a:p>
        </p:txBody>
      </p:sp>
      <p:sp>
        <p:nvSpPr>
          <p:cNvPr id="69" name="TextBox 68">
            <a:extLst>
              <a:ext uri="{FF2B5EF4-FFF2-40B4-BE49-F238E27FC236}">
                <a16:creationId xmlns:a16="http://schemas.microsoft.com/office/drawing/2014/main" id="{4798EF5B-F8D0-54A6-C061-9AAD66F8FB6A}"/>
              </a:ext>
            </a:extLst>
          </p:cNvPr>
          <p:cNvSpPr txBox="1"/>
          <p:nvPr/>
        </p:nvSpPr>
        <p:spPr>
          <a:xfrm>
            <a:off x="8174138" y="1090954"/>
            <a:ext cx="1287301" cy="707886"/>
          </a:xfrm>
          <a:prstGeom prst="rect">
            <a:avLst/>
          </a:prstGeom>
          <a:noFill/>
        </p:spPr>
        <p:txBody>
          <a:bodyPr wrap="square" lIns="91440" tIns="45720" rIns="91440" bIns="45720" rtlCol="0" anchor="t">
            <a:spAutoFit/>
          </a:bodyPr>
          <a:lstStyle/>
          <a:p>
            <a:pPr algn="ctr"/>
            <a:r>
              <a:rPr lang="en-GB" sz="1600" b="1">
                <a:solidFill>
                  <a:srgbClr val="1F676B"/>
                </a:solidFill>
                <a:latin typeface="Cambria" panose="02040503050406030204" pitchFamily="18" charset="0"/>
                <a:ea typeface="Cambria" panose="02040503050406030204" pitchFamily="18" charset="0"/>
              </a:rPr>
              <a:t>24.2%</a:t>
            </a:r>
          </a:p>
          <a:p>
            <a:pPr algn="ctr"/>
            <a:r>
              <a:rPr lang="en-GB" sz="1200">
                <a:latin typeface="Cambria" panose="02040503050406030204" pitchFamily="18" charset="0"/>
                <a:ea typeface="Cambria" panose="02040503050406030204" pitchFamily="18" charset="0"/>
              </a:rPr>
              <a:t>AVS margin FY30</a:t>
            </a:r>
          </a:p>
        </p:txBody>
      </p:sp>
      <p:sp>
        <p:nvSpPr>
          <p:cNvPr id="72" name="TextBox 71">
            <a:extLst>
              <a:ext uri="{FF2B5EF4-FFF2-40B4-BE49-F238E27FC236}">
                <a16:creationId xmlns:a16="http://schemas.microsoft.com/office/drawing/2014/main" id="{52549919-CC7F-A8AA-D202-036D621753BB}"/>
              </a:ext>
            </a:extLst>
          </p:cNvPr>
          <p:cNvSpPr txBox="1"/>
          <p:nvPr/>
        </p:nvSpPr>
        <p:spPr>
          <a:xfrm>
            <a:off x="9578350" y="1090331"/>
            <a:ext cx="1018606" cy="677108"/>
          </a:xfrm>
          <a:prstGeom prst="rect">
            <a:avLst/>
          </a:prstGeom>
          <a:noFill/>
        </p:spPr>
        <p:txBody>
          <a:bodyPr wrap="square" lIns="91440" tIns="45720" rIns="91440" bIns="45720" rtlCol="0" anchor="t">
            <a:spAutoFit/>
          </a:bodyPr>
          <a:lstStyle/>
          <a:p>
            <a:pPr algn="ctr"/>
            <a:r>
              <a:rPr lang="en-GB" sz="1600" b="1">
                <a:solidFill>
                  <a:srgbClr val="1F676B"/>
                </a:solidFill>
                <a:latin typeface="Cambria" panose="02040503050406030204" pitchFamily="18" charset="0"/>
                <a:ea typeface="Cambria" panose="02040503050406030204" pitchFamily="18" charset="0"/>
              </a:rPr>
              <a:t>$427m</a:t>
            </a:r>
          </a:p>
          <a:p>
            <a:pPr algn="ctr"/>
            <a:r>
              <a:rPr lang="en-GB" sz="1100" err="1">
                <a:solidFill>
                  <a:srgbClr val="000000"/>
                </a:solidFill>
                <a:latin typeface="Cambria" panose="02040503050406030204" pitchFamily="18" charset="0"/>
                <a:ea typeface="Cambria" panose="02040503050406030204" pitchFamily="18" charset="0"/>
              </a:rPr>
              <a:t>Intelerad</a:t>
            </a:r>
            <a:r>
              <a:rPr lang="en-GB" sz="1100">
                <a:solidFill>
                  <a:srgbClr val="000000"/>
                </a:solidFill>
                <a:latin typeface="Cambria" panose="02040503050406030204" pitchFamily="18" charset="0"/>
                <a:ea typeface="Cambria" panose="02040503050406030204" pitchFamily="18" charset="0"/>
              </a:rPr>
              <a:t> SaaS FY30</a:t>
            </a:r>
          </a:p>
        </p:txBody>
      </p:sp>
      <p:sp>
        <p:nvSpPr>
          <p:cNvPr id="73" name="TextBox 72">
            <a:extLst>
              <a:ext uri="{FF2B5EF4-FFF2-40B4-BE49-F238E27FC236}">
                <a16:creationId xmlns:a16="http://schemas.microsoft.com/office/drawing/2014/main" id="{4E7BAC94-4962-716A-B75D-5DFDE0700A3A}"/>
              </a:ext>
            </a:extLst>
          </p:cNvPr>
          <p:cNvSpPr txBox="1"/>
          <p:nvPr/>
        </p:nvSpPr>
        <p:spPr>
          <a:xfrm>
            <a:off x="10696778" y="1090953"/>
            <a:ext cx="1315571" cy="677108"/>
          </a:xfrm>
          <a:prstGeom prst="rect">
            <a:avLst/>
          </a:prstGeom>
          <a:noFill/>
        </p:spPr>
        <p:txBody>
          <a:bodyPr wrap="square" lIns="91440" tIns="45720" rIns="91440" bIns="45720" rtlCol="0" anchor="t">
            <a:spAutoFit/>
          </a:bodyPr>
          <a:lstStyle/>
          <a:p>
            <a:pPr algn="ctr"/>
            <a:r>
              <a:rPr lang="en-GB" sz="1600" b="1">
                <a:solidFill>
                  <a:srgbClr val="1F676B"/>
                </a:solidFill>
                <a:latin typeface="Cambria" panose="02040503050406030204" pitchFamily="18" charset="0"/>
                <a:ea typeface="Cambria" panose="02040503050406030204" pitchFamily="18" charset="0"/>
              </a:rPr>
              <a:t>+143 bps</a:t>
            </a:r>
          </a:p>
          <a:p>
            <a:pPr algn="ctr"/>
            <a:r>
              <a:rPr lang="en-GB" sz="1100">
                <a:latin typeface="Cambria" panose="02040503050406030204" pitchFamily="18" charset="0"/>
                <a:ea typeface="Cambria" panose="02040503050406030204" pitchFamily="18" charset="0"/>
              </a:rPr>
              <a:t>M&amp;A attributable lift</a:t>
            </a:r>
          </a:p>
        </p:txBody>
      </p:sp>
      <p:sp>
        <p:nvSpPr>
          <p:cNvPr id="19" name="TextBox 18">
            <a:extLst>
              <a:ext uri="{FF2B5EF4-FFF2-40B4-BE49-F238E27FC236}">
                <a16:creationId xmlns:a16="http://schemas.microsoft.com/office/drawing/2014/main" id="{CBFE2B34-5F8A-4707-CC0A-54AB7D6562CA}"/>
              </a:ext>
            </a:extLst>
          </p:cNvPr>
          <p:cNvSpPr txBox="1"/>
          <p:nvPr/>
        </p:nvSpPr>
        <p:spPr>
          <a:xfrm>
            <a:off x="239730" y="1989547"/>
            <a:ext cx="3649447" cy="2693045"/>
          </a:xfrm>
          <a:prstGeom prst="rect">
            <a:avLst/>
          </a:prstGeom>
          <a:noFill/>
        </p:spPr>
        <p:txBody>
          <a:bodyPr wrap="square" lIns="91440" tIns="45720" rIns="91440" bIns="45720" rtlCol="0" anchor="t">
            <a:spAutoFit/>
          </a:bodyPr>
          <a:lstStyle/>
          <a:p>
            <a:r>
              <a:rPr lang="en-GB" sz="1300" dirty="0">
                <a:latin typeface="Cambria" panose="02040503050406030204" pitchFamily="18" charset="0"/>
                <a:ea typeface="Cambria" panose="02040503050406030204" pitchFamily="18" charset="0"/>
              </a:rPr>
              <a:t>Air Recon DL is AI- powered MRI reconstruction software sold as a $50k upgrade on existing scanners. Each 10-pt gain in attach rate adds 200bps to gross margin.</a:t>
            </a:r>
            <a:endParaRPr lang="en-US" sz="1300" dirty="0">
              <a:latin typeface="Cambria" panose="02040503050406030204" pitchFamily="18" charset="0"/>
              <a:ea typeface="Cambria" panose="02040503050406030204" pitchFamily="18" charset="0"/>
            </a:endParaRPr>
          </a:p>
          <a:p>
            <a:endParaRPr lang="en-GB" sz="1300" dirty="0">
              <a:latin typeface="Cambria" panose="02040503050406030204" pitchFamily="18" charset="0"/>
              <a:ea typeface="Cambria" panose="02040503050406030204" pitchFamily="18" charset="0"/>
            </a:endParaRPr>
          </a:p>
          <a:p>
            <a:r>
              <a:rPr lang="en-GB" sz="1300" dirty="0">
                <a:latin typeface="Cambria" panose="02040503050406030204" pitchFamily="18" charset="0"/>
                <a:ea typeface="Cambria" panose="02040503050406030204" pitchFamily="18" charset="0"/>
              </a:rPr>
              <a:t>At the FY30 anchor, imaging margin lifts 9.6% - 13.1%, the single largest contributor to group margin expansion. R&amp; D  into AI products is projected lead margin expansion path.</a:t>
            </a:r>
          </a:p>
          <a:p>
            <a:endParaRPr lang="en-GB" sz="1300" dirty="0">
              <a:latin typeface="Cambria" panose="02040503050406030204" pitchFamily="18" charset="0"/>
              <a:ea typeface="Cambria" panose="02040503050406030204" pitchFamily="18" charset="0"/>
            </a:endParaRPr>
          </a:p>
          <a:p>
            <a:r>
              <a:rPr lang="en-GB" sz="1300" dirty="0">
                <a:latin typeface="Cambria" panose="02040503050406030204" pitchFamily="18" charset="0"/>
                <a:ea typeface="Cambria" panose="02040503050406030204" pitchFamily="18" charset="0"/>
              </a:rPr>
              <a:t>The target by 2027 is to have a 30% target attach rate; GEHC is already ahead of its own target at a 45% rate.</a:t>
            </a:r>
          </a:p>
        </p:txBody>
      </p:sp>
      <p:pic>
        <p:nvPicPr>
          <p:cNvPr id="84" name="Graphic 83" descr="Arrow Right with solid fill">
            <a:extLst>
              <a:ext uri="{FF2B5EF4-FFF2-40B4-BE49-F238E27FC236}">
                <a16:creationId xmlns:a16="http://schemas.microsoft.com/office/drawing/2014/main" id="{3EC7C597-22B5-615B-2B6F-4FD9E83BCA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59612" y="2708704"/>
            <a:ext cx="436880" cy="325120"/>
          </a:xfrm>
          <a:prstGeom prst="rect">
            <a:avLst/>
          </a:prstGeom>
        </p:spPr>
      </p:pic>
      <p:sp>
        <p:nvSpPr>
          <p:cNvPr id="74" name="TextBox 73">
            <a:extLst>
              <a:ext uri="{FF2B5EF4-FFF2-40B4-BE49-F238E27FC236}">
                <a16:creationId xmlns:a16="http://schemas.microsoft.com/office/drawing/2014/main" id="{2CF6B021-93D3-118A-1784-FC738E483FA1}"/>
              </a:ext>
            </a:extLst>
          </p:cNvPr>
          <p:cNvSpPr txBox="1"/>
          <p:nvPr/>
        </p:nvSpPr>
        <p:spPr>
          <a:xfrm>
            <a:off x="4220179" y="1989547"/>
            <a:ext cx="3748957" cy="2292935"/>
          </a:xfrm>
          <a:prstGeom prst="rect">
            <a:avLst/>
          </a:prstGeom>
          <a:noFill/>
        </p:spPr>
        <p:txBody>
          <a:bodyPr wrap="square" lIns="91440" tIns="45720" rIns="91440" bIns="45720" rtlCol="0" anchor="t">
            <a:spAutoFit/>
          </a:bodyPr>
          <a:lstStyle/>
          <a:p>
            <a:r>
              <a:rPr lang="en-GB" sz="1300" dirty="0" err="1">
                <a:latin typeface="Cambria" panose="02040503050406030204" pitchFamily="18" charset="0"/>
                <a:ea typeface="Cambria" panose="02040503050406030204" pitchFamily="18" charset="0"/>
              </a:rPr>
              <a:t>PDx</a:t>
            </a:r>
            <a:r>
              <a:rPr lang="en-GB" sz="1300" dirty="0">
                <a:latin typeface="Cambria" panose="02040503050406030204" pitchFamily="18" charset="0"/>
                <a:ea typeface="Cambria" panose="02040503050406030204" pitchFamily="18" charset="0"/>
              </a:rPr>
              <a:t> sells contrast agents and PET tracers consumed at every scan – a pure consumable annuity attached to the imaging install base.</a:t>
            </a:r>
          </a:p>
          <a:p>
            <a:endParaRPr lang="en-GB" sz="1300" dirty="0">
              <a:latin typeface="Cambria" panose="02040503050406030204" pitchFamily="18" charset="0"/>
              <a:ea typeface="Cambria" panose="02040503050406030204" pitchFamily="18" charset="0"/>
            </a:endParaRPr>
          </a:p>
          <a:p>
            <a:r>
              <a:rPr lang="en-GB" sz="1300" dirty="0" err="1">
                <a:latin typeface="Cambria" panose="02040503050406030204" pitchFamily="18" charset="0"/>
                <a:ea typeface="Cambria" panose="02040503050406030204" pitchFamily="18" charset="0"/>
              </a:rPr>
              <a:t>Flyrcado</a:t>
            </a:r>
            <a:r>
              <a:rPr lang="en-GB" sz="1300" dirty="0">
                <a:latin typeface="Cambria" panose="02040503050406030204" pitchFamily="18" charset="0"/>
                <a:ea typeface="Cambria" panose="02040503050406030204" pitchFamily="18" charset="0"/>
              </a:rPr>
              <a:t> (cardiac, PET, FDA approved) is in commercial rollout; Nihon </a:t>
            </a:r>
            <a:r>
              <a:rPr lang="en-GB" sz="1300" dirty="0" err="1">
                <a:latin typeface="Cambria" panose="02040503050406030204" pitchFamily="18" charset="0"/>
                <a:ea typeface="Cambria" panose="02040503050406030204" pitchFamily="18" charset="0"/>
              </a:rPr>
              <a:t>Mediphysics</a:t>
            </a:r>
            <a:r>
              <a:rPr lang="en-GB" sz="1300" dirty="0">
                <a:latin typeface="Cambria" panose="02040503050406030204" pitchFamily="18" charset="0"/>
                <a:ea typeface="Cambria" panose="02040503050406030204" pitchFamily="18" charset="0"/>
              </a:rPr>
              <a:t> adds Japanese distribution. Segment margin runs – 2x group average and expands a further 300 bps, lifting the group blended margin</a:t>
            </a:r>
          </a:p>
          <a:p>
            <a:endParaRPr lang="en-GB" sz="1300" dirty="0">
              <a:latin typeface="Cambria" panose="02040503050406030204" pitchFamily="18" charset="0"/>
              <a:ea typeface="Cambria" panose="02040503050406030204" pitchFamily="18" charset="0"/>
            </a:endParaRPr>
          </a:p>
          <a:p>
            <a:endParaRPr lang="en-GB" sz="1300" dirty="0">
              <a:latin typeface="Cambria" panose="02040503050406030204" pitchFamily="18" charset="0"/>
              <a:ea typeface="Cambria" panose="02040503050406030204" pitchFamily="18" charset="0"/>
            </a:endParaRPr>
          </a:p>
        </p:txBody>
      </p:sp>
      <p:sp>
        <p:nvSpPr>
          <p:cNvPr id="88" name="TextBox 87">
            <a:extLst>
              <a:ext uri="{FF2B5EF4-FFF2-40B4-BE49-F238E27FC236}">
                <a16:creationId xmlns:a16="http://schemas.microsoft.com/office/drawing/2014/main" id="{C4B5E33F-FCB1-080B-9B70-D26DAC3703A9}"/>
              </a:ext>
            </a:extLst>
          </p:cNvPr>
          <p:cNvSpPr txBox="1"/>
          <p:nvPr/>
        </p:nvSpPr>
        <p:spPr>
          <a:xfrm>
            <a:off x="8213990" y="1965705"/>
            <a:ext cx="3748957" cy="2092881"/>
          </a:xfrm>
          <a:prstGeom prst="rect">
            <a:avLst/>
          </a:prstGeom>
          <a:noFill/>
        </p:spPr>
        <p:txBody>
          <a:bodyPr wrap="square" lIns="91440" tIns="45720" rIns="91440" bIns="45720" rtlCol="0" anchor="t">
            <a:spAutoFit/>
          </a:bodyPr>
          <a:lstStyle/>
          <a:p>
            <a:r>
              <a:rPr lang="en-GB" sz="1300">
                <a:latin typeface="Cambria" panose="02040503050406030204" pitchFamily="18" charset="0"/>
                <a:ea typeface="Cambria" panose="02040503050406030204" pitchFamily="18" charset="0"/>
              </a:rPr>
              <a:t>Every deal layers in a higher margin tier: BK medical pushed AVS into the mid20s, Nihon </a:t>
            </a:r>
            <a:r>
              <a:rPr lang="en-GB" sz="1300" err="1">
                <a:latin typeface="Cambria" panose="02040503050406030204" pitchFamily="18" charset="0"/>
                <a:ea typeface="Cambria" panose="02040503050406030204" pitchFamily="18" charset="0"/>
              </a:rPr>
              <a:t>Mediphysics</a:t>
            </a:r>
            <a:r>
              <a:rPr lang="en-GB" sz="1300">
                <a:latin typeface="Cambria" panose="02040503050406030204" pitchFamily="18" charset="0"/>
                <a:ea typeface="Cambria" panose="02040503050406030204" pitchFamily="18" charset="0"/>
              </a:rPr>
              <a:t> scaled </a:t>
            </a:r>
            <a:r>
              <a:rPr lang="en-GB" sz="1300" err="1">
                <a:latin typeface="Cambria" panose="02040503050406030204" pitchFamily="18" charset="0"/>
                <a:ea typeface="Cambria" panose="02040503050406030204" pitchFamily="18" charset="0"/>
              </a:rPr>
              <a:t>PDx</a:t>
            </a:r>
            <a:r>
              <a:rPr lang="en-GB" sz="1300">
                <a:latin typeface="Cambria" panose="02040503050406030204" pitchFamily="18" charset="0"/>
                <a:ea typeface="Cambria" panose="02040503050406030204" pitchFamily="18" charset="0"/>
              </a:rPr>
              <a:t> in Asia, </a:t>
            </a:r>
            <a:r>
              <a:rPr lang="en-GB" sz="1300" err="1">
                <a:latin typeface="Cambria" panose="02040503050406030204" pitchFamily="18" charset="0"/>
                <a:ea typeface="Cambria" panose="02040503050406030204" pitchFamily="18" charset="0"/>
              </a:rPr>
              <a:t>Icometrix</a:t>
            </a:r>
            <a:r>
              <a:rPr lang="en-GB" sz="1300">
                <a:latin typeface="Cambria" panose="02040503050406030204" pitchFamily="18" charset="0"/>
                <a:ea typeface="Cambria" panose="02040503050406030204" pitchFamily="18" charset="0"/>
              </a:rPr>
              <a:t> added AI neuroradiology as a new </a:t>
            </a:r>
            <a:r>
              <a:rPr lang="en-GB" sz="1300" err="1">
                <a:latin typeface="Cambria" panose="02040503050406030204" pitchFamily="18" charset="0"/>
                <a:ea typeface="Cambria" panose="02040503050406030204" pitchFamily="18" charset="0"/>
              </a:rPr>
              <a:t>revene</a:t>
            </a:r>
            <a:r>
              <a:rPr lang="en-GB" sz="1300">
                <a:latin typeface="Cambria" panose="02040503050406030204" pitchFamily="18" charset="0"/>
                <a:ea typeface="Cambria" panose="02040503050406030204" pitchFamily="18" charset="0"/>
              </a:rPr>
              <a:t> stream.</a:t>
            </a:r>
            <a:endParaRPr lang="en-US" sz="1300">
              <a:latin typeface="Cambria" panose="02040503050406030204" pitchFamily="18" charset="0"/>
              <a:ea typeface="Cambria" panose="02040503050406030204" pitchFamily="18" charset="0"/>
            </a:endParaRPr>
          </a:p>
          <a:p>
            <a:endParaRPr lang="en-GB" sz="1300">
              <a:latin typeface="Cambria" panose="02040503050406030204" pitchFamily="18" charset="0"/>
              <a:ea typeface="Cambria" panose="02040503050406030204" pitchFamily="18" charset="0"/>
            </a:endParaRPr>
          </a:p>
          <a:p>
            <a:r>
              <a:rPr lang="en-GB" sz="1300">
                <a:latin typeface="Cambria" panose="02040503050406030204" pitchFamily="18" charset="0"/>
                <a:ea typeface="Cambria" panose="02040503050406030204" pitchFamily="18" charset="0"/>
              </a:rPr>
              <a:t>Pending </a:t>
            </a:r>
            <a:r>
              <a:rPr lang="en-GB" sz="1300" err="1">
                <a:latin typeface="Cambria" panose="02040503050406030204" pitchFamily="18" charset="0"/>
                <a:ea typeface="Cambria" panose="02040503050406030204" pitchFamily="18" charset="0"/>
              </a:rPr>
              <a:t>Intelerad</a:t>
            </a:r>
            <a:r>
              <a:rPr lang="en-GB" sz="1300">
                <a:latin typeface="Cambria" panose="02040503050406030204" pitchFamily="18" charset="0"/>
                <a:ea typeface="Cambria" panose="02040503050406030204" pitchFamily="18" charset="0"/>
              </a:rPr>
              <a:t> close ($270m FY26 revenue. EBITDA &gt;30%) shifts GEHC into cloud-enabled enterprise imaging, which is a re-rating opportunity vs peers. </a:t>
            </a:r>
          </a:p>
          <a:p>
            <a:endParaRPr lang="en-GB" sz="1300">
              <a:latin typeface="Cambria" panose="02040503050406030204" pitchFamily="18" charset="0"/>
              <a:ea typeface="Cambria" panose="02040503050406030204" pitchFamily="18" charset="0"/>
            </a:endParaRPr>
          </a:p>
        </p:txBody>
      </p:sp>
      <p:pic>
        <p:nvPicPr>
          <p:cNvPr id="15" name="Graphic 14" descr="Arrow Right with solid fill">
            <a:extLst>
              <a:ext uri="{FF2B5EF4-FFF2-40B4-BE49-F238E27FC236}">
                <a16:creationId xmlns:a16="http://schemas.microsoft.com/office/drawing/2014/main" id="{67175EEF-6E70-1F7A-2ECA-DBA19591E0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16126" y="2688569"/>
            <a:ext cx="436880" cy="325120"/>
          </a:xfrm>
          <a:prstGeom prst="rect">
            <a:avLst/>
          </a:prstGeom>
        </p:spPr>
      </p:pic>
      <p:sp>
        <p:nvSpPr>
          <p:cNvPr id="23" name="Rectangle 22">
            <a:extLst>
              <a:ext uri="{FF2B5EF4-FFF2-40B4-BE49-F238E27FC236}">
                <a16:creationId xmlns:a16="http://schemas.microsoft.com/office/drawing/2014/main" id="{154BA829-97B0-3A76-E873-8F9268EB2B25}"/>
              </a:ext>
            </a:extLst>
          </p:cNvPr>
          <p:cNvSpPr/>
          <p:nvPr/>
        </p:nvSpPr>
        <p:spPr>
          <a:xfrm>
            <a:off x="299024" y="978007"/>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4" name="Rectangle 23">
            <a:extLst>
              <a:ext uri="{FF2B5EF4-FFF2-40B4-BE49-F238E27FC236}">
                <a16:creationId xmlns:a16="http://schemas.microsoft.com/office/drawing/2014/main" id="{B796F95D-ADBC-7237-D939-B955318BEEA0}"/>
              </a:ext>
            </a:extLst>
          </p:cNvPr>
          <p:cNvSpPr/>
          <p:nvPr/>
        </p:nvSpPr>
        <p:spPr>
          <a:xfrm>
            <a:off x="1590022" y="988580"/>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5" name="Rectangle 24">
            <a:extLst>
              <a:ext uri="{FF2B5EF4-FFF2-40B4-BE49-F238E27FC236}">
                <a16:creationId xmlns:a16="http://schemas.microsoft.com/office/drawing/2014/main" id="{265782EF-146A-4043-A67F-6D5F21B917F4}"/>
              </a:ext>
            </a:extLst>
          </p:cNvPr>
          <p:cNvSpPr/>
          <p:nvPr/>
        </p:nvSpPr>
        <p:spPr>
          <a:xfrm>
            <a:off x="2803980" y="983711"/>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6" name="Rectangle 25">
            <a:extLst>
              <a:ext uri="{FF2B5EF4-FFF2-40B4-BE49-F238E27FC236}">
                <a16:creationId xmlns:a16="http://schemas.microsoft.com/office/drawing/2014/main" id="{5D699C16-5ACE-A60F-2723-2CBFD6AE8A7C}"/>
              </a:ext>
            </a:extLst>
          </p:cNvPr>
          <p:cNvSpPr/>
          <p:nvPr/>
        </p:nvSpPr>
        <p:spPr>
          <a:xfrm>
            <a:off x="4233144" y="983099"/>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7" name="Rectangle 26">
            <a:extLst>
              <a:ext uri="{FF2B5EF4-FFF2-40B4-BE49-F238E27FC236}">
                <a16:creationId xmlns:a16="http://schemas.microsoft.com/office/drawing/2014/main" id="{C54671D4-FD75-D7DC-4B11-CAD3804122ED}"/>
              </a:ext>
            </a:extLst>
          </p:cNvPr>
          <p:cNvSpPr/>
          <p:nvPr/>
        </p:nvSpPr>
        <p:spPr>
          <a:xfrm>
            <a:off x="5472366" y="983050"/>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8" name="Rectangle 27">
            <a:extLst>
              <a:ext uri="{FF2B5EF4-FFF2-40B4-BE49-F238E27FC236}">
                <a16:creationId xmlns:a16="http://schemas.microsoft.com/office/drawing/2014/main" id="{69144F3A-65EF-6737-C01D-6B431176F2CC}"/>
              </a:ext>
            </a:extLst>
          </p:cNvPr>
          <p:cNvSpPr/>
          <p:nvPr/>
        </p:nvSpPr>
        <p:spPr>
          <a:xfrm>
            <a:off x="6682592" y="983099"/>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29" name="Rectangle 28">
            <a:extLst>
              <a:ext uri="{FF2B5EF4-FFF2-40B4-BE49-F238E27FC236}">
                <a16:creationId xmlns:a16="http://schemas.microsoft.com/office/drawing/2014/main" id="{4389CFF4-1AD8-9CF4-8E87-F86754ADE597}"/>
              </a:ext>
            </a:extLst>
          </p:cNvPr>
          <p:cNvSpPr/>
          <p:nvPr/>
        </p:nvSpPr>
        <p:spPr>
          <a:xfrm>
            <a:off x="8276833" y="978008"/>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30" name="Rectangle 29">
            <a:extLst>
              <a:ext uri="{FF2B5EF4-FFF2-40B4-BE49-F238E27FC236}">
                <a16:creationId xmlns:a16="http://schemas.microsoft.com/office/drawing/2014/main" id="{A1D494D3-C746-B68F-32C6-0B7E17361744}"/>
              </a:ext>
            </a:extLst>
          </p:cNvPr>
          <p:cNvSpPr/>
          <p:nvPr/>
        </p:nvSpPr>
        <p:spPr>
          <a:xfrm>
            <a:off x="9528690" y="979307"/>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sp>
        <p:nvSpPr>
          <p:cNvPr id="31" name="Rectangle 30">
            <a:extLst>
              <a:ext uri="{FF2B5EF4-FFF2-40B4-BE49-F238E27FC236}">
                <a16:creationId xmlns:a16="http://schemas.microsoft.com/office/drawing/2014/main" id="{D8E9FDBC-BB23-64CA-A8CB-12B9E575672D}"/>
              </a:ext>
            </a:extLst>
          </p:cNvPr>
          <p:cNvSpPr/>
          <p:nvPr/>
        </p:nvSpPr>
        <p:spPr>
          <a:xfrm>
            <a:off x="10773913" y="980564"/>
            <a:ext cx="1029642" cy="103425"/>
          </a:xfrm>
          <a:prstGeom prst="rect">
            <a:avLst/>
          </a:prstGeom>
          <a:solidFill>
            <a:srgbClr val="123C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latin typeface="Cambria" panose="02040503050406030204" pitchFamily="18" charset="0"/>
              <a:ea typeface="Cambria" panose="02040503050406030204" pitchFamily="18" charset="0"/>
            </a:endParaRPr>
          </a:p>
        </p:txBody>
      </p:sp>
      <p:graphicFrame>
        <p:nvGraphicFramePr>
          <p:cNvPr id="17" name="Chart 0">
            <a:extLst>
              <a:ext uri="{FF2B5EF4-FFF2-40B4-BE49-F238E27FC236}">
                <a16:creationId xmlns:a16="http://schemas.microsoft.com/office/drawing/2014/main" id="{D36FAF65-5DC0-F3B9-82D2-DDB9FDE8047C}"/>
              </a:ext>
            </a:extLst>
          </p:cNvPr>
          <p:cNvGraphicFramePr/>
          <p:nvPr>
            <p:extLst>
              <p:ext uri="{D42A27DB-BD31-4B8C-83A1-F6EECF244321}">
                <p14:modId xmlns:p14="http://schemas.microsoft.com/office/powerpoint/2010/main" val="243935314"/>
              </p:ext>
            </p:extLst>
          </p:nvPr>
        </p:nvGraphicFramePr>
        <p:xfrm>
          <a:off x="1" y="4719516"/>
          <a:ext cx="3833622" cy="21338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 name="Chart 0">
            <a:extLst>
              <a:ext uri="{FF2B5EF4-FFF2-40B4-BE49-F238E27FC236}">
                <a16:creationId xmlns:a16="http://schemas.microsoft.com/office/drawing/2014/main" id="{95EF8A91-6C43-854A-B735-79E9F0335F22}"/>
              </a:ext>
            </a:extLst>
          </p:cNvPr>
          <p:cNvGraphicFramePr/>
          <p:nvPr>
            <p:extLst>
              <p:ext uri="{D42A27DB-BD31-4B8C-83A1-F6EECF244321}">
                <p14:modId xmlns:p14="http://schemas.microsoft.com/office/powerpoint/2010/main" val="4284725751"/>
              </p:ext>
            </p:extLst>
          </p:nvPr>
        </p:nvGraphicFramePr>
        <p:xfrm>
          <a:off x="4068055" y="3888739"/>
          <a:ext cx="4145935" cy="296125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 name="Chart 1">
            <a:extLst>
              <a:ext uri="{FF2B5EF4-FFF2-40B4-BE49-F238E27FC236}">
                <a16:creationId xmlns:a16="http://schemas.microsoft.com/office/drawing/2014/main" id="{A2098D7B-4BEB-FB8C-43D3-85127B60E3E5}"/>
              </a:ext>
            </a:extLst>
          </p:cNvPr>
          <p:cNvGraphicFramePr>
            <a:graphicFrameLocks/>
          </p:cNvGraphicFramePr>
          <p:nvPr>
            <p:extLst>
              <p:ext uri="{D42A27DB-BD31-4B8C-83A1-F6EECF244321}">
                <p14:modId xmlns:p14="http://schemas.microsoft.com/office/powerpoint/2010/main" val="343806367"/>
              </p:ext>
            </p:extLst>
          </p:nvPr>
        </p:nvGraphicFramePr>
        <p:xfrm>
          <a:off x="8263392" y="4133167"/>
          <a:ext cx="3728731" cy="2724833"/>
        </p:xfrm>
        <a:graphic>
          <a:graphicData uri="http://schemas.openxmlformats.org/drawingml/2006/chart">
            <c:chart xmlns:c="http://schemas.openxmlformats.org/drawingml/2006/chart" xmlns:r="http://schemas.openxmlformats.org/officeDocument/2006/relationships" r:id="rId6"/>
          </a:graphicData>
        </a:graphic>
      </p:graphicFrame>
      <p:sp>
        <p:nvSpPr>
          <p:cNvPr id="21" name="Text 0">
            <a:extLst>
              <a:ext uri="{FF2B5EF4-FFF2-40B4-BE49-F238E27FC236}">
                <a16:creationId xmlns:a16="http://schemas.microsoft.com/office/drawing/2014/main" id="{AD8DA7B6-84CA-090F-11F4-A39156AEA323}"/>
              </a:ext>
            </a:extLst>
          </p:cNvPr>
          <p:cNvSpPr/>
          <p:nvPr/>
        </p:nvSpPr>
        <p:spPr>
          <a:xfrm>
            <a:off x="392179" y="4632414"/>
            <a:ext cx="3558660" cy="253947"/>
          </a:xfrm>
          <a:prstGeom prst="rect">
            <a:avLst/>
          </a:prstGeom>
          <a:noFill/>
          <a:ln/>
        </p:spPr>
        <p:txBody>
          <a:bodyPr wrap="square" lIns="0" tIns="0" rIns="0" bIns="0" rtlCol="0" anchor="ctr"/>
          <a:lstStyle/>
          <a:p>
            <a:pPr marL="0" indent="0" algn="ctr">
              <a:buNone/>
            </a:pPr>
            <a:r>
              <a:rPr lang="en-US" sz="800" b="1" dirty="0">
                <a:solidFill>
                  <a:srgbClr val="1A1A1A"/>
                </a:solidFill>
                <a:latin typeface="Cambria" panose="02040503050406030204" pitchFamily="18" charset="0"/>
                <a:ea typeface="Cambria" panose="02040503050406030204" pitchFamily="18" charset="0"/>
              </a:rPr>
              <a:t>Imaging segment: software &amp; services thicken margin from 9.6% → 13.1%</a:t>
            </a:r>
            <a:endParaRPr lang="en-US" sz="800" dirty="0">
              <a:latin typeface="Cambria" panose="02040503050406030204" pitchFamily="18" charset="0"/>
              <a:ea typeface="Cambria" panose="02040503050406030204" pitchFamily="18" charset="0"/>
            </a:endParaRPr>
          </a:p>
        </p:txBody>
      </p:sp>
      <p:sp>
        <p:nvSpPr>
          <p:cNvPr id="22" name="Text 0">
            <a:extLst>
              <a:ext uri="{FF2B5EF4-FFF2-40B4-BE49-F238E27FC236}">
                <a16:creationId xmlns:a16="http://schemas.microsoft.com/office/drawing/2014/main" id="{4070E170-AA07-A4C2-0C26-2327CC3D27C4}"/>
              </a:ext>
            </a:extLst>
          </p:cNvPr>
          <p:cNvSpPr/>
          <p:nvPr/>
        </p:nvSpPr>
        <p:spPr>
          <a:xfrm>
            <a:off x="3736507" y="3820279"/>
            <a:ext cx="4809029" cy="273264"/>
          </a:xfrm>
          <a:prstGeom prst="rect">
            <a:avLst/>
          </a:prstGeom>
          <a:noFill/>
          <a:ln/>
        </p:spPr>
        <p:txBody>
          <a:bodyPr wrap="square" lIns="0" tIns="0" rIns="0" bIns="0" rtlCol="0" anchor="ctr"/>
          <a:lstStyle/>
          <a:p>
            <a:pPr marL="0" indent="0" algn="ctr">
              <a:buNone/>
            </a:pPr>
            <a:r>
              <a:rPr lang="en-US" sz="800" b="1">
                <a:solidFill>
                  <a:srgbClr val="1A1A1A"/>
                </a:solidFill>
                <a:latin typeface="Cambria" panose="02040503050406030204" pitchFamily="18" charset="0"/>
                <a:ea typeface="Cambria" panose="02040503050406030204" pitchFamily="18" charset="0"/>
              </a:rPr>
              <a:t>PDx: Flyrcado scales 50 → 590 ($m), segment grows +41% at ~33% margin</a:t>
            </a:r>
            <a:endParaRPr lang="en-US" sz="80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6126DDEA-D7FB-FC97-AE16-57009431809E}"/>
              </a:ext>
            </a:extLst>
          </p:cNvPr>
          <p:cNvSpPr txBox="1"/>
          <p:nvPr/>
        </p:nvSpPr>
        <p:spPr>
          <a:xfrm>
            <a:off x="4224495" y="590735"/>
            <a:ext cx="3656104" cy="307777"/>
          </a:xfrm>
          <a:prstGeom prst="rect">
            <a:avLst/>
          </a:prstGeom>
          <a:solidFill>
            <a:srgbClr val="123C3E"/>
          </a:solidFill>
          <a:ln>
            <a:noFill/>
          </a:ln>
        </p:spPr>
        <p:txBody>
          <a:bodyPr wrap="square" lIns="91440" tIns="45720" rIns="91440" bIns="45720" rtlCol="0" anchor="t">
            <a:spAutoFit/>
          </a:bodyPr>
          <a:lstStyle/>
          <a:p>
            <a:pPr algn="ctr"/>
            <a:r>
              <a:rPr lang="en-GB" sz="1400" b="1" dirty="0" err="1">
                <a:solidFill>
                  <a:schemeClr val="bg1"/>
                </a:solidFill>
                <a:latin typeface="Cambria" panose="02040503050406030204" pitchFamily="18" charset="0"/>
                <a:ea typeface="Cambria" panose="02040503050406030204" pitchFamily="18" charset="0"/>
                <a:cs typeface="Calibri" panose="020F0502020204030204" pitchFamily="34" charset="0"/>
              </a:rPr>
              <a:t>PDx</a:t>
            </a:r>
            <a:r>
              <a:rPr lang="en-GB" sz="1400" b="1" dirty="0">
                <a:solidFill>
                  <a:schemeClr val="bg1"/>
                </a:solidFill>
                <a:latin typeface="Cambria" panose="02040503050406030204" pitchFamily="18" charset="0"/>
                <a:ea typeface="Cambria" panose="02040503050406030204" pitchFamily="18" charset="0"/>
                <a:cs typeface="Calibri" panose="020F0502020204030204" pitchFamily="34" charset="0"/>
              </a:rPr>
              <a:t> Rapid Growth ~ non SaaS </a:t>
            </a:r>
          </a:p>
        </p:txBody>
      </p:sp>
      <p:sp>
        <p:nvSpPr>
          <p:cNvPr id="34" name="TextBox 33">
            <a:extLst>
              <a:ext uri="{FF2B5EF4-FFF2-40B4-BE49-F238E27FC236}">
                <a16:creationId xmlns:a16="http://schemas.microsoft.com/office/drawing/2014/main" id="{B3805E38-A7AB-9353-B79C-A7209F800BFD}"/>
              </a:ext>
            </a:extLst>
          </p:cNvPr>
          <p:cNvSpPr txBox="1"/>
          <p:nvPr/>
        </p:nvSpPr>
        <p:spPr>
          <a:xfrm>
            <a:off x="8229905" y="575633"/>
            <a:ext cx="3733042" cy="307777"/>
          </a:xfrm>
          <a:prstGeom prst="rect">
            <a:avLst/>
          </a:prstGeom>
          <a:solidFill>
            <a:srgbClr val="123C3E"/>
          </a:solidFill>
          <a:ln>
            <a:noFill/>
          </a:ln>
        </p:spPr>
        <p:txBody>
          <a:bodyPr wrap="square" lIns="91440" tIns="45720" rIns="91440" bIns="45720" rtlCol="0" anchor="t">
            <a:spAutoFit/>
          </a:bodyPr>
          <a:lstStyle/>
          <a:p>
            <a:pPr algn="ctr"/>
            <a:r>
              <a:rPr lang="en-GB" sz="1400" b="1" dirty="0">
                <a:solidFill>
                  <a:schemeClr val="bg1"/>
                </a:solidFill>
                <a:latin typeface="Cambria" panose="02040503050406030204" pitchFamily="18" charset="0"/>
                <a:ea typeface="Cambria" panose="02040503050406030204" pitchFamily="18" charset="0"/>
                <a:cs typeface="Calibri" panose="020F0502020204030204" pitchFamily="34" charset="0"/>
              </a:rPr>
              <a:t>Margin Expansion </a:t>
            </a:r>
          </a:p>
        </p:txBody>
      </p:sp>
    </p:spTree>
    <p:extLst>
      <p:ext uri="{BB962C8B-B14F-4D97-AF65-F5344CB8AC3E}">
        <p14:creationId xmlns:p14="http://schemas.microsoft.com/office/powerpoint/2010/main" val="722457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1">
            <a:extLst>
              <a:ext uri="{FF2B5EF4-FFF2-40B4-BE49-F238E27FC236}">
                <a16:creationId xmlns:a16="http://schemas.microsoft.com/office/drawing/2014/main" id="{D74A391E-AC7E-3866-A39D-9849090D05E0}"/>
              </a:ext>
            </a:extLst>
          </p:cNvPr>
          <p:cNvSpPr/>
          <p:nvPr/>
        </p:nvSpPr>
        <p:spPr>
          <a:xfrm>
            <a:off x="54916" y="651976"/>
            <a:ext cx="3856143" cy="6206023"/>
          </a:xfrm>
          <a:prstGeom prst="roundRect">
            <a:avLst>
              <a:gd name="adj" fmla="val 8000"/>
            </a:avLst>
          </a:prstGeom>
          <a:solidFill>
            <a:srgbClr val="F5F2E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6" name="TextBox 5">
            <a:extLst>
              <a:ext uri="{FF2B5EF4-FFF2-40B4-BE49-F238E27FC236}">
                <a16:creationId xmlns:a16="http://schemas.microsoft.com/office/drawing/2014/main" id="{A29B33FC-E809-CE4E-D907-B349FFCE0FCE}"/>
              </a:ext>
            </a:extLst>
          </p:cNvPr>
          <p:cNvSpPr txBox="1"/>
          <p:nvPr/>
        </p:nvSpPr>
        <p:spPr>
          <a:xfrm>
            <a:off x="95093" y="221984"/>
            <a:ext cx="9301771" cy="369332"/>
          </a:xfrm>
          <a:prstGeom prst="rect">
            <a:avLst/>
          </a:prstGeom>
          <a:noFill/>
        </p:spPr>
        <p:txBody>
          <a:bodyPr wrap="square" rtlCol="0">
            <a:spAutoFit/>
          </a:bodyPr>
          <a:lstStyle/>
          <a:p>
            <a:r>
              <a:rPr lang="en-GB" b="1">
                <a:latin typeface="Cambria" panose="02040503050406030204" pitchFamily="18" charset="0"/>
                <a:ea typeface="Cambria" panose="02040503050406030204" pitchFamily="18" charset="0"/>
              </a:rPr>
              <a:t>2) FCF decline is temporary; the macro aperture recovery </a:t>
            </a:r>
          </a:p>
        </p:txBody>
      </p:sp>
      <p:sp>
        <p:nvSpPr>
          <p:cNvPr id="7" name="object 2">
            <a:extLst>
              <a:ext uri="{FF2B5EF4-FFF2-40B4-BE49-F238E27FC236}">
                <a16:creationId xmlns:a16="http://schemas.microsoft.com/office/drawing/2014/main" id="{F2CAEFE2-FF38-7304-996F-1478D227D030}"/>
              </a:ext>
            </a:extLst>
          </p:cNvPr>
          <p:cNvSpPr/>
          <p:nvPr/>
        </p:nvSpPr>
        <p:spPr>
          <a:xfrm rot="10800000">
            <a:off x="4079012" y="907735"/>
            <a:ext cx="8058071" cy="369332"/>
          </a:xfrm>
          <a:custGeom>
            <a:avLst/>
            <a:gdLst/>
            <a:ahLst/>
            <a:cxnLst/>
            <a:rect l="l" t="t" r="r" b="b"/>
            <a:pathLst>
              <a:path w="6044565">
                <a:moveTo>
                  <a:pt x="0" y="0"/>
                </a:moveTo>
                <a:lnTo>
                  <a:pt x="6044183" y="0"/>
                </a:lnTo>
              </a:path>
            </a:pathLst>
          </a:custGeom>
          <a:ln w="38108">
            <a:solidFill>
              <a:srgbClr val="014D4E"/>
            </a:solidFill>
          </a:ln>
        </p:spPr>
        <p:txBody>
          <a:bodyPr wrap="square" lIns="0" tIns="0" rIns="0" bIns="0" rtlCol="0"/>
          <a:lstStyle/>
          <a:p>
            <a:endParaRPr lang="en-GB" noProof="0"/>
          </a:p>
        </p:txBody>
      </p:sp>
      <p:sp>
        <p:nvSpPr>
          <p:cNvPr id="8" name="TextBox 7">
            <a:extLst>
              <a:ext uri="{FF2B5EF4-FFF2-40B4-BE49-F238E27FC236}">
                <a16:creationId xmlns:a16="http://schemas.microsoft.com/office/drawing/2014/main" id="{37A5B187-960D-81BB-10B6-8961DBA991A3}"/>
              </a:ext>
            </a:extLst>
          </p:cNvPr>
          <p:cNvSpPr txBox="1"/>
          <p:nvPr/>
        </p:nvSpPr>
        <p:spPr>
          <a:xfrm>
            <a:off x="4002675" y="676471"/>
            <a:ext cx="8310711" cy="523220"/>
          </a:xfrm>
          <a:prstGeom prst="rect">
            <a:avLst/>
          </a:prstGeom>
          <a:noFill/>
        </p:spPr>
        <p:txBody>
          <a:bodyPr wrap="square" rtlCol="0">
            <a:spAutoFit/>
          </a:bodyPr>
          <a:lstStyle/>
          <a:p>
            <a:r>
              <a:rPr lang="en-GB" sz="1400">
                <a:latin typeface="Cambria" panose="02040503050406030204" pitchFamily="18" charset="0"/>
                <a:ea typeface="Cambria" panose="02040503050406030204" pitchFamily="18" charset="0"/>
              </a:rPr>
              <a:t>Revenue grew 13% from FY22 to FY25 while FCF fell 17%. The quality of the business is strong however three specific drags are identifiable; China working capital, software development and equipment cycle lag. </a:t>
            </a:r>
          </a:p>
        </p:txBody>
      </p:sp>
      <p:sp>
        <p:nvSpPr>
          <p:cNvPr id="12" name="TextBox 11">
            <a:extLst>
              <a:ext uri="{FF2B5EF4-FFF2-40B4-BE49-F238E27FC236}">
                <a16:creationId xmlns:a16="http://schemas.microsoft.com/office/drawing/2014/main" id="{ADCA37CC-93E5-3A1F-3224-2BDB96864CD3}"/>
              </a:ext>
            </a:extLst>
          </p:cNvPr>
          <p:cNvSpPr txBox="1">
            <a:spLocks/>
          </p:cNvSpPr>
          <p:nvPr/>
        </p:nvSpPr>
        <p:spPr>
          <a:xfrm>
            <a:off x="146532" y="896553"/>
            <a:ext cx="3829050" cy="2893100"/>
          </a:xfrm>
          <a:prstGeom prst="rect">
            <a:avLst/>
          </a:prstGeom>
          <a:noFill/>
        </p:spPr>
        <p:txBody>
          <a:bodyPr wrap="square" rtlCol="0">
            <a:spAutoFit/>
          </a:bodyPr>
          <a:lstStyle/>
          <a:p>
            <a:r>
              <a:rPr lang="en-US" sz="1100">
                <a:latin typeface="Cambria" panose="02040503050406030204" pitchFamily="18" charset="0"/>
              </a:rPr>
              <a:t>Hospital terms extended from 60-90 days pre Covid to 120-180 days, locking approximately $400-500M of GEHC’s cash inside the Chinese receivables book.</a:t>
            </a:r>
          </a:p>
          <a:p>
            <a:pPr marL="285750" indent="-285750">
              <a:buFontTx/>
              <a:buChar char="-"/>
            </a:pPr>
            <a:endParaRPr lang="en-US" sz="1200">
              <a:latin typeface="Cambria" panose="02040503050406030204" pitchFamily="18" charset="0"/>
            </a:endParaRPr>
          </a:p>
          <a:p>
            <a:r>
              <a:rPr lang="en-US" sz="1100">
                <a:latin typeface="Cambria" panose="02040503050406030204" pitchFamily="18" charset="0"/>
              </a:rPr>
              <a:t>Payment flows through provincial government budgets, which collapsed when land sale revenue fell 44% from its 2021 peak to Y4.9T – cutting primary funding source for 37% of local government spending.</a:t>
            </a:r>
          </a:p>
          <a:p>
            <a:endParaRPr lang="en-US" sz="1200">
              <a:latin typeface="Cambria" panose="02040503050406030204" pitchFamily="18" charset="0"/>
            </a:endParaRPr>
          </a:p>
          <a:p>
            <a:r>
              <a:rPr lang="en-US" sz="1100">
                <a:latin typeface="Cambria" panose="02040503050406030204" pitchFamily="18" charset="0"/>
              </a:rPr>
              <a:t>Simultaneous anti-corruption crackdown targeting hospital procurements official caused purchasing decisions to slow further</a:t>
            </a:r>
          </a:p>
          <a:p>
            <a:pPr marL="285750" indent="-285750">
              <a:buFontTx/>
              <a:buChar char="-"/>
            </a:pPr>
            <a:endParaRPr lang="en-US" sz="1200">
              <a:latin typeface="Cambria" panose="02040503050406030204" pitchFamily="18" charset="0"/>
            </a:endParaRPr>
          </a:p>
          <a:p>
            <a:r>
              <a:rPr lang="en-US" sz="1100">
                <a:latin typeface="Cambria" panose="02040503050406030204" pitchFamily="18" charset="0"/>
              </a:rPr>
              <a:t>The result: GEHC shipped equipment, recognized revenue, but did not collect cash creating a disconnect between reported revenue and actual FCF</a:t>
            </a:r>
          </a:p>
        </p:txBody>
      </p:sp>
      <p:sp>
        <p:nvSpPr>
          <p:cNvPr id="9" name="object 2">
            <a:extLst>
              <a:ext uri="{FF2B5EF4-FFF2-40B4-BE49-F238E27FC236}">
                <a16:creationId xmlns:a16="http://schemas.microsoft.com/office/drawing/2014/main" id="{687699CA-F462-5B5E-8648-89D69B12A86B}"/>
              </a:ext>
            </a:extLst>
          </p:cNvPr>
          <p:cNvSpPr/>
          <p:nvPr/>
        </p:nvSpPr>
        <p:spPr>
          <a:xfrm rot="5400000">
            <a:off x="-127739" y="1148780"/>
            <a:ext cx="445675" cy="102869"/>
          </a:xfrm>
          <a:custGeom>
            <a:avLst/>
            <a:gdLst/>
            <a:ahLst/>
            <a:cxnLst/>
            <a:rect l="l" t="t" r="r" b="b"/>
            <a:pathLst>
              <a:path w="6044565">
                <a:moveTo>
                  <a:pt x="0" y="0"/>
                </a:moveTo>
                <a:lnTo>
                  <a:pt x="6044183" y="0"/>
                </a:lnTo>
              </a:path>
            </a:pathLst>
          </a:custGeom>
          <a:ln w="38108">
            <a:solidFill>
              <a:srgbClr val="C00000"/>
            </a:solidFill>
          </a:ln>
        </p:spPr>
        <p:txBody>
          <a:bodyPr wrap="square" lIns="0" tIns="0" rIns="0" bIns="0" rtlCol="0"/>
          <a:lstStyle/>
          <a:p>
            <a:endParaRPr lang="en-GB" noProof="0"/>
          </a:p>
        </p:txBody>
      </p:sp>
      <p:sp>
        <p:nvSpPr>
          <p:cNvPr id="19" name="object 2">
            <a:extLst>
              <a:ext uri="{FF2B5EF4-FFF2-40B4-BE49-F238E27FC236}">
                <a16:creationId xmlns:a16="http://schemas.microsoft.com/office/drawing/2014/main" id="{92B44D71-1395-1287-2731-3AA7E2256867}"/>
              </a:ext>
            </a:extLst>
          </p:cNvPr>
          <p:cNvSpPr/>
          <p:nvPr/>
        </p:nvSpPr>
        <p:spPr>
          <a:xfrm rot="5400000">
            <a:off x="-187734" y="1927143"/>
            <a:ext cx="565661" cy="102869"/>
          </a:xfrm>
          <a:custGeom>
            <a:avLst/>
            <a:gdLst/>
            <a:ahLst/>
            <a:cxnLst/>
            <a:rect l="l" t="t" r="r" b="b"/>
            <a:pathLst>
              <a:path w="6044565">
                <a:moveTo>
                  <a:pt x="0" y="0"/>
                </a:moveTo>
                <a:lnTo>
                  <a:pt x="6044183" y="0"/>
                </a:lnTo>
              </a:path>
            </a:pathLst>
          </a:custGeom>
          <a:ln w="38108">
            <a:solidFill>
              <a:srgbClr val="C00000"/>
            </a:solidFill>
          </a:ln>
        </p:spPr>
        <p:txBody>
          <a:bodyPr wrap="square" lIns="0" tIns="0" rIns="0" bIns="0" rtlCol="0"/>
          <a:lstStyle/>
          <a:p>
            <a:endParaRPr lang="en-GB" noProof="0"/>
          </a:p>
        </p:txBody>
      </p:sp>
      <p:sp>
        <p:nvSpPr>
          <p:cNvPr id="22" name="object 2">
            <a:extLst>
              <a:ext uri="{FF2B5EF4-FFF2-40B4-BE49-F238E27FC236}">
                <a16:creationId xmlns:a16="http://schemas.microsoft.com/office/drawing/2014/main" id="{9645A0BF-0A1C-6417-EFA5-606A7F73BE23}"/>
              </a:ext>
            </a:extLst>
          </p:cNvPr>
          <p:cNvSpPr/>
          <p:nvPr/>
        </p:nvSpPr>
        <p:spPr>
          <a:xfrm rot="5400000">
            <a:off x="-127742" y="2667252"/>
            <a:ext cx="445675" cy="102869"/>
          </a:xfrm>
          <a:custGeom>
            <a:avLst/>
            <a:gdLst/>
            <a:ahLst/>
            <a:cxnLst/>
            <a:rect l="l" t="t" r="r" b="b"/>
            <a:pathLst>
              <a:path w="6044565">
                <a:moveTo>
                  <a:pt x="0" y="0"/>
                </a:moveTo>
                <a:lnTo>
                  <a:pt x="6044183" y="0"/>
                </a:lnTo>
              </a:path>
            </a:pathLst>
          </a:custGeom>
          <a:ln w="38108">
            <a:solidFill>
              <a:srgbClr val="C00000"/>
            </a:solidFill>
          </a:ln>
        </p:spPr>
        <p:txBody>
          <a:bodyPr wrap="square" lIns="0" tIns="0" rIns="0" bIns="0" rtlCol="0"/>
          <a:lstStyle/>
          <a:p>
            <a:endParaRPr lang="en-GB" noProof="0"/>
          </a:p>
        </p:txBody>
      </p:sp>
      <p:sp>
        <p:nvSpPr>
          <p:cNvPr id="23" name="object 2">
            <a:extLst>
              <a:ext uri="{FF2B5EF4-FFF2-40B4-BE49-F238E27FC236}">
                <a16:creationId xmlns:a16="http://schemas.microsoft.com/office/drawing/2014/main" id="{4CDFC742-AD52-0840-1F03-46A2A75E3071}"/>
              </a:ext>
            </a:extLst>
          </p:cNvPr>
          <p:cNvSpPr/>
          <p:nvPr/>
        </p:nvSpPr>
        <p:spPr>
          <a:xfrm rot="5400000">
            <a:off x="-122007" y="3379885"/>
            <a:ext cx="434201" cy="102868"/>
          </a:xfrm>
          <a:custGeom>
            <a:avLst/>
            <a:gdLst/>
            <a:ahLst/>
            <a:cxnLst/>
            <a:rect l="l" t="t" r="r" b="b"/>
            <a:pathLst>
              <a:path w="6044565">
                <a:moveTo>
                  <a:pt x="0" y="0"/>
                </a:moveTo>
                <a:lnTo>
                  <a:pt x="6044183" y="0"/>
                </a:lnTo>
              </a:path>
            </a:pathLst>
          </a:custGeom>
          <a:ln w="38108">
            <a:solidFill>
              <a:srgbClr val="C00000"/>
            </a:solidFill>
          </a:ln>
        </p:spPr>
        <p:txBody>
          <a:bodyPr wrap="square" lIns="0" tIns="0" rIns="0" bIns="0" rtlCol="0"/>
          <a:lstStyle/>
          <a:p>
            <a:endParaRPr lang="en-GB" noProof="0"/>
          </a:p>
        </p:txBody>
      </p:sp>
      <p:sp>
        <p:nvSpPr>
          <p:cNvPr id="26" name="TextBox 25">
            <a:extLst>
              <a:ext uri="{FF2B5EF4-FFF2-40B4-BE49-F238E27FC236}">
                <a16:creationId xmlns:a16="http://schemas.microsoft.com/office/drawing/2014/main" id="{7448F831-4A61-9D55-9D64-9FF1A410E65C}"/>
              </a:ext>
            </a:extLst>
          </p:cNvPr>
          <p:cNvSpPr txBox="1">
            <a:spLocks/>
          </p:cNvSpPr>
          <p:nvPr/>
        </p:nvSpPr>
        <p:spPr>
          <a:xfrm>
            <a:off x="102868" y="4063538"/>
            <a:ext cx="3937637" cy="2985433"/>
          </a:xfrm>
          <a:prstGeom prst="rect">
            <a:avLst/>
          </a:prstGeom>
          <a:noFill/>
        </p:spPr>
        <p:txBody>
          <a:bodyPr wrap="square" rtlCol="0">
            <a:spAutoFit/>
          </a:bodyPr>
          <a:lstStyle/>
          <a:p>
            <a:r>
              <a:rPr lang="en-US" sz="1100">
                <a:latin typeface="Cambria" panose="02040503050406030204" pitchFamily="18" charset="0"/>
              </a:rPr>
              <a:t>Working Capital only absorbs cash when receivables are growing. China revenue has declined for three consecutive years.</a:t>
            </a:r>
          </a:p>
          <a:p>
            <a:endParaRPr lang="en-US" sz="1200">
              <a:latin typeface="Cambria" panose="02040503050406030204" pitchFamily="18" charset="0"/>
            </a:endParaRPr>
          </a:p>
          <a:p>
            <a:r>
              <a:rPr lang="en-US" sz="1100">
                <a:latin typeface="Cambria" panose="02040503050406030204" pitchFamily="18" charset="0"/>
              </a:rPr>
              <a:t>Beijing </a:t>
            </a:r>
            <a:r>
              <a:rPr lang="en-US" sz="1100" err="1">
                <a:latin typeface="Cambria" panose="02040503050406030204" pitchFamily="18" charset="0"/>
              </a:rPr>
              <a:t>authorising</a:t>
            </a:r>
            <a:r>
              <a:rPr lang="en-US" sz="1100">
                <a:latin typeface="Cambria" panose="02040503050406030204" pitchFamily="18" charset="0"/>
              </a:rPr>
              <a:t> RMB 4.4T in special purpose bonds in 2025 specifically to </a:t>
            </a:r>
            <a:r>
              <a:rPr lang="en-US" sz="1100" err="1">
                <a:latin typeface="Cambria" panose="02040503050406030204" pitchFamily="18" charset="0"/>
              </a:rPr>
              <a:t>recapitalise</a:t>
            </a:r>
            <a:r>
              <a:rPr lang="en-US" sz="1100">
                <a:latin typeface="Cambria" panose="02040503050406030204" pitchFamily="18" charset="0"/>
              </a:rPr>
              <a:t> local governments and clear payment backlogs. April 2025: first monthly land sale increase of the year (+4.3% YoY), tentative signal of </a:t>
            </a:r>
            <a:r>
              <a:rPr lang="en-US" sz="1100" err="1">
                <a:latin typeface="Cambria" panose="02040503050406030204" pitchFamily="18" charset="0"/>
              </a:rPr>
              <a:t>stablisation</a:t>
            </a:r>
            <a:r>
              <a:rPr lang="en-US" sz="1100">
                <a:latin typeface="Cambria" panose="02040503050406030204" pitchFamily="18" charset="0"/>
              </a:rPr>
              <a:t>.</a:t>
            </a:r>
          </a:p>
          <a:p>
            <a:endParaRPr lang="en-US" sz="1100">
              <a:latin typeface="Cambria" panose="02040503050406030204" pitchFamily="18" charset="0"/>
            </a:endParaRPr>
          </a:p>
          <a:p>
            <a:r>
              <a:rPr lang="en-US" sz="1100">
                <a:latin typeface="Cambria" panose="02040503050406030204" pitchFamily="18" charset="0"/>
              </a:rPr>
              <a:t>China bonds held during the Iran conflict at 1.81%,  Beijing retains the fiscal capacity to continue issuing without triggering a sovereign funding crisis. </a:t>
            </a:r>
          </a:p>
          <a:p>
            <a:endParaRPr lang="en-US" sz="1100">
              <a:latin typeface="Cambria" panose="02040503050406030204" pitchFamily="18" charset="0"/>
            </a:endParaRPr>
          </a:p>
          <a:p>
            <a:r>
              <a:rPr lang="en-US" sz="1100">
                <a:latin typeface="Cambria" panose="02040503050406030204" pitchFamily="18" charset="0"/>
              </a:rPr>
              <a:t>4.5B in cash GEHC can absorb the drag, proportionally reducing risk . USCAN and EMEA are replacing China volume on better payment terms. </a:t>
            </a:r>
          </a:p>
          <a:p>
            <a:endParaRPr lang="en-US" sz="1100">
              <a:latin typeface="Cambria" panose="02040503050406030204" pitchFamily="18" charset="0"/>
            </a:endParaRPr>
          </a:p>
        </p:txBody>
      </p:sp>
      <p:sp>
        <p:nvSpPr>
          <p:cNvPr id="29" name="object 2">
            <a:extLst>
              <a:ext uri="{FF2B5EF4-FFF2-40B4-BE49-F238E27FC236}">
                <a16:creationId xmlns:a16="http://schemas.microsoft.com/office/drawing/2014/main" id="{AB72CAA5-9726-16FF-9FC7-50A39584492F}"/>
              </a:ext>
            </a:extLst>
          </p:cNvPr>
          <p:cNvSpPr/>
          <p:nvPr/>
        </p:nvSpPr>
        <p:spPr>
          <a:xfrm rot="5400000">
            <a:off x="-171402" y="4315765"/>
            <a:ext cx="445675" cy="102869"/>
          </a:xfrm>
          <a:custGeom>
            <a:avLst/>
            <a:gdLst/>
            <a:ahLst/>
            <a:cxnLst/>
            <a:rect l="l" t="t" r="r" b="b"/>
            <a:pathLst>
              <a:path w="6044565">
                <a:moveTo>
                  <a:pt x="0" y="0"/>
                </a:moveTo>
                <a:lnTo>
                  <a:pt x="6044183" y="0"/>
                </a:lnTo>
              </a:path>
            </a:pathLst>
          </a:custGeom>
          <a:ln w="38108">
            <a:solidFill>
              <a:srgbClr val="00B050"/>
            </a:solidFill>
          </a:ln>
        </p:spPr>
        <p:txBody>
          <a:bodyPr wrap="square" lIns="0" tIns="0" rIns="0" bIns="0" rtlCol="0"/>
          <a:lstStyle/>
          <a:p>
            <a:endParaRPr lang="en-GB" noProof="0"/>
          </a:p>
        </p:txBody>
      </p:sp>
      <p:sp>
        <p:nvSpPr>
          <p:cNvPr id="30" name="object 2">
            <a:extLst>
              <a:ext uri="{FF2B5EF4-FFF2-40B4-BE49-F238E27FC236}">
                <a16:creationId xmlns:a16="http://schemas.microsoft.com/office/drawing/2014/main" id="{643C895A-2DA5-C774-968E-EEA3B82406BD}"/>
              </a:ext>
            </a:extLst>
          </p:cNvPr>
          <p:cNvSpPr/>
          <p:nvPr/>
        </p:nvSpPr>
        <p:spPr>
          <a:xfrm rot="5400000">
            <a:off x="-231397" y="5094128"/>
            <a:ext cx="565661" cy="102869"/>
          </a:xfrm>
          <a:custGeom>
            <a:avLst/>
            <a:gdLst/>
            <a:ahLst/>
            <a:cxnLst/>
            <a:rect l="l" t="t" r="r" b="b"/>
            <a:pathLst>
              <a:path w="6044565">
                <a:moveTo>
                  <a:pt x="0" y="0"/>
                </a:moveTo>
                <a:lnTo>
                  <a:pt x="6044183" y="0"/>
                </a:lnTo>
              </a:path>
            </a:pathLst>
          </a:custGeom>
          <a:ln w="38108">
            <a:solidFill>
              <a:srgbClr val="00B050"/>
            </a:solidFill>
          </a:ln>
        </p:spPr>
        <p:txBody>
          <a:bodyPr wrap="square" lIns="0" tIns="0" rIns="0" bIns="0" rtlCol="0"/>
          <a:lstStyle/>
          <a:p>
            <a:endParaRPr lang="en-GB" noProof="0"/>
          </a:p>
        </p:txBody>
      </p:sp>
      <p:sp>
        <p:nvSpPr>
          <p:cNvPr id="31" name="object 2">
            <a:extLst>
              <a:ext uri="{FF2B5EF4-FFF2-40B4-BE49-F238E27FC236}">
                <a16:creationId xmlns:a16="http://schemas.microsoft.com/office/drawing/2014/main" id="{9991CBF3-C806-7D9E-F5FC-9FE44509E3A6}"/>
              </a:ext>
            </a:extLst>
          </p:cNvPr>
          <p:cNvSpPr/>
          <p:nvPr/>
        </p:nvSpPr>
        <p:spPr>
          <a:xfrm rot="5400000">
            <a:off x="-171405" y="5834237"/>
            <a:ext cx="445675" cy="102869"/>
          </a:xfrm>
          <a:custGeom>
            <a:avLst/>
            <a:gdLst/>
            <a:ahLst/>
            <a:cxnLst/>
            <a:rect l="l" t="t" r="r" b="b"/>
            <a:pathLst>
              <a:path w="6044565">
                <a:moveTo>
                  <a:pt x="0" y="0"/>
                </a:moveTo>
                <a:lnTo>
                  <a:pt x="6044183" y="0"/>
                </a:lnTo>
              </a:path>
            </a:pathLst>
          </a:custGeom>
          <a:ln w="38108">
            <a:solidFill>
              <a:srgbClr val="00B050"/>
            </a:solidFill>
          </a:ln>
        </p:spPr>
        <p:txBody>
          <a:bodyPr wrap="square" lIns="0" tIns="0" rIns="0" bIns="0" rtlCol="0"/>
          <a:lstStyle/>
          <a:p>
            <a:endParaRPr lang="en-GB" noProof="0"/>
          </a:p>
        </p:txBody>
      </p:sp>
      <p:sp>
        <p:nvSpPr>
          <p:cNvPr id="32" name="object 2">
            <a:extLst>
              <a:ext uri="{FF2B5EF4-FFF2-40B4-BE49-F238E27FC236}">
                <a16:creationId xmlns:a16="http://schemas.microsoft.com/office/drawing/2014/main" id="{ADD47006-B8B4-500D-065F-A382D8607E83}"/>
              </a:ext>
            </a:extLst>
          </p:cNvPr>
          <p:cNvSpPr/>
          <p:nvPr/>
        </p:nvSpPr>
        <p:spPr>
          <a:xfrm rot="5400000">
            <a:off x="-165670" y="6444299"/>
            <a:ext cx="434201" cy="102868"/>
          </a:xfrm>
          <a:custGeom>
            <a:avLst/>
            <a:gdLst/>
            <a:ahLst/>
            <a:cxnLst/>
            <a:rect l="l" t="t" r="r" b="b"/>
            <a:pathLst>
              <a:path w="6044565">
                <a:moveTo>
                  <a:pt x="0" y="0"/>
                </a:moveTo>
                <a:lnTo>
                  <a:pt x="6044183" y="0"/>
                </a:lnTo>
              </a:path>
            </a:pathLst>
          </a:custGeom>
          <a:ln w="38108">
            <a:solidFill>
              <a:srgbClr val="00B050"/>
            </a:solidFill>
          </a:ln>
        </p:spPr>
        <p:txBody>
          <a:bodyPr wrap="square" lIns="0" tIns="0" rIns="0" bIns="0" rtlCol="0"/>
          <a:lstStyle/>
          <a:p>
            <a:endParaRPr lang="en-GB" noProof="0"/>
          </a:p>
        </p:txBody>
      </p:sp>
      <p:graphicFrame>
        <p:nvGraphicFramePr>
          <p:cNvPr id="10" name="Chart 0">
            <a:extLst>
              <a:ext uri="{FF2B5EF4-FFF2-40B4-BE49-F238E27FC236}">
                <a16:creationId xmlns:a16="http://schemas.microsoft.com/office/drawing/2014/main" id="{84A2024B-CCE4-0BEA-B38D-D6D7385125B6}"/>
              </a:ext>
            </a:extLst>
          </p:cNvPr>
          <p:cNvGraphicFramePr/>
          <p:nvPr>
            <p:extLst>
              <p:ext uri="{D42A27DB-BD31-4B8C-83A1-F6EECF244321}">
                <p14:modId xmlns:p14="http://schemas.microsoft.com/office/powerpoint/2010/main" val="1349236498"/>
              </p:ext>
            </p:extLst>
          </p:nvPr>
        </p:nvGraphicFramePr>
        <p:xfrm>
          <a:off x="4312407" y="1538566"/>
          <a:ext cx="3313826" cy="227920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
            <a:extLst>
              <a:ext uri="{FF2B5EF4-FFF2-40B4-BE49-F238E27FC236}">
                <a16:creationId xmlns:a16="http://schemas.microsoft.com/office/drawing/2014/main" id="{1CA3E6F5-8BF7-AF27-55F1-82DD6377CA6D}"/>
              </a:ext>
            </a:extLst>
          </p:cNvPr>
          <p:cNvGraphicFramePr/>
          <p:nvPr>
            <p:extLst>
              <p:ext uri="{D42A27DB-BD31-4B8C-83A1-F6EECF244321}">
                <p14:modId xmlns:p14="http://schemas.microsoft.com/office/powerpoint/2010/main" val="803457390"/>
              </p:ext>
            </p:extLst>
          </p:nvPr>
        </p:nvGraphicFramePr>
        <p:xfrm>
          <a:off x="8108047" y="1695747"/>
          <a:ext cx="3566160" cy="21220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3">
            <a:extLst>
              <a:ext uri="{FF2B5EF4-FFF2-40B4-BE49-F238E27FC236}">
                <a16:creationId xmlns:a16="http://schemas.microsoft.com/office/drawing/2014/main" id="{2A89C21F-C1AE-EC1A-6C94-DCCAE262A26A}"/>
              </a:ext>
            </a:extLst>
          </p:cNvPr>
          <p:cNvGraphicFramePr/>
          <p:nvPr>
            <p:extLst>
              <p:ext uri="{D42A27DB-BD31-4B8C-83A1-F6EECF244321}">
                <p14:modId xmlns:p14="http://schemas.microsoft.com/office/powerpoint/2010/main" val="2523834672"/>
              </p:ext>
            </p:extLst>
          </p:nvPr>
        </p:nvGraphicFramePr>
        <p:xfrm>
          <a:off x="8108047" y="4463236"/>
          <a:ext cx="3566160" cy="236382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2">
            <a:extLst>
              <a:ext uri="{FF2B5EF4-FFF2-40B4-BE49-F238E27FC236}">
                <a16:creationId xmlns:a16="http://schemas.microsoft.com/office/drawing/2014/main" id="{23D0A849-9EB3-E188-F673-EEBA855B380D}"/>
              </a:ext>
            </a:extLst>
          </p:cNvPr>
          <p:cNvGraphicFramePr/>
          <p:nvPr>
            <p:extLst>
              <p:ext uri="{D42A27DB-BD31-4B8C-83A1-F6EECF244321}">
                <p14:modId xmlns:p14="http://schemas.microsoft.com/office/powerpoint/2010/main" val="60466118"/>
              </p:ext>
            </p:extLst>
          </p:nvPr>
        </p:nvGraphicFramePr>
        <p:xfrm>
          <a:off x="4312407" y="4429379"/>
          <a:ext cx="3313826" cy="2397682"/>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a:extLst>
              <a:ext uri="{FF2B5EF4-FFF2-40B4-BE49-F238E27FC236}">
                <a16:creationId xmlns:a16="http://schemas.microsoft.com/office/drawing/2014/main" id="{C8757DB7-3DBF-5BB9-E2B4-1141875202A0}"/>
              </a:ext>
            </a:extLst>
          </p:cNvPr>
          <p:cNvSpPr txBox="1"/>
          <p:nvPr/>
        </p:nvSpPr>
        <p:spPr>
          <a:xfrm>
            <a:off x="102865" y="30939"/>
            <a:ext cx="7315200" cy="169277"/>
          </a:xfrm>
          <a:prstGeom prst="rect">
            <a:avLst/>
          </a:prstGeom>
          <a:noFill/>
        </p:spPr>
        <p:txBody>
          <a:bodyPr wrap="square" lIns="0" tIns="0" rIns="0" bIns="0" anchor="t">
            <a:spAutoFit/>
          </a:bodyPr>
          <a:lstStyle/>
          <a:p>
            <a:r>
              <a:rPr lang="en-GB" sz="1100" b="1">
                <a:solidFill>
                  <a:srgbClr val="D8975E"/>
                </a:solidFill>
                <a:latin typeface="Calibri"/>
              </a:rPr>
              <a:t>05 </a:t>
            </a:r>
            <a:r>
              <a:rPr sz="1100" b="1" i="0">
                <a:solidFill>
                  <a:srgbClr val="D8975E"/>
                </a:solidFill>
                <a:latin typeface="Calibri"/>
              </a:rPr>
              <a:t>/ </a:t>
            </a:r>
            <a:r>
              <a:rPr lang="en-GB" sz="1100" b="1">
                <a:solidFill>
                  <a:srgbClr val="D8975E"/>
                </a:solidFill>
                <a:latin typeface="Calibri"/>
              </a:rPr>
              <a:t>INVESTMENT THESIS: PART 2</a:t>
            </a:r>
            <a:endParaRPr lang="en-GB" sz="1100" b="1" i="0">
              <a:solidFill>
                <a:srgbClr val="D8975E"/>
              </a:solidFill>
              <a:latin typeface="Calibri"/>
              <a:ea typeface="Calibri"/>
              <a:cs typeface="Calibri"/>
            </a:endParaRPr>
          </a:p>
        </p:txBody>
      </p:sp>
      <p:sp>
        <p:nvSpPr>
          <p:cNvPr id="20" name="TextBox 19">
            <a:extLst>
              <a:ext uri="{FF2B5EF4-FFF2-40B4-BE49-F238E27FC236}">
                <a16:creationId xmlns:a16="http://schemas.microsoft.com/office/drawing/2014/main" id="{DA94CFC6-D53B-96EB-47E7-1A50AB2A91D3}"/>
              </a:ext>
            </a:extLst>
          </p:cNvPr>
          <p:cNvSpPr txBox="1"/>
          <p:nvPr/>
        </p:nvSpPr>
        <p:spPr>
          <a:xfrm>
            <a:off x="4312407" y="1384678"/>
            <a:ext cx="3313826" cy="276999"/>
          </a:xfrm>
          <a:prstGeom prst="rect">
            <a:avLst/>
          </a:prstGeom>
          <a:solidFill>
            <a:srgbClr val="123C3E"/>
          </a:solidFill>
        </p:spPr>
        <p:txBody>
          <a:bodyPr wrap="square" rtlCol="0">
            <a:spAutoFit/>
          </a:bodyPr>
          <a:lstStyle/>
          <a:p>
            <a:r>
              <a:rPr lang="en-US" sz="1200">
                <a:solidFill>
                  <a:srgbClr val="FEFDFC"/>
                </a:solidFill>
                <a:latin typeface="Cambria" panose="02040503050406030204" pitchFamily="18" charset="0"/>
              </a:rPr>
              <a:t>China DSO:8.6 days of cash trapped</a:t>
            </a:r>
          </a:p>
        </p:txBody>
      </p:sp>
      <p:sp>
        <p:nvSpPr>
          <p:cNvPr id="21" name="TextBox 20">
            <a:extLst>
              <a:ext uri="{FF2B5EF4-FFF2-40B4-BE49-F238E27FC236}">
                <a16:creationId xmlns:a16="http://schemas.microsoft.com/office/drawing/2014/main" id="{2B4EBAFE-952F-1B85-BC40-B2D36FC48490}"/>
              </a:ext>
            </a:extLst>
          </p:cNvPr>
          <p:cNvSpPr txBox="1"/>
          <p:nvPr/>
        </p:nvSpPr>
        <p:spPr>
          <a:xfrm>
            <a:off x="4345883" y="4186236"/>
            <a:ext cx="3280350" cy="276999"/>
          </a:xfrm>
          <a:prstGeom prst="rect">
            <a:avLst/>
          </a:prstGeom>
          <a:solidFill>
            <a:srgbClr val="123C3E"/>
          </a:solidFill>
        </p:spPr>
        <p:txBody>
          <a:bodyPr wrap="square" rtlCol="0">
            <a:spAutoFit/>
          </a:bodyPr>
          <a:lstStyle/>
          <a:p>
            <a:r>
              <a:rPr lang="en-US" sz="1200">
                <a:solidFill>
                  <a:srgbClr val="FEFDFC"/>
                </a:solidFill>
                <a:latin typeface="Cambria" panose="02040503050406030204" pitchFamily="18" charset="0"/>
              </a:rPr>
              <a:t>China Revenue Decline: RPO growing</a:t>
            </a:r>
          </a:p>
        </p:txBody>
      </p:sp>
      <p:sp>
        <p:nvSpPr>
          <p:cNvPr id="24" name="TextBox 23">
            <a:extLst>
              <a:ext uri="{FF2B5EF4-FFF2-40B4-BE49-F238E27FC236}">
                <a16:creationId xmlns:a16="http://schemas.microsoft.com/office/drawing/2014/main" id="{6B21A870-1337-2D02-FEA8-FD41C8AB9E07}"/>
              </a:ext>
            </a:extLst>
          </p:cNvPr>
          <p:cNvSpPr txBox="1"/>
          <p:nvPr/>
        </p:nvSpPr>
        <p:spPr>
          <a:xfrm>
            <a:off x="8108047" y="1384678"/>
            <a:ext cx="3566160" cy="276999"/>
          </a:xfrm>
          <a:prstGeom prst="rect">
            <a:avLst/>
          </a:prstGeom>
          <a:solidFill>
            <a:srgbClr val="123C3E"/>
          </a:solidFill>
        </p:spPr>
        <p:txBody>
          <a:bodyPr wrap="square" rtlCol="0">
            <a:spAutoFit/>
          </a:bodyPr>
          <a:lstStyle/>
          <a:p>
            <a:r>
              <a:rPr lang="en-US" sz="1200">
                <a:solidFill>
                  <a:srgbClr val="FEFDFC"/>
                </a:solidFill>
                <a:latin typeface="Cambria" panose="02040503050406030204" pitchFamily="18" charset="0"/>
              </a:rPr>
              <a:t>Trapped Cash Estimate – Three Scenario (m)</a:t>
            </a:r>
          </a:p>
        </p:txBody>
      </p:sp>
      <p:sp>
        <p:nvSpPr>
          <p:cNvPr id="25" name="TextBox 24">
            <a:extLst>
              <a:ext uri="{FF2B5EF4-FFF2-40B4-BE49-F238E27FC236}">
                <a16:creationId xmlns:a16="http://schemas.microsoft.com/office/drawing/2014/main" id="{C0D563E7-6AD4-BAB7-E4CA-7FBBC3C7549B}"/>
              </a:ext>
            </a:extLst>
          </p:cNvPr>
          <p:cNvSpPr txBox="1"/>
          <p:nvPr/>
        </p:nvSpPr>
        <p:spPr>
          <a:xfrm>
            <a:off x="8108047" y="4186235"/>
            <a:ext cx="3566160" cy="276999"/>
          </a:xfrm>
          <a:prstGeom prst="rect">
            <a:avLst/>
          </a:prstGeom>
          <a:solidFill>
            <a:srgbClr val="123C3E"/>
          </a:solidFill>
        </p:spPr>
        <p:txBody>
          <a:bodyPr wrap="square" rtlCol="0">
            <a:spAutoFit/>
          </a:bodyPr>
          <a:lstStyle/>
          <a:p>
            <a:r>
              <a:rPr lang="en-US" sz="1200">
                <a:solidFill>
                  <a:srgbClr val="FEFDFC"/>
                </a:solidFill>
                <a:latin typeface="Cambria" panose="02040503050406030204" pitchFamily="18" charset="0"/>
              </a:rPr>
              <a:t>UFCF Recovery Path – China Unlock adds to Bull</a:t>
            </a:r>
          </a:p>
        </p:txBody>
      </p:sp>
    </p:spTree>
    <p:extLst>
      <p:ext uri="{BB962C8B-B14F-4D97-AF65-F5344CB8AC3E}">
        <p14:creationId xmlns:p14="http://schemas.microsoft.com/office/powerpoint/2010/main" val="1332238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E57AB3C-A6F0-6657-232B-3B9FAC47D458}"/>
              </a:ext>
            </a:extLst>
          </p:cNvPr>
          <p:cNvSpPr txBox="1"/>
          <p:nvPr/>
        </p:nvSpPr>
        <p:spPr>
          <a:xfrm>
            <a:off x="158261" y="94378"/>
            <a:ext cx="7315200" cy="169277"/>
          </a:xfrm>
          <a:prstGeom prst="rect">
            <a:avLst/>
          </a:prstGeom>
          <a:noFill/>
        </p:spPr>
        <p:txBody>
          <a:bodyPr wrap="square" lIns="0" tIns="0" rIns="0" bIns="0" anchor="t">
            <a:spAutoFit/>
          </a:bodyPr>
          <a:lstStyle/>
          <a:p>
            <a:r>
              <a:rPr lang="en-GB" sz="1100" b="1">
                <a:solidFill>
                  <a:srgbClr val="D8975E"/>
                </a:solidFill>
                <a:latin typeface="Calibri"/>
              </a:rPr>
              <a:t>06 </a:t>
            </a:r>
            <a:r>
              <a:rPr sz="1100" b="1" i="0">
                <a:solidFill>
                  <a:srgbClr val="D8975E"/>
                </a:solidFill>
                <a:latin typeface="Calibri"/>
              </a:rPr>
              <a:t>/</a:t>
            </a:r>
            <a:r>
              <a:rPr lang="en-GB" sz="1100" b="1" i="0">
                <a:solidFill>
                  <a:srgbClr val="D8975E"/>
                </a:solidFill>
                <a:latin typeface="Calibri"/>
              </a:rPr>
              <a:t> VALUATION</a:t>
            </a:r>
            <a:r>
              <a:rPr sz="1100" b="1" i="0">
                <a:solidFill>
                  <a:srgbClr val="D8975E"/>
                </a:solidFill>
                <a:latin typeface="Calibri"/>
              </a:rPr>
              <a:t> </a:t>
            </a:r>
            <a:r>
              <a:rPr lang="en-GB" sz="1100" b="1">
                <a:solidFill>
                  <a:srgbClr val="D8975E"/>
                </a:solidFill>
                <a:latin typeface="Calibri"/>
              </a:rPr>
              <a:t>INVESTMENT THESIS: PART 3</a:t>
            </a:r>
            <a:endParaRPr lang="en-GB" sz="1100" b="1" i="0">
              <a:solidFill>
                <a:srgbClr val="D8975E"/>
              </a:solidFill>
              <a:latin typeface="Calibri"/>
              <a:ea typeface="Calibri"/>
              <a:cs typeface="Calibri"/>
            </a:endParaRPr>
          </a:p>
        </p:txBody>
      </p:sp>
      <p:sp>
        <p:nvSpPr>
          <p:cNvPr id="10" name="Shape 21">
            <a:extLst>
              <a:ext uri="{FF2B5EF4-FFF2-40B4-BE49-F238E27FC236}">
                <a16:creationId xmlns:a16="http://schemas.microsoft.com/office/drawing/2014/main" id="{6E08BFA9-7FBE-D433-78E1-31F5894060AB}"/>
              </a:ext>
            </a:extLst>
          </p:cNvPr>
          <p:cNvSpPr/>
          <p:nvPr/>
        </p:nvSpPr>
        <p:spPr>
          <a:xfrm>
            <a:off x="272395" y="638559"/>
            <a:ext cx="11521440" cy="0"/>
          </a:xfrm>
          <a:prstGeom prst="line">
            <a:avLst/>
          </a:prstGeom>
          <a:noFill/>
          <a:ln w="6350">
            <a:solidFill>
              <a:srgbClr val="DDDDDD"/>
            </a:solidFill>
            <a:prstDash val="solid"/>
          </a:ln>
        </p:spPr>
        <p:txBody>
          <a:bodyPr/>
          <a:lstStyle/>
          <a:p>
            <a:endParaRPr lang="en-GB"/>
          </a:p>
        </p:txBody>
      </p:sp>
      <p:sp>
        <p:nvSpPr>
          <p:cNvPr id="28" name="Shape 39">
            <a:extLst>
              <a:ext uri="{FF2B5EF4-FFF2-40B4-BE49-F238E27FC236}">
                <a16:creationId xmlns:a16="http://schemas.microsoft.com/office/drawing/2014/main" id="{D0538763-9280-7C53-3DD4-F9BAADD01A0F}"/>
              </a:ext>
            </a:extLst>
          </p:cNvPr>
          <p:cNvSpPr/>
          <p:nvPr/>
        </p:nvSpPr>
        <p:spPr>
          <a:xfrm>
            <a:off x="3002525" y="949455"/>
            <a:ext cx="5369" cy="386027"/>
          </a:xfrm>
          <a:prstGeom prst="line">
            <a:avLst/>
          </a:prstGeom>
          <a:noFill/>
          <a:ln w="22225">
            <a:solidFill>
              <a:srgbClr val="C00000"/>
            </a:solidFill>
            <a:prstDash val="solid"/>
          </a:ln>
        </p:spPr>
        <p:txBody>
          <a:bodyPr/>
          <a:lstStyle/>
          <a:p>
            <a:endParaRPr lang="en-GB"/>
          </a:p>
        </p:txBody>
      </p:sp>
      <p:grpSp>
        <p:nvGrpSpPr>
          <p:cNvPr id="151" name="Group 150">
            <a:extLst>
              <a:ext uri="{FF2B5EF4-FFF2-40B4-BE49-F238E27FC236}">
                <a16:creationId xmlns:a16="http://schemas.microsoft.com/office/drawing/2014/main" id="{22912381-D3DC-B472-2B78-E0D019A63F81}"/>
              </a:ext>
            </a:extLst>
          </p:cNvPr>
          <p:cNvGrpSpPr/>
          <p:nvPr/>
        </p:nvGrpSpPr>
        <p:grpSpPr>
          <a:xfrm>
            <a:off x="2804518" y="1255033"/>
            <a:ext cx="768096" cy="201168"/>
            <a:chOff x="2654573" y="263655"/>
            <a:chExt cx="768096" cy="201168"/>
          </a:xfrm>
        </p:grpSpPr>
        <p:sp>
          <p:nvSpPr>
            <p:cNvPr id="29" name="Shape 40">
              <a:extLst>
                <a:ext uri="{FF2B5EF4-FFF2-40B4-BE49-F238E27FC236}">
                  <a16:creationId xmlns:a16="http://schemas.microsoft.com/office/drawing/2014/main" id="{833854CA-4D8F-2E10-5194-EA7F1CAF2FB1}"/>
                </a:ext>
              </a:extLst>
            </p:cNvPr>
            <p:cNvSpPr/>
            <p:nvPr/>
          </p:nvSpPr>
          <p:spPr>
            <a:xfrm>
              <a:off x="2654573" y="263655"/>
              <a:ext cx="768096" cy="201168"/>
            </a:xfrm>
            <a:prstGeom prst="rect">
              <a:avLst/>
            </a:prstGeom>
            <a:solidFill>
              <a:srgbClr val="C00000"/>
            </a:solidFill>
            <a:ln w="12700">
              <a:solidFill>
                <a:srgbClr val="C00000"/>
              </a:solidFill>
              <a:prstDash val="solid"/>
            </a:ln>
          </p:spPr>
          <p:txBody>
            <a:bodyPr/>
            <a:lstStyle/>
            <a:p>
              <a:endParaRPr lang="en-GB"/>
            </a:p>
          </p:txBody>
        </p:sp>
        <p:sp>
          <p:nvSpPr>
            <p:cNvPr id="30" name="Text 41">
              <a:extLst>
                <a:ext uri="{FF2B5EF4-FFF2-40B4-BE49-F238E27FC236}">
                  <a16:creationId xmlns:a16="http://schemas.microsoft.com/office/drawing/2014/main" id="{131EF453-B4F1-9EAF-6920-F5DE6DA93620}"/>
                </a:ext>
              </a:extLst>
            </p:cNvPr>
            <p:cNvSpPr/>
            <p:nvPr/>
          </p:nvSpPr>
          <p:spPr>
            <a:xfrm>
              <a:off x="2654573" y="263655"/>
              <a:ext cx="768096" cy="20116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b="1">
                  <a:solidFill>
                    <a:srgbClr val="FFFFFF"/>
                  </a:solidFill>
                  <a:latin typeface="Calibri" pitchFamily="34" charset="0"/>
                  <a:ea typeface="Calibri" pitchFamily="34" charset="-122"/>
                  <a:cs typeface="Calibri" pitchFamily="34" charset="-120"/>
                </a:rPr>
                <a:t>CURRENT  $61.00</a:t>
              </a:r>
              <a:endParaRPr lang="en-US" sz="700"/>
            </a:p>
          </p:txBody>
        </p:sp>
      </p:grpSp>
      <p:sp>
        <p:nvSpPr>
          <p:cNvPr id="11" name="Shape 22">
            <a:extLst>
              <a:ext uri="{FF2B5EF4-FFF2-40B4-BE49-F238E27FC236}">
                <a16:creationId xmlns:a16="http://schemas.microsoft.com/office/drawing/2014/main" id="{EA993D89-DEF6-9C53-7C40-BD8F0C6ED387}"/>
              </a:ext>
            </a:extLst>
          </p:cNvPr>
          <p:cNvSpPr/>
          <p:nvPr/>
        </p:nvSpPr>
        <p:spPr>
          <a:xfrm>
            <a:off x="272395" y="897923"/>
            <a:ext cx="2880360" cy="201168"/>
          </a:xfrm>
          <a:prstGeom prst="rect">
            <a:avLst/>
          </a:prstGeom>
          <a:solidFill>
            <a:srgbClr val="FFEAEA"/>
          </a:solidFill>
          <a:ln w="12700">
            <a:solidFill>
              <a:srgbClr val="FFEAEA"/>
            </a:solidFill>
            <a:prstDash val="solid"/>
          </a:ln>
        </p:spPr>
        <p:txBody>
          <a:bodyPr/>
          <a:lstStyle/>
          <a:p>
            <a:endParaRPr lang="en-GB"/>
          </a:p>
        </p:txBody>
      </p:sp>
      <p:sp>
        <p:nvSpPr>
          <p:cNvPr id="12" name="Shape 23">
            <a:extLst>
              <a:ext uri="{FF2B5EF4-FFF2-40B4-BE49-F238E27FC236}">
                <a16:creationId xmlns:a16="http://schemas.microsoft.com/office/drawing/2014/main" id="{0F6FA976-DB06-DB5F-EA10-E135F7E583EC}"/>
              </a:ext>
            </a:extLst>
          </p:cNvPr>
          <p:cNvSpPr/>
          <p:nvPr/>
        </p:nvSpPr>
        <p:spPr>
          <a:xfrm>
            <a:off x="3152755" y="897923"/>
            <a:ext cx="8641080" cy="201168"/>
          </a:xfrm>
          <a:prstGeom prst="rect">
            <a:avLst/>
          </a:prstGeom>
          <a:solidFill>
            <a:srgbClr val="EAF4EF"/>
          </a:solidFill>
          <a:ln w="12700">
            <a:solidFill>
              <a:srgbClr val="EAF4EF"/>
            </a:solidFill>
            <a:prstDash val="solid"/>
          </a:ln>
        </p:spPr>
        <p:txBody>
          <a:bodyPr/>
          <a:lstStyle/>
          <a:p>
            <a:endParaRPr lang="en-GB"/>
          </a:p>
        </p:txBody>
      </p:sp>
      <p:sp>
        <p:nvSpPr>
          <p:cNvPr id="13" name="Shape 24">
            <a:extLst>
              <a:ext uri="{FF2B5EF4-FFF2-40B4-BE49-F238E27FC236}">
                <a16:creationId xmlns:a16="http://schemas.microsoft.com/office/drawing/2014/main" id="{EFFA427D-B509-BC2A-58ED-006A2D82CF77}"/>
              </a:ext>
            </a:extLst>
          </p:cNvPr>
          <p:cNvSpPr/>
          <p:nvPr/>
        </p:nvSpPr>
        <p:spPr>
          <a:xfrm>
            <a:off x="272395" y="897923"/>
            <a:ext cx="11521440" cy="201168"/>
          </a:xfrm>
          <a:prstGeom prst="rect">
            <a:avLst/>
          </a:prstGeom>
          <a:ln w="9525">
            <a:solidFill>
              <a:srgbClr val="DDDDDD"/>
            </a:solidFill>
            <a:prstDash val="solid"/>
          </a:ln>
        </p:spPr>
        <p:txBody>
          <a:bodyPr/>
          <a:lstStyle/>
          <a:p>
            <a:endParaRPr lang="en-GB"/>
          </a:p>
        </p:txBody>
      </p:sp>
      <p:sp>
        <p:nvSpPr>
          <p:cNvPr id="14" name="Shape 25">
            <a:extLst>
              <a:ext uri="{FF2B5EF4-FFF2-40B4-BE49-F238E27FC236}">
                <a16:creationId xmlns:a16="http://schemas.microsoft.com/office/drawing/2014/main" id="{0CB6251D-8327-90C0-F79D-9A22978B7A11}"/>
              </a:ext>
            </a:extLst>
          </p:cNvPr>
          <p:cNvSpPr/>
          <p:nvPr/>
        </p:nvSpPr>
        <p:spPr>
          <a:xfrm>
            <a:off x="1485178" y="843059"/>
            <a:ext cx="0" cy="54864"/>
          </a:xfrm>
          <a:prstGeom prst="line">
            <a:avLst/>
          </a:prstGeom>
          <a:noFill/>
          <a:ln w="6350">
            <a:solidFill>
              <a:srgbClr val="DDDDDD"/>
            </a:solidFill>
            <a:prstDash val="solid"/>
          </a:ln>
        </p:spPr>
        <p:txBody>
          <a:bodyPr/>
          <a:lstStyle/>
          <a:p>
            <a:endParaRPr lang="en-GB"/>
          </a:p>
        </p:txBody>
      </p:sp>
      <p:sp>
        <p:nvSpPr>
          <p:cNvPr id="15" name="Text 26">
            <a:extLst>
              <a:ext uri="{FF2B5EF4-FFF2-40B4-BE49-F238E27FC236}">
                <a16:creationId xmlns:a16="http://schemas.microsoft.com/office/drawing/2014/main" id="{A62CC06E-62AF-DBE3-91EF-543CC392C176}"/>
              </a:ext>
            </a:extLst>
          </p:cNvPr>
          <p:cNvSpPr/>
          <p:nvPr/>
        </p:nvSpPr>
        <p:spPr>
          <a:xfrm>
            <a:off x="1320586"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$50</a:t>
            </a:r>
            <a:endParaRPr lang="en-US" sz="650"/>
          </a:p>
        </p:txBody>
      </p:sp>
      <p:sp>
        <p:nvSpPr>
          <p:cNvPr id="16" name="Shape 27">
            <a:extLst>
              <a:ext uri="{FF2B5EF4-FFF2-40B4-BE49-F238E27FC236}">
                <a16:creationId xmlns:a16="http://schemas.microsoft.com/office/drawing/2014/main" id="{286ABCCB-691C-2E1C-DF9E-BED2B1120B3A}"/>
              </a:ext>
            </a:extLst>
          </p:cNvPr>
          <p:cNvSpPr/>
          <p:nvPr/>
        </p:nvSpPr>
        <p:spPr>
          <a:xfrm>
            <a:off x="3001157" y="843059"/>
            <a:ext cx="0" cy="54864"/>
          </a:xfrm>
          <a:prstGeom prst="line">
            <a:avLst/>
          </a:prstGeom>
          <a:noFill/>
          <a:ln w="6350">
            <a:solidFill>
              <a:srgbClr val="DDDDDD"/>
            </a:solidFill>
            <a:prstDash val="solid"/>
          </a:ln>
        </p:spPr>
        <p:txBody>
          <a:bodyPr/>
          <a:lstStyle/>
          <a:p>
            <a:endParaRPr lang="en-GB"/>
          </a:p>
        </p:txBody>
      </p:sp>
      <p:sp>
        <p:nvSpPr>
          <p:cNvPr id="17" name="Text 28">
            <a:extLst>
              <a:ext uri="{FF2B5EF4-FFF2-40B4-BE49-F238E27FC236}">
                <a16:creationId xmlns:a16="http://schemas.microsoft.com/office/drawing/2014/main" id="{B1C30169-73C4-A50F-DDF6-2BEDEC1C0069}"/>
              </a:ext>
            </a:extLst>
          </p:cNvPr>
          <p:cNvSpPr/>
          <p:nvPr/>
        </p:nvSpPr>
        <p:spPr>
          <a:xfrm>
            <a:off x="2836565"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$60</a:t>
            </a:r>
            <a:endParaRPr lang="en-US" sz="650"/>
          </a:p>
        </p:txBody>
      </p:sp>
      <p:sp>
        <p:nvSpPr>
          <p:cNvPr id="18" name="Shape 29">
            <a:extLst>
              <a:ext uri="{FF2B5EF4-FFF2-40B4-BE49-F238E27FC236}">
                <a16:creationId xmlns:a16="http://schemas.microsoft.com/office/drawing/2014/main" id="{01110403-2C87-8C49-2FCB-474F156C6CCC}"/>
              </a:ext>
            </a:extLst>
          </p:cNvPr>
          <p:cNvSpPr/>
          <p:nvPr/>
        </p:nvSpPr>
        <p:spPr>
          <a:xfrm>
            <a:off x="4517136" y="843059"/>
            <a:ext cx="0" cy="54864"/>
          </a:xfrm>
          <a:prstGeom prst="line">
            <a:avLst/>
          </a:prstGeom>
          <a:noFill/>
          <a:ln w="6350">
            <a:solidFill>
              <a:srgbClr val="DDDDDD"/>
            </a:solidFill>
            <a:prstDash val="solid"/>
          </a:ln>
        </p:spPr>
        <p:txBody>
          <a:bodyPr/>
          <a:lstStyle/>
          <a:p>
            <a:endParaRPr lang="en-GB"/>
          </a:p>
        </p:txBody>
      </p:sp>
      <p:sp>
        <p:nvSpPr>
          <p:cNvPr id="19" name="Text 30">
            <a:extLst>
              <a:ext uri="{FF2B5EF4-FFF2-40B4-BE49-F238E27FC236}">
                <a16:creationId xmlns:a16="http://schemas.microsoft.com/office/drawing/2014/main" id="{FBD3E8EE-6D7D-A83C-EC30-B985689DB239}"/>
              </a:ext>
            </a:extLst>
          </p:cNvPr>
          <p:cNvSpPr/>
          <p:nvPr/>
        </p:nvSpPr>
        <p:spPr>
          <a:xfrm>
            <a:off x="4352544"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$70</a:t>
            </a:r>
            <a:endParaRPr lang="en-US" sz="650"/>
          </a:p>
        </p:txBody>
      </p:sp>
      <p:sp>
        <p:nvSpPr>
          <p:cNvPr id="20" name="Shape 31">
            <a:extLst>
              <a:ext uri="{FF2B5EF4-FFF2-40B4-BE49-F238E27FC236}">
                <a16:creationId xmlns:a16="http://schemas.microsoft.com/office/drawing/2014/main" id="{C27D2BAE-D6F4-2383-8CC8-09626DF32444}"/>
              </a:ext>
            </a:extLst>
          </p:cNvPr>
          <p:cNvSpPr/>
          <p:nvPr/>
        </p:nvSpPr>
        <p:spPr>
          <a:xfrm>
            <a:off x="6033115" y="843059"/>
            <a:ext cx="0" cy="54864"/>
          </a:xfrm>
          <a:prstGeom prst="line">
            <a:avLst/>
          </a:prstGeom>
          <a:noFill/>
          <a:ln w="6350">
            <a:solidFill>
              <a:srgbClr val="DDDDDD"/>
            </a:solidFill>
            <a:prstDash val="solid"/>
          </a:ln>
        </p:spPr>
        <p:txBody>
          <a:bodyPr/>
          <a:lstStyle/>
          <a:p>
            <a:endParaRPr lang="en-GB"/>
          </a:p>
        </p:txBody>
      </p:sp>
      <p:sp>
        <p:nvSpPr>
          <p:cNvPr id="21" name="Text 32">
            <a:extLst>
              <a:ext uri="{FF2B5EF4-FFF2-40B4-BE49-F238E27FC236}">
                <a16:creationId xmlns:a16="http://schemas.microsoft.com/office/drawing/2014/main" id="{3E56E3B8-BEF0-CB9E-050B-8CF068CA864E}"/>
              </a:ext>
            </a:extLst>
          </p:cNvPr>
          <p:cNvSpPr/>
          <p:nvPr/>
        </p:nvSpPr>
        <p:spPr>
          <a:xfrm>
            <a:off x="5868523"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$80</a:t>
            </a:r>
            <a:endParaRPr lang="en-US" sz="650"/>
          </a:p>
        </p:txBody>
      </p:sp>
      <p:sp>
        <p:nvSpPr>
          <p:cNvPr id="22" name="Shape 33">
            <a:extLst>
              <a:ext uri="{FF2B5EF4-FFF2-40B4-BE49-F238E27FC236}">
                <a16:creationId xmlns:a16="http://schemas.microsoft.com/office/drawing/2014/main" id="{10D9CDE3-3AE7-AF45-6A34-C99742147A9C}"/>
              </a:ext>
            </a:extLst>
          </p:cNvPr>
          <p:cNvSpPr/>
          <p:nvPr/>
        </p:nvSpPr>
        <p:spPr>
          <a:xfrm>
            <a:off x="7549094" y="843059"/>
            <a:ext cx="0" cy="54864"/>
          </a:xfrm>
          <a:prstGeom prst="line">
            <a:avLst/>
          </a:prstGeom>
          <a:noFill/>
          <a:ln w="6350">
            <a:solidFill>
              <a:srgbClr val="DDDDDD"/>
            </a:solidFill>
            <a:prstDash val="solid"/>
          </a:ln>
        </p:spPr>
        <p:txBody>
          <a:bodyPr/>
          <a:lstStyle/>
          <a:p>
            <a:endParaRPr lang="en-GB"/>
          </a:p>
        </p:txBody>
      </p:sp>
      <p:sp>
        <p:nvSpPr>
          <p:cNvPr id="23" name="Text 34">
            <a:extLst>
              <a:ext uri="{FF2B5EF4-FFF2-40B4-BE49-F238E27FC236}">
                <a16:creationId xmlns:a16="http://schemas.microsoft.com/office/drawing/2014/main" id="{01E13C17-5862-63AF-6BB6-0F59AF04711C}"/>
              </a:ext>
            </a:extLst>
          </p:cNvPr>
          <p:cNvSpPr/>
          <p:nvPr/>
        </p:nvSpPr>
        <p:spPr>
          <a:xfrm>
            <a:off x="7384502"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$90</a:t>
            </a:r>
            <a:endParaRPr lang="en-US" sz="650"/>
          </a:p>
        </p:txBody>
      </p:sp>
      <p:sp>
        <p:nvSpPr>
          <p:cNvPr id="24" name="Shape 35">
            <a:extLst>
              <a:ext uri="{FF2B5EF4-FFF2-40B4-BE49-F238E27FC236}">
                <a16:creationId xmlns:a16="http://schemas.microsoft.com/office/drawing/2014/main" id="{76B83650-7DFF-3C90-1EA3-332573F8129C}"/>
              </a:ext>
            </a:extLst>
          </p:cNvPr>
          <p:cNvSpPr/>
          <p:nvPr/>
        </p:nvSpPr>
        <p:spPr>
          <a:xfrm>
            <a:off x="9065073" y="843059"/>
            <a:ext cx="0" cy="54864"/>
          </a:xfrm>
          <a:prstGeom prst="line">
            <a:avLst/>
          </a:prstGeom>
          <a:noFill/>
          <a:ln w="6350">
            <a:solidFill>
              <a:srgbClr val="DDDDDD"/>
            </a:solidFill>
            <a:prstDash val="solid"/>
          </a:ln>
        </p:spPr>
        <p:txBody>
          <a:bodyPr/>
          <a:lstStyle/>
          <a:p>
            <a:endParaRPr lang="en-GB"/>
          </a:p>
        </p:txBody>
      </p:sp>
      <p:sp>
        <p:nvSpPr>
          <p:cNvPr id="25" name="Text 36">
            <a:extLst>
              <a:ext uri="{FF2B5EF4-FFF2-40B4-BE49-F238E27FC236}">
                <a16:creationId xmlns:a16="http://schemas.microsoft.com/office/drawing/2014/main" id="{D72A4BB9-BCBF-607D-304D-B895341D25EF}"/>
              </a:ext>
            </a:extLst>
          </p:cNvPr>
          <p:cNvSpPr/>
          <p:nvPr/>
        </p:nvSpPr>
        <p:spPr>
          <a:xfrm>
            <a:off x="8900481"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$100</a:t>
            </a:r>
            <a:endParaRPr lang="en-US" sz="650"/>
          </a:p>
        </p:txBody>
      </p:sp>
      <p:sp>
        <p:nvSpPr>
          <p:cNvPr id="26" name="Shape 37">
            <a:extLst>
              <a:ext uri="{FF2B5EF4-FFF2-40B4-BE49-F238E27FC236}">
                <a16:creationId xmlns:a16="http://schemas.microsoft.com/office/drawing/2014/main" id="{D36AB5FD-39D0-91AF-3BF7-C1DC71D584AD}"/>
              </a:ext>
            </a:extLst>
          </p:cNvPr>
          <p:cNvSpPr/>
          <p:nvPr/>
        </p:nvSpPr>
        <p:spPr>
          <a:xfrm>
            <a:off x="10581052" y="843059"/>
            <a:ext cx="0" cy="54864"/>
          </a:xfrm>
          <a:prstGeom prst="line">
            <a:avLst/>
          </a:prstGeom>
          <a:noFill/>
          <a:ln w="6350">
            <a:solidFill>
              <a:srgbClr val="DDDDDD"/>
            </a:solidFill>
            <a:prstDash val="solid"/>
          </a:ln>
        </p:spPr>
        <p:txBody>
          <a:bodyPr/>
          <a:lstStyle/>
          <a:p>
            <a:endParaRPr lang="en-GB"/>
          </a:p>
        </p:txBody>
      </p:sp>
      <p:sp>
        <p:nvSpPr>
          <p:cNvPr id="27" name="Text 38">
            <a:extLst>
              <a:ext uri="{FF2B5EF4-FFF2-40B4-BE49-F238E27FC236}">
                <a16:creationId xmlns:a16="http://schemas.microsoft.com/office/drawing/2014/main" id="{DE728D10-B1D7-C781-5AC5-EB960E1F9F4D}"/>
              </a:ext>
            </a:extLst>
          </p:cNvPr>
          <p:cNvSpPr/>
          <p:nvPr/>
        </p:nvSpPr>
        <p:spPr>
          <a:xfrm>
            <a:off x="10416460" y="678467"/>
            <a:ext cx="329184" cy="1554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50">
                <a:solidFill>
                  <a:srgbClr val="4A5568"/>
                </a:solidFill>
                <a:latin typeface="Calibri" pitchFamily="34" charset="0"/>
                <a:ea typeface="Calibri" pitchFamily="34" charset="-122"/>
                <a:cs typeface="Calibri" pitchFamily="34" charset="-120"/>
              </a:rPr>
              <a:t>$110</a:t>
            </a:r>
            <a:endParaRPr lang="en-US" sz="650"/>
          </a:p>
        </p:txBody>
      </p:sp>
      <p:sp>
        <p:nvSpPr>
          <p:cNvPr id="31" name="Shape 42">
            <a:extLst>
              <a:ext uri="{FF2B5EF4-FFF2-40B4-BE49-F238E27FC236}">
                <a16:creationId xmlns:a16="http://schemas.microsoft.com/office/drawing/2014/main" id="{AFB15444-AEBD-ED90-692A-4ADEF973596F}"/>
              </a:ext>
            </a:extLst>
          </p:cNvPr>
          <p:cNvSpPr/>
          <p:nvPr/>
        </p:nvSpPr>
        <p:spPr>
          <a:xfrm>
            <a:off x="2221318" y="879635"/>
            <a:ext cx="237744" cy="237744"/>
          </a:xfrm>
          <a:prstGeom prst="ellipse">
            <a:avLst/>
          </a:prstGeom>
          <a:solidFill>
            <a:srgbClr val="9B2226"/>
          </a:solidFill>
          <a:ln w="12700">
            <a:solidFill>
              <a:srgbClr val="9B2226"/>
            </a:solidFill>
            <a:prstDash val="solid"/>
          </a:ln>
        </p:spPr>
        <p:txBody>
          <a:bodyPr/>
          <a:lstStyle/>
          <a:p>
            <a:endParaRPr lang="en-GB"/>
          </a:p>
        </p:txBody>
      </p:sp>
      <p:sp>
        <p:nvSpPr>
          <p:cNvPr id="32" name="Shape 43">
            <a:extLst>
              <a:ext uri="{FF2B5EF4-FFF2-40B4-BE49-F238E27FC236}">
                <a16:creationId xmlns:a16="http://schemas.microsoft.com/office/drawing/2014/main" id="{3C9F715D-56FA-391E-A795-4AA8E7533286}"/>
              </a:ext>
            </a:extLst>
          </p:cNvPr>
          <p:cNvSpPr/>
          <p:nvPr/>
        </p:nvSpPr>
        <p:spPr>
          <a:xfrm>
            <a:off x="2090992" y="1198118"/>
            <a:ext cx="531145" cy="371484"/>
          </a:xfrm>
          <a:prstGeom prst="rect">
            <a:avLst/>
          </a:prstGeom>
          <a:solidFill>
            <a:srgbClr val="9B2226"/>
          </a:solidFill>
          <a:ln w="12700">
            <a:solidFill>
              <a:srgbClr val="9B2226"/>
            </a:solidFill>
            <a:prstDash val="solid"/>
          </a:ln>
        </p:spPr>
        <p:txBody>
          <a:bodyPr/>
          <a:lstStyle/>
          <a:p>
            <a:endParaRPr lang="en-GB"/>
          </a:p>
        </p:txBody>
      </p:sp>
      <p:sp>
        <p:nvSpPr>
          <p:cNvPr id="33" name="Text 44">
            <a:extLst>
              <a:ext uri="{FF2B5EF4-FFF2-40B4-BE49-F238E27FC236}">
                <a16:creationId xmlns:a16="http://schemas.microsoft.com/office/drawing/2014/main" id="{1A2276A9-5EE4-5E4B-A1D5-02AF2658C440}"/>
              </a:ext>
            </a:extLst>
          </p:cNvPr>
          <p:cNvSpPr/>
          <p:nvPr/>
        </p:nvSpPr>
        <p:spPr>
          <a:xfrm>
            <a:off x="2037833" y="1137427"/>
            <a:ext cx="603504" cy="252009"/>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FFFFFF"/>
                </a:solidFill>
                <a:latin typeface="Cambria" pitchFamily="34" charset="0"/>
                <a:ea typeface="Cambria" pitchFamily="34" charset="-122"/>
                <a:cs typeface="Cambria" pitchFamily="34" charset="-120"/>
              </a:rPr>
              <a:t>$55.64</a:t>
            </a:r>
            <a:endParaRPr lang="en-US" sz="1100"/>
          </a:p>
        </p:txBody>
      </p:sp>
      <p:sp>
        <p:nvSpPr>
          <p:cNvPr id="34" name="Text 45">
            <a:extLst>
              <a:ext uri="{FF2B5EF4-FFF2-40B4-BE49-F238E27FC236}">
                <a16:creationId xmlns:a16="http://schemas.microsoft.com/office/drawing/2014/main" id="{CB6F7369-4146-6B5E-52C9-46EF1435BF65}"/>
              </a:ext>
            </a:extLst>
          </p:cNvPr>
          <p:cNvSpPr/>
          <p:nvPr/>
        </p:nvSpPr>
        <p:spPr>
          <a:xfrm>
            <a:off x="2095612" y="1408497"/>
            <a:ext cx="603504" cy="2044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b="1">
                <a:solidFill>
                  <a:schemeClr val="bg1"/>
                </a:solidFill>
                <a:latin typeface="Cambria" panose="02040503050406030204" pitchFamily="18" charset="0"/>
                <a:ea typeface="Cambria" panose="02040503050406030204" pitchFamily="18" charset="0"/>
                <a:cs typeface="Calibri" pitchFamily="34" charset="-120"/>
              </a:rPr>
              <a:t>BEAR  -8.8%</a:t>
            </a:r>
            <a:endParaRPr lang="en-US" sz="800">
              <a:solidFill>
                <a:schemeClr val="bg1"/>
              </a:solidFill>
              <a:latin typeface="Cambria" panose="02040503050406030204" pitchFamily="18" charset="0"/>
              <a:ea typeface="Cambria" panose="02040503050406030204" pitchFamily="18" charset="0"/>
            </a:endParaRPr>
          </a:p>
        </p:txBody>
      </p:sp>
      <p:sp>
        <p:nvSpPr>
          <p:cNvPr id="35" name="Shape 46">
            <a:extLst>
              <a:ext uri="{FF2B5EF4-FFF2-40B4-BE49-F238E27FC236}">
                <a16:creationId xmlns:a16="http://schemas.microsoft.com/office/drawing/2014/main" id="{7EEEB5A2-CD4C-61C8-DAEE-829B9ACD4661}"/>
              </a:ext>
            </a:extLst>
          </p:cNvPr>
          <p:cNvSpPr/>
          <p:nvPr/>
        </p:nvSpPr>
        <p:spPr>
          <a:xfrm>
            <a:off x="2340190" y="1099091"/>
            <a:ext cx="0" cy="201168"/>
          </a:xfrm>
          <a:prstGeom prst="line">
            <a:avLst/>
          </a:prstGeom>
          <a:noFill/>
          <a:ln w="9525">
            <a:solidFill>
              <a:srgbClr val="9B2226"/>
            </a:solidFill>
            <a:prstDash val="dash"/>
          </a:ln>
        </p:spPr>
        <p:txBody>
          <a:bodyPr/>
          <a:lstStyle/>
          <a:p>
            <a:endParaRPr lang="en-GB"/>
          </a:p>
        </p:txBody>
      </p:sp>
      <p:sp>
        <p:nvSpPr>
          <p:cNvPr id="36" name="Shape 47">
            <a:extLst>
              <a:ext uri="{FF2B5EF4-FFF2-40B4-BE49-F238E27FC236}">
                <a16:creationId xmlns:a16="http://schemas.microsoft.com/office/drawing/2014/main" id="{35E07C5C-119D-7F77-E35B-7E696D3D1620}"/>
              </a:ext>
            </a:extLst>
          </p:cNvPr>
          <p:cNvSpPr/>
          <p:nvPr/>
        </p:nvSpPr>
        <p:spPr>
          <a:xfrm>
            <a:off x="5900599" y="879635"/>
            <a:ext cx="237744" cy="237744"/>
          </a:xfrm>
          <a:prstGeom prst="ellipse">
            <a:avLst/>
          </a:prstGeom>
          <a:solidFill>
            <a:srgbClr val="1F676B"/>
          </a:solidFill>
          <a:ln w="12700">
            <a:solidFill>
              <a:srgbClr val="1F676B"/>
            </a:solidFill>
            <a:prstDash val="solid"/>
          </a:ln>
        </p:spPr>
        <p:txBody>
          <a:bodyPr/>
          <a:lstStyle/>
          <a:p>
            <a:endParaRPr lang="en-GB"/>
          </a:p>
        </p:txBody>
      </p:sp>
      <p:sp>
        <p:nvSpPr>
          <p:cNvPr id="38" name="Shape 51">
            <a:extLst>
              <a:ext uri="{FF2B5EF4-FFF2-40B4-BE49-F238E27FC236}">
                <a16:creationId xmlns:a16="http://schemas.microsoft.com/office/drawing/2014/main" id="{588F324F-43EC-27BF-279B-07D6CD5FF727}"/>
              </a:ext>
            </a:extLst>
          </p:cNvPr>
          <p:cNvSpPr/>
          <p:nvPr/>
        </p:nvSpPr>
        <p:spPr>
          <a:xfrm>
            <a:off x="6019471" y="1099091"/>
            <a:ext cx="0" cy="201168"/>
          </a:xfrm>
          <a:prstGeom prst="line">
            <a:avLst/>
          </a:prstGeom>
          <a:noFill/>
          <a:ln w="9525">
            <a:solidFill>
              <a:srgbClr val="1F676B"/>
            </a:solidFill>
            <a:prstDash val="dash"/>
          </a:ln>
        </p:spPr>
        <p:txBody>
          <a:bodyPr/>
          <a:lstStyle/>
          <a:p>
            <a:endParaRPr lang="en-GB"/>
          </a:p>
        </p:txBody>
      </p:sp>
      <p:sp>
        <p:nvSpPr>
          <p:cNvPr id="39" name="Shape 52">
            <a:extLst>
              <a:ext uri="{FF2B5EF4-FFF2-40B4-BE49-F238E27FC236}">
                <a16:creationId xmlns:a16="http://schemas.microsoft.com/office/drawing/2014/main" id="{3003603A-9F77-EEA8-BC9F-28EACA03408E}"/>
              </a:ext>
            </a:extLst>
          </p:cNvPr>
          <p:cNvSpPr/>
          <p:nvPr/>
        </p:nvSpPr>
        <p:spPr>
          <a:xfrm>
            <a:off x="10178692" y="879635"/>
            <a:ext cx="237744" cy="237744"/>
          </a:xfrm>
          <a:prstGeom prst="ellipse">
            <a:avLst/>
          </a:prstGeom>
          <a:solidFill>
            <a:srgbClr val="0F4C5C"/>
          </a:solidFill>
          <a:ln w="12700">
            <a:solidFill>
              <a:srgbClr val="0F4C5C"/>
            </a:solidFill>
            <a:prstDash val="solid"/>
          </a:ln>
        </p:spPr>
        <p:txBody>
          <a:bodyPr/>
          <a:lstStyle/>
          <a:p>
            <a:endParaRPr lang="en-GB"/>
          </a:p>
        </p:txBody>
      </p:sp>
      <p:sp>
        <p:nvSpPr>
          <p:cNvPr id="40" name="Shape 53">
            <a:extLst>
              <a:ext uri="{FF2B5EF4-FFF2-40B4-BE49-F238E27FC236}">
                <a16:creationId xmlns:a16="http://schemas.microsoft.com/office/drawing/2014/main" id="{51AB33EF-F815-1839-ECD2-0BF9309472B6}"/>
              </a:ext>
            </a:extLst>
          </p:cNvPr>
          <p:cNvSpPr/>
          <p:nvPr/>
        </p:nvSpPr>
        <p:spPr>
          <a:xfrm>
            <a:off x="10034259" y="1202480"/>
            <a:ext cx="526609" cy="335504"/>
          </a:xfrm>
          <a:prstGeom prst="rect">
            <a:avLst/>
          </a:prstGeom>
          <a:solidFill>
            <a:srgbClr val="0F4C5C"/>
          </a:solidFill>
          <a:ln w="12700">
            <a:solidFill>
              <a:srgbClr val="0F4C5C"/>
            </a:solidFill>
            <a:prstDash val="solid"/>
          </a:ln>
        </p:spPr>
        <p:txBody>
          <a:bodyPr/>
          <a:lstStyle/>
          <a:p>
            <a:endParaRPr lang="en-GB"/>
          </a:p>
        </p:txBody>
      </p:sp>
      <p:sp>
        <p:nvSpPr>
          <p:cNvPr id="41" name="Text 54">
            <a:extLst>
              <a:ext uri="{FF2B5EF4-FFF2-40B4-BE49-F238E27FC236}">
                <a16:creationId xmlns:a16="http://schemas.microsoft.com/office/drawing/2014/main" id="{A72E74E0-B443-6B9F-16EE-99F814CD0456}"/>
              </a:ext>
            </a:extLst>
          </p:cNvPr>
          <p:cNvSpPr/>
          <p:nvPr/>
        </p:nvSpPr>
        <p:spPr>
          <a:xfrm>
            <a:off x="9995812" y="1124733"/>
            <a:ext cx="603504" cy="252009"/>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b="1">
                <a:solidFill>
                  <a:srgbClr val="FFFFFF"/>
                </a:solidFill>
                <a:latin typeface="Cambria" pitchFamily="34" charset="0"/>
                <a:ea typeface="Cambria" pitchFamily="34" charset="-122"/>
                <a:cs typeface="Cambria" pitchFamily="34" charset="-120"/>
              </a:rPr>
              <a:t>$108.13</a:t>
            </a:r>
            <a:endParaRPr lang="en-US" sz="1000"/>
          </a:p>
        </p:txBody>
      </p:sp>
      <p:sp>
        <p:nvSpPr>
          <p:cNvPr id="42" name="Text 55">
            <a:extLst>
              <a:ext uri="{FF2B5EF4-FFF2-40B4-BE49-F238E27FC236}">
                <a16:creationId xmlns:a16="http://schemas.microsoft.com/office/drawing/2014/main" id="{037C5E1F-6B80-3012-A756-C0525E977CDB}"/>
              </a:ext>
            </a:extLst>
          </p:cNvPr>
          <p:cNvSpPr/>
          <p:nvPr/>
        </p:nvSpPr>
        <p:spPr>
          <a:xfrm>
            <a:off x="9995812" y="1365141"/>
            <a:ext cx="603504" cy="20446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b="1">
                <a:solidFill>
                  <a:srgbClr val="FFFFFF"/>
                </a:solidFill>
                <a:latin typeface="Calibri" pitchFamily="34" charset="0"/>
                <a:ea typeface="Calibri" pitchFamily="34" charset="-122"/>
                <a:cs typeface="Calibri" pitchFamily="34" charset="-120"/>
              </a:rPr>
              <a:t>BULL  +77.3%</a:t>
            </a:r>
            <a:endParaRPr lang="en-US" sz="700"/>
          </a:p>
        </p:txBody>
      </p:sp>
      <p:sp>
        <p:nvSpPr>
          <p:cNvPr id="43" name="Shape 56">
            <a:extLst>
              <a:ext uri="{FF2B5EF4-FFF2-40B4-BE49-F238E27FC236}">
                <a16:creationId xmlns:a16="http://schemas.microsoft.com/office/drawing/2014/main" id="{C029C94B-7677-9121-C1E1-877CFF8A6ECE}"/>
              </a:ext>
            </a:extLst>
          </p:cNvPr>
          <p:cNvSpPr/>
          <p:nvPr/>
        </p:nvSpPr>
        <p:spPr>
          <a:xfrm>
            <a:off x="10297564" y="1099091"/>
            <a:ext cx="0" cy="201168"/>
          </a:xfrm>
          <a:prstGeom prst="line">
            <a:avLst/>
          </a:prstGeom>
          <a:noFill/>
          <a:ln w="9525">
            <a:solidFill>
              <a:srgbClr val="0F4C5C"/>
            </a:solidFill>
            <a:prstDash val="dash"/>
          </a:ln>
        </p:spPr>
        <p:txBody>
          <a:bodyPr/>
          <a:lstStyle/>
          <a:p>
            <a:endParaRPr lang="en-GB"/>
          </a:p>
        </p:txBody>
      </p:sp>
      <p:sp>
        <p:nvSpPr>
          <p:cNvPr id="45" name="Shape 48">
            <a:extLst>
              <a:ext uri="{FF2B5EF4-FFF2-40B4-BE49-F238E27FC236}">
                <a16:creationId xmlns:a16="http://schemas.microsoft.com/office/drawing/2014/main" id="{2B0783EB-3F5B-740F-2194-5C207AC655C1}"/>
              </a:ext>
            </a:extLst>
          </p:cNvPr>
          <p:cNvSpPr/>
          <p:nvPr/>
        </p:nvSpPr>
        <p:spPr>
          <a:xfrm>
            <a:off x="5774742" y="1190551"/>
            <a:ext cx="489458" cy="347432"/>
          </a:xfrm>
          <a:prstGeom prst="rect">
            <a:avLst/>
          </a:prstGeom>
          <a:solidFill>
            <a:srgbClr val="1F676B"/>
          </a:solidFill>
          <a:ln w="12700">
            <a:solidFill>
              <a:srgbClr val="1F676B"/>
            </a:solidFill>
            <a:prstDash val="solid"/>
          </a:ln>
        </p:spPr>
        <p:txBody>
          <a:bodyPr/>
          <a:lstStyle/>
          <a:p>
            <a:endParaRPr lang="en-GB"/>
          </a:p>
        </p:txBody>
      </p:sp>
      <p:sp>
        <p:nvSpPr>
          <p:cNvPr id="47" name="Text 50">
            <a:extLst>
              <a:ext uri="{FF2B5EF4-FFF2-40B4-BE49-F238E27FC236}">
                <a16:creationId xmlns:a16="http://schemas.microsoft.com/office/drawing/2014/main" id="{770F38E2-4EB0-DE24-F0AC-E7EF5459308A}"/>
              </a:ext>
            </a:extLst>
          </p:cNvPr>
          <p:cNvSpPr/>
          <p:nvPr/>
        </p:nvSpPr>
        <p:spPr>
          <a:xfrm>
            <a:off x="5664720" y="1408497"/>
            <a:ext cx="749808" cy="23591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b="1">
                <a:solidFill>
                  <a:srgbClr val="FFFFFF"/>
                </a:solidFill>
                <a:latin typeface="Calibri" pitchFamily="34" charset="0"/>
                <a:ea typeface="Calibri" pitchFamily="34" charset="-122"/>
                <a:cs typeface="Calibri" pitchFamily="34" charset="-120"/>
              </a:rPr>
              <a:t>BASE  +31.0%</a:t>
            </a:r>
            <a:endParaRPr lang="en-US" sz="700"/>
          </a:p>
        </p:txBody>
      </p:sp>
      <p:sp>
        <p:nvSpPr>
          <p:cNvPr id="145" name="Text 1">
            <a:extLst>
              <a:ext uri="{FF2B5EF4-FFF2-40B4-BE49-F238E27FC236}">
                <a16:creationId xmlns:a16="http://schemas.microsoft.com/office/drawing/2014/main" id="{DBC0D4BC-C739-B883-E510-C2D899088594}"/>
              </a:ext>
            </a:extLst>
          </p:cNvPr>
          <p:cNvSpPr/>
          <p:nvPr/>
        </p:nvSpPr>
        <p:spPr>
          <a:xfrm>
            <a:off x="158261" y="229197"/>
            <a:ext cx="11521440" cy="493776"/>
          </a:xfrm>
          <a:prstGeom prst="rect">
            <a:avLst/>
          </a:prstGeom>
          <a:noFill/>
          <a:ln/>
        </p:spPr>
        <p:txBody>
          <a:bodyPr wrap="square" lIns="0" tIns="0" rIns="0" bIns="0" rtlCol="0" anchor="ctr"/>
          <a:lstStyle/>
          <a:p>
            <a:pPr marL="0" indent="0">
              <a:buNone/>
            </a:pPr>
            <a:r>
              <a:rPr lang="en-US" sz="2200" b="1">
                <a:solidFill>
                  <a:srgbClr val="1A202C"/>
                </a:solidFill>
                <a:latin typeface="Cambria" pitchFamily="34" charset="0"/>
                <a:ea typeface="Cambria" pitchFamily="34" charset="-122"/>
              </a:rPr>
              <a:t>GE Healthcare DCF Valuation</a:t>
            </a:r>
            <a:endParaRPr lang="en-US" sz="2200"/>
          </a:p>
        </p:txBody>
      </p:sp>
      <p:sp>
        <p:nvSpPr>
          <p:cNvPr id="37" name="Text 49">
            <a:extLst>
              <a:ext uri="{FF2B5EF4-FFF2-40B4-BE49-F238E27FC236}">
                <a16:creationId xmlns:a16="http://schemas.microsoft.com/office/drawing/2014/main" id="{4D4A9136-858A-8010-2CC9-04E16A0B2522}"/>
              </a:ext>
            </a:extLst>
          </p:cNvPr>
          <p:cNvSpPr/>
          <p:nvPr/>
        </p:nvSpPr>
        <p:spPr>
          <a:xfrm>
            <a:off x="5651908" y="1103324"/>
            <a:ext cx="749808" cy="290779"/>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solidFill>
                  <a:srgbClr val="FFFFFF"/>
                </a:solidFill>
                <a:latin typeface="Cambria" pitchFamily="34" charset="0"/>
                <a:ea typeface="Cambria" pitchFamily="34" charset="-122"/>
                <a:cs typeface="Cambria" pitchFamily="34" charset="-120"/>
              </a:rPr>
              <a:t>$79.91</a:t>
            </a:r>
            <a:endParaRPr lang="en-US" sz="1200"/>
          </a:p>
        </p:txBody>
      </p:sp>
      <p:sp>
        <p:nvSpPr>
          <p:cNvPr id="213" name="Shape 4">
            <a:extLst>
              <a:ext uri="{FF2B5EF4-FFF2-40B4-BE49-F238E27FC236}">
                <a16:creationId xmlns:a16="http://schemas.microsoft.com/office/drawing/2014/main" id="{FA6EE860-DEEA-0D3A-F457-43E7121F5449}"/>
              </a:ext>
            </a:extLst>
          </p:cNvPr>
          <p:cNvSpPr/>
          <p:nvPr/>
        </p:nvSpPr>
        <p:spPr>
          <a:xfrm>
            <a:off x="137713" y="1644412"/>
            <a:ext cx="5122806" cy="350824"/>
          </a:xfrm>
          <a:prstGeom prst="rect">
            <a:avLst/>
          </a:prstGeom>
          <a:solidFill>
            <a:srgbClr val="123C3E"/>
          </a:solidFill>
          <a:ln w="12700">
            <a:solidFill>
              <a:srgbClr val="006D64"/>
            </a:solidFill>
            <a:prstDash val="solid"/>
          </a:ln>
        </p:spPr>
        <p:txBody>
          <a:bodyPr/>
          <a:lstStyle/>
          <a:p>
            <a:endParaRPr lang="en-GB"/>
          </a:p>
        </p:txBody>
      </p:sp>
      <p:sp>
        <p:nvSpPr>
          <p:cNvPr id="214" name="Text 5">
            <a:extLst>
              <a:ext uri="{FF2B5EF4-FFF2-40B4-BE49-F238E27FC236}">
                <a16:creationId xmlns:a16="http://schemas.microsoft.com/office/drawing/2014/main" id="{9B6A3EA4-ACB1-E552-1BF8-AE6693B25C8E}"/>
              </a:ext>
            </a:extLst>
          </p:cNvPr>
          <p:cNvSpPr/>
          <p:nvPr/>
        </p:nvSpPr>
        <p:spPr>
          <a:xfrm>
            <a:off x="202252" y="1644412"/>
            <a:ext cx="4993727" cy="350824"/>
          </a:xfrm>
          <a:prstGeom prst="rect">
            <a:avLst/>
          </a:prstGeom>
          <a:noFill/>
          <a:ln/>
        </p:spPr>
        <p:txBody>
          <a:bodyPr wrap="square" lIns="0" tIns="0" rIns="0" bIns="0" rtlCol="0" anchor="ctr"/>
          <a:lstStyle/>
          <a:p>
            <a:pPr marL="0" indent="0">
              <a:buNone/>
            </a:pPr>
            <a:r>
              <a:rPr lang="en-US" sz="1050" b="1">
                <a:solidFill>
                  <a:srgbClr val="FFFFFF"/>
                </a:solidFill>
                <a:latin typeface="Cambria" panose="02040503050406030204" pitchFamily="18" charset="0"/>
                <a:ea typeface="Cambria" panose="02040503050406030204" pitchFamily="18" charset="0"/>
              </a:rPr>
              <a:t>Key assumptions for base scenario  (FY-2025A  →  FY-2030E)</a:t>
            </a:r>
            <a:endParaRPr lang="en-US" sz="1050">
              <a:latin typeface="Cambria" panose="02040503050406030204" pitchFamily="18" charset="0"/>
              <a:ea typeface="Cambria" panose="02040503050406030204" pitchFamily="18" charset="0"/>
            </a:endParaRPr>
          </a:p>
        </p:txBody>
      </p:sp>
      <p:sp>
        <p:nvSpPr>
          <p:cNvPr id="215" name="Shape 6">
            <a:extLst>
              <a:ext uri="{FF2B5EF4-FFF2-40B4-BE49-F238E27FC236}">
                <a16:creationId xmlns:a16="http://schemas.microsoft.com/office/drawing/2014/main" id="{45AB70CA-063E-ACB4-F09D-F65892582869}"/>
              </a:ext>
            </a:extLst>
          </p:cNvPr>
          <p:cNvSpPr/>
          <p:nvPr/>
        </p:nvSpPr>
        <p:spPr>
          <a:xfrm>
            <a:off x="137713" y="1995236"/>
            <a:ext cx="5122806" cy="325766"/>
          </a:xfrm>
          <a:prstGeom prst="rect">
            <a:avLst/>
          </a:prstGeom>
          <a:solidFill>
            <a:srgbClr val="E5E9EF"/>
          </a:solidFill>
          <a:ln w="3175">
            <a:solidFill>
              <a:srgbClr val="C8D0DA"/>
            </a:solidFill>
            <a:prstDash val="solid"/>
          </a:ln>
        </p:spPr>
        <p:txBody>
          <a:bodyPr/>
          <a:lstStyle/>
          <a:p>
            <a:endParaRPr lang="en-GB"/>
          </a:p>
        </p:txBody>
      </p:sp>
      <p:sp>
        <p:nvSpPr>
          <p:cNvPr id="216" name="Text 7">
            <a:extLst>
              <a:ext uri="{FF2B5EF4-FFF2-40B4-BE49-F238E27FC236}">
                <a16:creationId xmlns:a16="http://schemas.microsoft.com/office/drawing/2014/main" id="{F4735BBD-8185-C027-F477-10CC77C2EDF0}"/>
              </a:ext>
            </a:extLst>
          </p:cNvPr>
          <p:cNvSpPr/>
          <p:nvPr/>
        </p:nvSpPr>
        <p:spPr>
          <a:xfrm>
            <a:off x="1710858" y="2020295"/>
            <a:ext cx="984224" cy="275648"/>
          </a:xfrm>
          <a:prstGeom prst="rect">
            <a:avLst/>
          </a:prstGeom>
          <a:noFill/>
          <a:ln/>
        </p:spPr>
        <p:txBody>
          <a:bodyPr wrap="square" lIns="0" tIns="0" rIns="0" bIns="0" rtlCol="0" anchor="ctr"/>
          <a:lstStyle/>
          <a:p>
            <a:pPr marL="0" indent="0" algn="ctr">
              <a:buNone/>
            </a:pPr>
            <a:r>
              <a:rPr lang="en-US" sz="1000" b="1">
                <a:latin typeface="Cambria" panose="02040503050406030204" pitchFamily="18" charset="0"/>
                <a:ea typeface="Cambria" panose="02040503050406030204" pitchFamily="18" charset="0"/>
              </a:rPr>
              <a:t>Model</a:t>
            </a:r>
            <a:endParaRPr lang="en-US" sz="1000">
              <a:latin typeface="Cambria" panose="02040503050406030204" pitchFamily="18" charset="0"/>
              <a:ea typeface="Cambria" panose="02040503050406030204" pitchFamily="18" charset="0"/>
            </a:endParaRPr>
          </a:p>
        </p:txBody>
      </p:sp>
      <p:sp>
        <p:nvSpPr>
          <p:cNvPr id="217" name="Text 8">
            <a:extLst>
              <a:ext uri="{FF2B5EF4-FFF2-40B4-BE49-F238E27FC236}">
                <a16:creationId xmlns:a16="http://schemas.microsoft.com/office/drawing/2014/main" id="{18AE2F14-395D-9449-C43F-DA0563590746}"/>
              </a:ext>
            </a:extLst>
          </p:cNvPr>
          <p:cNvSpPr/>
          <p:nvPr/>
        </p:nvSpPr>
        <p:spPr>
          <a:xfrm>
            <a:off x="2735419" y="2020295"/>
            <a:ext cx="984224" cy="275648"/>
          </a:xfrm>
          <a:prstGeom prst="rect">
            <a:avLst/>
          </a:prstGeom>
          <a:noFill/>
          <a:ln/>
        </p:spPr>
        <p:txBody>
          <a:bodyPr wrap="square" lIns="0" tIns="0" rIns="0" bIns="0" rtlCol="0" anchor="ctr"/>
          <a:lstStyle/>
          <a:p>
            <a:pPr marL="0" indent="0" algn="ctr">
              <a:buNone/>
            </a:pPr>
            <a:r>
              <a:rPr lang="en-US" sz="1000" b="1">
                <a:latin typeface="Cambria" panose="02040503050406030204" pitchFamily="18" charset="0"/>
                <a:ea typeface="Cambria" panose="02040503050406030204" pitchFamily="18" charset="0"/>
              </a:rPr>
              <a:t>Consensus</a:t>
            </a:r>
            <a:endParaRPr lang="en-US" sz="1000">
              <a:latin typeface="Cambria" panose="02040503050406030204" pitchFamily="18" charset="0"/>
              <a:ea typeface="Cambria" panose="02040503050406030204" pitchFamily="18" charset="0"/>
            </a:endParaRPr>
          </a:p>
        </p:txBody>
      </p:sp>
      <p:sp>
        <p:nvSpPr>
          <p:cNvPr id="218" name="Text 9">
            <a:extLst>
              <a:ext uri="{FF2B5EF4-FFF2-40B4-BE49-F238E27FC236}">
                <a16:creationId xmlns:a16="http://schemas.microsoft.com/office/drawing/2014/main" id="{3E04D6D2-E3A1-9E81-1C85-E02E4F965357}"/>
              </a:ext>
            </a:extLst>
          </p:cNvPr>
          <p:cNvSpPr/>
          <p:nvPr/>
        </p:nvSpPr>
        <p:spPr>
          <a:xfrm>
            <a:off x="3768048" y="2020295"/>
            <a:ext cx="1435999" cy="275648"/>
          </a:xfrm>
          <a:prstGeom prst="rect">
            <a:avLst/>
          </a:prstGeom>
          <a:noFill/>
          <a:ln/>
        </p:spPr>
        <p:txBody>
          <a:bodyPr wrap="square" lIns="0" tIns="0" rIns="0" bIns="0" rtlCol="0" anchor="ctr"/>
          <a:lstStyle/>
          <a:p>
            <a:pPr marL="0" indent="0" algn="l">
              <a:buNone/>
            </a:pPr>
            <a:r>
              <a:rPr lang="en-US" sz="750" b="1">
                <a:solidFill>
                  <a:srgbClr val="1A1A1A"/>
                </a:solidFill>
              </a:rPr>
              <a:t>Commentary</a:t>
            </a:r>
            <a:endParaRPr lang="en-US" sz="750"/>
          </a:p>
        </p:txBody>
      </p:sp>
      <p:sp>
        <p:nvSpPr>
          <p:cNvPr id="219" name="Shape 10">
            <a:extLst>
              <a:ext uri="{FF2B5EF4-FFF2-40B4-BE49-F238E27FC236}">
                <a16:creationId xmlns:a16="http://schemas.microsoft.com/office/drawing/2014/main" id="{4D7D7DC8-8A8A-FF23-8F6F-C02948A86520}"/>
              </a:ext>
            </a:extLst>
          </p:cNvPr>
          <p:cNvSpPr/>
          <p:nvPr/>
        </p:nvSpPr>
        <p:spPr>
          <a:xfrm>
            <a:off x="137713" y="2321002"/>
            <a:ext cx="5122806" cy="545031"/>
          </a:xfrm>
          <a:prstGeom prst="rect">
            <a:avLst/>
          </a:prstGeom>
          <a:solidFill>
            <a:srgbClr val="FFFFFF"/>
          </a:solidFill>
          <a:ln w="3175">
            <a:solidFill>
              <a:srgbClr val="C8D0DA"/>
            </a:solidFill>
            <a:prstDash val="solid"/>
          </a:ln>
        </p:spPr>
        <p:txBody>
          <a:bodyPr/>
          <a:lstStyle/>
          <a:p>
            <a:endParaRPr lang="en-GB"/>
          </a:p>
        </p:txBody>
      </p:sp>
      <p:sp>
        <p:nvSpPr>
          <p:cNvPr id="220" name="Text 11">
            <a:extLst>
              <a:ext uri="{FF2B5EF4-FFF2-40B4-BE49-F238E27FC236}">
                <a16:creationId xmlns:a16="http://schemas.microsoft.com/office/drawing/2014/main" id="{62F55140-07B2-073C-87A8-C799CF522C7F}"/>
              </a:ext>
            </a:extLst>
          </p:cNvPr>
          <p:cNvSpPr/>
          <p:nvPr/>
        </p:nvSpPr>
        <p:spPr>
          <a:xfrm>
            <a:off x="202252" y="2346061"/>
            <a:ext cx="1452134" cy="494913"/>
          </a:xfrm>
          <a:prstGeom prst="rect">
            <a:avLst/>
          </a:prstGeom>
          <a:noFill/>
          <a:ln/>
        </p:spPr>
        <p:txBody>
          <a:bodyPr wrap="square" lIns="0" tIns="0" rIns="0" bIns="0" rtlCol="0" anchor="ctr"/>
          <a:lstStyle/>
          <a:p>
            <a:pPr marL="0" indent="0">
              <a:buNone/>
            </a:pPr>
            <a:r>
              <a:rPr lang="en-US" sz="1000">
                <a:solidFill>
                  <a:srgbClr val="1A1A1A"/>
                </a:solidFill>
                <a:latin typeface="Cambria" panose="02040503050406030204" pitchFamily="18" charset="0"/>
                <a:ea typeface="Cambria" panose="02040503050406030204" pitchFamily="18" charset="0"/>
              </a:rPr>
              <a:t>Revenue</a:t>
            </a:r>
            <a:endParaRPr lang="en-US" sz="1000">
              <a:latin typeface="Cambria" panose="02040503050406030204" pitchFamily="18" charset="0"/>
              <a:ea typeface="Cambria" panose="02040503050406030204" pitchFamily="18" charset="0"/>
            </a:endParaRPr>
          </a:p>
          <a:p>
            <a:pPr marL="0" indent="0">
              <a:buNone/>
            </a:pPr>
            <a:r>
              <a:rPr lang="en-US" sz="1000">
                <a:solidFill>
                  <a:srgbClr val="1A1A1A"/>
                </a:solidFill>
                <a:latin typeface="Cambria" panose="02040503050406030204" pitchFamily="18" charset="0"/>
                <a:ea typeface="Cambria" panose="02040503050406030204" pitchFamily="18" charset="0"/>
              </a:rPr>
              <a:t>(FY25A→FY30E</a:t>
            </a:r>
            <a:r>
              <a:rPr lang="en-US" sz="680">
                <a:solidFill>
                  <a:srgbClr val="1A1A1A"/>
                </a:solidFill>
              </a:rPr>
              <a:t>)</a:t>
            </a:r>
            <a:endParaRPr lang="en-US" sz="680"/>
          </a:p>
        </p:txBody>
      </p:sp>
      <p:sp>
        <p:nvSpPr>
          <p:cNvPr id="221" name="Text 12">
            <a:extLst>
              <a:ext uri="{FF2B5EF4-FFF2-40B4-BE49-F238E27FC236}">
                <a16:creationId xmlns:a16="http://schemas.microsoft.com/office/drawing/2014/main" id="{87F5FD02-3739-8D32-27FD-B5BC1C708573}"/>
              </a:ext>
            </a:extLst>
          </p:cNvPr>
          <p:cNvSpPr/>
          <p:nvPr/>
        </p:nvSpPr>
        <p:spPr>
          <a:xfrm>
            <a:off x="1710858" y="2346061"/>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$20.6B → $25.9B</a:t>
            </a:r>
            <a:endParaRPr lang="en-US" sz="1050">
              <a:latin typeface="Cambria" panose="02040503050406030204" pitchFamily="18" charset="0"/>
              <a:ea typeface="Cambria" panose="02040503050406030204" pitchFamily="18" charset="0"/>
            </a:endParaRPr>
          </a:p>
        </p:txBody>
      </p:sp>
      <p:sp>
        <p:nvSpPr>
          <p:cNvPr id="222" name="Text 13">
            <a:extLst>
              <a:ext uri="{FF2B5EF4-FFF2-40B4-BE49-F238E27FC236}">
                <a16:creationId xmlns:a16="http://schemas.microsoft.com/office/drawing/2014/main" id="{EC147654-C7FB-B0E8-0C63-ABE4C2F5B8FF}"/>
              </a:ext>
            </a:extLst>
          </p:cNvPr>
          <p:cNvSpPr/>
          <p:nvPr/>
        </p:nvSpPr>
        <p:spPr>
          <a:xfrm>
            <a:off x="2735419" y="2346061"/>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$20.6B → $24.1B</a:t>
            </a:r>
          </a:p>
        </p:txBody>
      </p:sp>
      <p:sp>
        <p:nvSpPr>
          <p:cNvPr id="223" name="Text 14">
            <a:extLst>
              <a:ext uri="{FF2B5EF4-FFF2-40B4-BE49-F238E27FC236}">
                <a16:creationId xmlns:a16="http://schemas.microsoft.com/office/drawing/2014/main" id="{DE3CD17B-4623-9D75-A3F7-806388B36EDF}"/>
              </a:ext>
            </a:extLst>
          </p:cNvPr>
          <p:cNvSpPr/>
          <p:nvPr/>
        </p:nvSpPr>
        <p:spPr>
          <a:xfrm>
            <a:off x="3784183" y="2346061"/>
            <a:ext cx="1403730" cy="494913"/>
          </a:xfrm>
          <a:prstGeom prst="rect">
            <a:avLst/>
          </a:prstGeom>
          <a:noFill/>
          <a:ln/>
        </p:spPr>
        <p:txBody>
          <a:bodyPr wrap="square" lIns="0" tIns="0" rIns="0" bIns="0" rtlCol="0" anchor="ctr"/>
          <a:lstStyle/>
          <a:p>
            <a:pPr marL="0" indent="0">
              <a:buNone/>
            </a:pPr>
            <a:r>
              <a:rPr lang="en-US" sz="700">
                <a:solidFill>
                  <a:srgbClr val="6B7280"/>
                </a:solidFill>
                <a:latin typeface="Cambria" panose="02040503050406030204" pitchFamily="18" charset="0"/>
                <a:ea typeface="Cambria" panose="02040503050406030204" pitchFamily="18" charset="0"/>
              </a:rPr>
              <a:t>Model adds $1.8B above consensus; Flyrcado ramp ($50m→$590m) and Intelerad SaaS ($270m→$427m) are key incremental drivers</a:t>
            </a:r>
            <a:endParaRPr lang="en-US" sz="700">
              <a:latin typeface="Cambria" panose="02040503050406030204" pitchFamily="18" charset="0"/>
              <a:ea typeface="Cambria" panose="02040503050406030204" pitchFamily="18" charset="0"/>
            </a:endParaRPr>
          </a:p>
        </p:txBody>
      </p:sp>
      <p:sp>
        <p:nvSpPr>
          <p:cNvPr id="224" name="Shape 15">
            <a:extLst>
              <a:ext uri="{FF2B5EF4-FFF2-40B4-BE49-F238E27FC236}">
                <a16:creationId xmlns:a16="http://schemas.microsoft.com/office/drawing/2014/main" id="{85115FFC-8FE6-FBCE-27DF-A9403BDE5463}"/>
              </a:ext>
            </a:extLst>
          </p:cNvPr>
          <p:cNvSpPr/>
          <p:nvPr/>
        </p:nvSpPr>
        <p:spPr>
          <a:xfrm>
            <a:off x="137713" y="2866033"/>
            <a:ext cx="5122806" cy="545031"/>
          </a:xfrm>
          <a:prstGeom prst="rect">
            <a:avLst/>
          </a:prstGeom>
          <a:solidFill>
            <a:srgbClr val="F2F4F7"/>
          </a:solidFill>
          <a:ln w="3175">
            <a:solidFill>
              <a:srgbClr val="C8D0DA"/>
            </a:solidFill>
            <a:prstDash val="solid"/>
          </a:ln>
        </p:spPr>
        <p:txBody>
          <a:bodyPr/>
          <a:lstStyle/>
          <a:p>
            <a:endParaRPr lang="en-GB"/>
          </a:p>
        </p:txBody>
      </p:sp>
      <p:sp>
        <p:nvSpPr>
          <p:cNvPr id="225" name="Text 16">
            <a:extLst>
              <a:ext uri="{FF2B5EF4-FFF2-40B4-BE49-F238E27FC236}">
                <a16:creationId xmlns:a16="http://schemas.microsoft.com/office/drawing/2014/main" id="{254C90AB-C215-7893-5039-6BDB1216279F}"/>
              </a:ext>
            </a:extLst>
          </p:cNvPr>
          <p:cNvSpPr/>
          <p:nvPr/>
        </p:nvSpPr>
        <p:spPr>
          <a:xfrm>
            <a:off x="202252" y="2891092"/>
            <a:ext cx="1452134" cy="494913"/>
          </a:xfrm>
          <a:prstGeom prst="rect">
            <a:avLst/>
          </a:prstGeom>
          <a:noFill/>
          <a:ln/>
        </p:spPr>
        <p:txBody>
          <a:bodyPr wrap="square" lIns="0" tIns="0" rIns="0" bIns="0" rtlCol="0" anchor="ctr"/>
          <a:lstStyle/>
          <a:p>
            <a:pPr marL="0" indent="0">
              <a:buNone/>
            </a:pPr>
            <a:r>
              <a:rPr lang="en-US" sz="1000">
                <a:latin typeface="Cambria" panose="02040503050406030204" pitchFamily="18" charset="0"/>
                <a:ea typeface="Cambria" panose="02040503050406030204" pitchFamily="18" charset="0"/>
              </a:rPr>
              <a:t>EBIT margin</a:t>
            </a:r>
          </a:p>
        </p:txBody>
      </p:sp>
      <p:sp>
        <p:nvSpPr>
          <p:cNvPr id="226" name="Text 17">
            <a:extLst>
              <a:ext uri="{FF2B5EF4-FFF2-40B4-BE49-F238E27FC236}">
                <a16:creationId xmlns:a16="http://schemas.microsoft.com/office/drawing/2014/main" id="{9B5B1628-08F0-C867-B16C-4B24CF604A0B}"/>
              </a:ext>
            </a:extLst>
          </p:cNvPr>
          <p:cNvSpPr/>
          <p:nvPr/>
        </p:nvSpPr>
        <p:spPr>
          <a:xfrm>
            <a:off x="1710858" y="2891092"/>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15.3% → 18.5%</a:t>
            </a:r>
            <a:endParaRPr lang="en-US" sz="1050">
              <a:latin typeface="Cambria" panose="02040503050406030204" pitchFamily="18" charset="0"/>
              <a:ea typeface="Cambria" panose="02040503050406030204" pitchFamily="18" charset="0"/>
            </a:endParaRPr>
          </a:p>
        </p:txBody>
      </p:sp>
      <p:sp>
        <p:nvSpPr>
          <p:cNvPr id="227" name="Text 18">
            <a:extLst>
              <a:ext uri="{FF2B5EF4-FFF2-40B4-BE49-F238E27FC236}">
                <a16:creationId xmlns:a16="http://schemas.microsoft.com/office/drawing/2014/main" id="{4BC763C4-C4D6-45FD-BA3E-40F012A697FA}"/>
              </a:ext>
            </a:extLst>
          </p:cNvPr>
          <p:cNvSpPr/>
          <p:nvPr/>
        </p:nvSpPr>
        <p:spPr>
          <a:xfrm>
            <a:off x="2735419" y="2891092"/>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15.3% → 16.5%</a:t>
            </a:r>
          </a:p>
        </p:txBody>
      </p:sp>
      <p:sp>
        <p:nvSpPr>
          <p:cNvPr id="228" name="Text 19">
            <a:extLst>
              <a:ext uri="{FF2B5EF4-FFF2-40B4-BE49-F238E27FC236}">
                <a16:creationId xmlns:a16="http://schemas.microsoft.com/office/drawing/2014/main" id="{3345D8C1-A6EA-8C85-4CE9-671C1F2D5794}"/>
              </a:ext>
            </a:extLst>
          </p:cNvPr>
          <p:cNvSpPr/>
          <p:nvPr/>
        </p:nvSpPr>
        <p:spPr>
          <a:xfrm>
            <a:off x="3784183" y="2891092"/>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Bottom-up sub-segment anchors (Lantheus 29.8%, Olympus 22.2%, ISRG 28.1%) drive +200bps above consensus by FY30 via PDx mix-shift</a:t>
            </a:r>
          </a:p>
        </p:txBody>
      </p:sp>
      <p:sp>
        <p:nvSpPr>
          <p:cNvPr id="229" name="Shape 20">
            <a:extLst>
              <a:ext uri="{FF2B5EF4-FFF2-40B4-BE49-F238E27FC236}">
                <a16:creationId xmlns:a16="http://schemas.microsoft.com/office/drawing/2014/main" id="{203D2AE8-D14B-F68B-D55F-E16DF2A9FD75}"/>
              </a:ext>
            </a:extLst>
          </p:cNvPr>
          <p:cNvSpPr/>
          <p:nvPr/>
        </p:nvSpPr>
        <p:spPr>
          <a:xfrm>
            <a:off x="137713" y="3411063"/>
            <a:ext cx="5122806" cy="545031"/>
          </a:xfrm>
          <a:prstGeom prst="rect">
            <a:avLst/>
          </a:prstGeom>
          <a:solidFill>
            <a:srgbClr val="FFFFFF"/>
          </a:solidFill>
          <a:ln w="3175">
            <a:solidFill>
              <a:srgbClr val="C8D0DA"/>
            </a:solidFill>
            <a:prstDash val="solid"/>
          </a:ln>
        </p:spPr>
        <p:txBody>
          <a:bodyPr/>
          <a:lstStyle/>
          <a:p>
            <a:endParaRPr lang="en-GB"/>
          </a:p>
        </p:txBody>
      </p:sp>
      <p:sp>
        <p:nvSpPr>
          <p:cNvPr id="230" name="Text 21">
            <a:extLst>
              <a:ext uri="{FF2B5EF4-FFF2-40B4-BE49-F238E27FC236}">
                <a16:creationId xmlns:a16="http://schemas.microsoft.com/office/drawing/2014/main" id="{0954FF9D-3573-9952-2558-2485683612B9}"/>
              </a:ext>
            </a:extLst>
          </p:cNvPr>
          <p:cNvSpPr/>
          <p:nvPr/>
        </p:nvSpPr>
        <p:spPr>
          <a:xfrm>
            <a:off x="202252" y="3436122"/>
            <a:ext cx="1452134" cy="494913"/>
          </a:xfrm>
          <a:prstGeom prst="rect">
            <a:avLst/>
          </a:prstGeom>
          <a:noFill/>
          <a:ln/>
        </p:spPr>
        <p:txBody>
          <a:bodyPr wrap="square" lIns="0" tIns="0" rIns="0" bIns="0" rtlCol="0" anchor="ctr"/>
          <a:lstStyle/>
          <a:p>
            <a:pPr marL="0" indent="0">
              <a:buNone/>
            </a:pPr>
            <a:r>
              <a:rPr lang="en-US" sz="1000">
                <a:latin typeface="Cambria" panose="02040503050406030204" pitchFamily="18" charset="0"/>
                <a:ea typeface="Cambria" panose="02040503050406030204" pitchFamily="18" charset="0"/>
              </a:rPr>
              <a:t>Annual BPS gain</a:t>
            </a:r>
          </a:p>
        </p:txBody>
      </p:sp>
      <p:sp>
        <p:nvSpPr>
          <p:cNvPr id="231" name="Text 22">
            <a:extLst>
              <a:ext uri="{FF2B5EF4-FFF2-40B4-BE49-F238E27FC236}">
                <a16:creationId xmlns:a16="http://schemas.microsoft.com/office/drawing/2014/main" id="{CBD8FDE4-EECB-670C-6A3D-D6550F029248}"/>
              </a:ext>
            </a:extLst>
          </p:cNvPr>
          <p:cNvSpPr/>
          <p:nvPr/>
        </p:nvSpPr>
        <p:spPr>
          <a:xfrm>
            <a:off x="1710858" y="3436122"/>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+325bps by FY30</a:t>
            </a:r>
            <a:endParaRPr lang="en-US" sz="1050">
              <a:latin typeface="Cambria" panose="02040503050406030204" pitchFamily="18" charset="0"/>
              <a:ea typeface="Cambria" panose="02040503050406030204" pitchFamily="18" charset="0"/>
            </a:endParaRPr>
          </a:p>
        </p:txBody>
      </p:sp>
      <p:sp>
        <p:nvSpPr>
          <p:cNvPr id="232" name="Text 23">
            <a:extLst>
              <a:ext uri="{FF2B5EF4-FFF2-40B4-BE49-F238E27FC236}">
                <a16:creationId xmlns:a16="http://schemas.microsoft.com/office/drawing/2014/main" id="{25582F7B-1DF7-1C21-39CA-6FD086131841}"/>
              </a:ext>
            </a:extLst>
          </p:cNvPr>
          <p:cNvSpPr/>
          <p:nvPr/>
        </p:nvSpPr>
        <p:spPr>
          <a:xfrm>
            <a:off x="2735419" y="3436122"/>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+120bps by FY30</a:t>
            </a:r>
          </a:p>
        </p:txBody>
      </p:sp>
      <p:sp>
        <p:nvSpPr>
          <p:cNvPr id="233" name="Text 24">
            <a:extLst>
              <a:ext uri="{FF2B5EF4-FFF2-40B4-BE49-F238E27FC236}">
                <a16:creationId xmlns:a16="http://schemas.microsoft.com/office/drawing/2014/main" id="{E0071D2C-B176-0A4D-FBF7-6ECBA99B22D7}"/>
              </a:ext>
            </a:extLst>
          </p:cNvPr>
          <p:cNvSpPr/>
          <p:nvPr/>
        </p:nvSpPr>
        <p:spPr>
          <a:xfrm>
            <a:off x="3784183" y="3436122"/>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Model: +74 (FY26), +78 (FY27), +64 (FY28), +55 (FY29), +53 (FY30). Consensus under-models anchored sub-segment margin progression</a:t>
            </a:r>
          </a:p>
        </p:txBody>
      </p:sp>
      <p:sp>
        <p:nvSpPr>
          <p:cNvPr id="234" name="Shape 25">
            <a:extLst>
              <a:ext uri="{FF2B5EF4-FFF2-40B4-BE49-F238E27FC236}">
                <a16:creationId xmlns:a16="http://schemas.microsoft.com/office/drawing/2014/main" id="{D08FAA83-501D-EF9D-2417-3C09EFBED3D9}"/>
              </a:ext>
            </a:extLst>
          </p:cNvPr>
          <p:cNvSpPr/>
          <p:nvPr/>
        </p:nvSpPr>
        <p:spPr>
          <a:xfrm>
            <a:off x="137713" y="3956094"/>
            <a:ext cx="5122806" cy="545031"/>
          </a:xfrm>
          <a:prstGeom prst="rect">
            <a:avLst/>
          </a:prstGeom>
          <a:solidFill>
            <a:srgbClr val="F2F4F7"/>
          </a:solidFill>
          <a:ln w="3175">
            <a:solidFill>
              <a:srgbClr val="C8D0DA"/>
            </a:solidFill>
            <a:prstDash val="solid"/>
          </a:ln>
        </p:spPr>
        <p:txBody>
          <a:bodyPr/>
          <a:lstStyle/>
          <a:p>
            <a:endParaRPr lang="en-GB"/>
          </a:p>
        </p:txBody>
      </p:sp>
      <p:sp>
        <p:nvSpPr>
          <p:cNvPr id="235" name="Text 26">
            <a:extLst>
              <a:ext uri="{FF2B5EF4-FFF2-40B4-BE49-F238E27FC236}">
                <a16:creationId xmlns:a16="http://schemas.microsoft.com/office/drawing/2014/main" id="{CD8168C8-A9BB-AC09-70B4-450A8ECAE9A1}"/>
              </a:ext>
            </a:extLst>
          </p:cNvPr>
          <p:cNvSpPr/>
          <p:nvPr/>
        </p:nvSpPr>
        <p:spPr>
          <a:xfrm>
            <a:off x="202252" y="3981153"/>
            <a:ext cx="1452134" cy="494913"/>
          </a:xfrm>
          <a:prstGeom prst="rect">
            <a:avLst/>
          </a:prstGeom>
          <a:noFill/>
          <a:ln/>
        </p:spPr>
        <p:txBody>
          <a:bodyPr wrap="square" lIns="0" tIns="0" rIns="0" bIns="0" rtlCol="0" anchor="ctr"/>
          <a:lstStyle/>
          <a:p>
            <a:pPr marL="0" indent="0">
              <a:buNone/>
            </a:pPr>
            <a:r>
              <a:rPr lang="en-US" sz="1000">
                <a:latin typeface="Cambria" panose="02040503050406030204" pitchFamily="18" charset="0"/>
                <a:ea typeface="Cambria" panose="02040503050406030204" pitchFamily="18" charset="0"/>
              </a:rPr>
              <a:t>Tariff drag</a:t>
            </a:r>
          </a:p>
        </p:txBody>
      </p:sp>
      <p:sp>
        <p:nvSpPr>
          <p:cNvPr id="236" name="Text 27">
            <a:extLst>
              <a:ext uri="{FF2B5EF4-FFF2-40B4-BE49-F238E27FC236}">
                <a16:creationId xmlns:a16="http://schemas.microsoft.com/office/drawing/2014/main" id="{F85D8A0F-8F35-2C19-6EFC-C2E315EF5092}"/>
              </a:ext>
            </a:extLst>
          </p:cNvPr>
          <p:cNvSpPr/>
          <p:nvPr/>
        </p:nvSpPr>
        <p:spPr>
          <a:xfrm>
            <a:off x="1710858" y="3981153"/>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−$245m → −$30m</a:t>
            </a:r>
            <a:endParaRPr lang="en-US" sz="1050">
              <a:latin typeface="Cambria" panose="02040503050406030204" pitchFamily="18" charset="0"/>
              <a:ea typeface="Cambria" panose="02040503050406030204" pitchFamily="18" charset="0"/>
            </a:endParaRPr>
          </a:p>
        </p:txBody>
      </p:sp>
      <p:sp>
        <p:nvSpPr>
          <p:cNvPr id="237" name="Text 28">
            <a:extLst>
              <a:ext uri="{FF2B5EF4-FFF2-40B4-BE49-F238E27FC236}">
                <a16:creationId xmlns:a16="http://schemas.microsoft.com/office/drawing/2014/main" id="{4DB11038-11CB-4DD3-21A9-A9EDEBB443CD}"/>
              </a:ext>
            </a:extLst>
          </p:cNvPr>
          <p:cNvSpPr/>
          <p:nvPr/>
        </p:nvSpPr>
        <p:spPr>
          <a:xfrm>
            <a:off x="2735419" y="3981153"/>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~−$200m persistent</a:t>
            </a:r>
          </a:p>
        </p:txBody>
      </p:sp>
      <p:sp>
        <p:nvSpPr>
          <p:cNvPr id="238" name="Text 29">
            <a:extLst>
              <a:ext uri="{FF2B5EF4-FFF2-40B4-BE49-F238E27FC236}">
                <a16:creationId xmlns:a16="http://schemas.microsoft.com/office/drawing/2014/main" id="{4798D73E-0A3A-69DA-B53C-D6B93B2FD290}"/>
              </a:ext>
            </a:extLst>
          </p:cNvPr>
          <p:cNvSpPr/>
          <p:nvPr/>
        </p:nvSpPr>
        <p:spPr>
          <a:xfrm>
            <a:off x="3784183" y="3981153"/>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Gradual USTR relief per management guidance; bear case retains full $245m/yr. Street models persistent drag through FY29–30</a:t>
            </a:r>
          </a:p>
        </p:txBody>
      </p:sp>
      <p:sp>
        <p:nvSpPr>
          <p:cNvPr id="239" name="Shape 30">
            <a:extLst>
              <a:ext uri="{FF2B5EF4-FFF2-40B4-BE49-F238E27FC236}">
                <a16:creationId xmlns:a16="http://schemas.microsoft.com/office/drawing/2014/main" id="{E0D724BC-73D8-6B24-462D-34E87C599DA7}"/>
              </a:ext>
            </a:extLst>
          </p:cNvPr>
          <p:cNvSpPr/>
          <p:nvPr/>
        </p:nvSpPr>
        <p:spPr>
          <a:xfrm>
            <a:off x="137713" y="4501125"/>
            <a:ext cx="5122806" cy="545031"/>
          </a:xfrm>
          <a:prstGeom prst="rect">
            <a:avLst/>
          </a:prstGeom>
          <a:solidFill>
            <a:srgbClr val="FFFFFF"/>
          </a:solidFill>
          <a:ln w="3175">
            <a:solidFill>
              <a:srgbClr val="C8D0DA"/>
            </a:solidFill>
            <a:prstDash val="solid"/>
          </a:ln>
        </p:spPr>
        <p:txBody>
          <a:bodyPr/>
          <a:lstStyle/>
          <a:p>
            <a:endParaRPr lang="en-GB"/>
          </a:p>
        </p:txBody>
      </p:sp>
      <p:sp>
        <p:nvSpPr>
          <p:cNvPr id="240" name="Text 31">
            <a:extLst>
              <a:ext uri="{FF2B5EF4-FFF2-40B4-BE49-F238E27FC236}">
                <a16:creationId xmlns:a16="http://schemas.microsoft.com/office/drawing/2014/main" id="{0D1D59E6-5B3D-4D2A-2755-5D574CDD0E96}"/>
              </a:ext>
            </a:extLst>
          </p:cNvPr>
          <p:cNvSpPr/>
          <p:nvPr/>
        </p:nvSpPr>
        <p:spPr>
          <a:xfrm>
            <a:off x="202252" y="4526184"/>
            <a:ext cx="1452134" cy="494913"/>
          </a:xfrm>
          <a:prstGeom prst="rect">
            <a:avLst/>
          </a:prstGeom>
          <a:noFill/>
          <a:ln/>
        </p:spPr>
        <p:txBody>
          <a:bodyPr wrap="square" lIns="0" tIns="0" rIns="0" bIns="0" rtlCol="0" anchor="ctr"/>
          <a:lstStyle/>
          <a:p>
            <a:pPr marL="0" indent="0">
              <a:buNone/>
            </a:pPr>
            <a:r>
              <a:rPr lang="en-US" sz="1000">
                <a:latin typeface="Cambria" panose="02040503050406030204" pitchFamily="18" charset="0"/>
                <a:ea typeface="Cambria" panose="02040503050406030204" pitchFamily="18" charset="0"/>
              </a:rPr>
              <a:t>One-time items</a:t>
            </a:r>
          </a:p>
          <a:p>
            <a:pPr marL="0" indent="0">
              <a:buNone/>
            </a:pPr>
            <a:r>
              <a:rPr lang="en-US" sz="1000">
                <a:latin typeface="Cambria" panose="02040503050406030204" pitchFamily="18" charset="0"/>
                <a:ea typeface="Cambria" panose="02040503050406030204" pitchFamily="18" charset="0"/>
              </a:rPr>
              <a:t>(China + refund</a:t>
            </a:r>
            <a:r>
              <a:rPr lang="en-US" sz="680">
                <a:solidFill>
                  <a:srgbClr val="1A1A1A"/>
                </a:solidFill>
              </a:rPr>
              <a:t>)</a:t>
            </a:r>
            <a:endParaRPr lang="en-US" sz="680"/>
          </a:p>
        </p:txBody>
      </p:sp>
      <p:sp>
        <p:nvSpPr>
          <p:cNvPr id="241" name="Text 32">
            <a:extLst>
              <a:ext uri="{FF2B5EF4-FFF2-40B4-BE49-F238E27FC236}">
                <a16:creationId xmlns:a16="http://schemas.microsoft.com/office/drawing/2014/main" id="{6FB81A1E-7427-2FB5-EEBC-47478452DF97}"/>
              </a:ext>
            </a:extLst>
          </p:cNvPr>
          <p:cNvSpPr/>
          <p:nvPr/>
        </p:nvSpPr>
        <p:spPr>
          <a:xfrm>
            <a:off x="1710858" y="4526184"/>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None (base)</a:t>
            </a:r>
            <a:endParaRPr lang="en-US" sz="1050">
              <a:latin typeface="Cambria" panose="02040503050406030204" pitchFamily="18" charset="0"/>
              <a:ea typeface="Cambria" panose="02040503050406030204" pitchFamily="18" charset="0"/>
            </a:endParaRPr>
          </a:p>
        </p:txBody>
      </p:sp>
      <p:sp>
        <p:nvSpPr>
          <p:cNvPr id="242" name="Text 33">
            <a:extLst>
              <a:ext uri="{FF2B5EF4-FFF2-40B4-BE49-F238E27FC236}">
                <a16:creationId xmlns:a16="http://schemas.microsoft.com/office/drawing/2014/main" id="{CDC2AAB6-11D3-76A2-77CD-1E5DBD409CD9}"/>
              </a:ext>
            </a:extLst>
          </p:cNvPr>
          <p:cNvSpPr/>
          <p:nvPr/>
        </p:nvSpPr>
        <p:spPr>
          <a:xfrm>
            <a:off x="2735419" y="4526184"/>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None</a:t>
            </a:r>
          </a:p>
        </p:txBody>
      </p:sp>
      <p:sp>
        <p:nvSpPr>
          <p:cNvPr id="243" name="Text 34">
            <a:extLst>
              <a:ext uri="{FF2B5EF4-FFF2-40B4-BE49-F238E27FC236}">
                <a16:creationId xmlns:a16="http://schemas.microsoft.com/office/drawing/2014/main" id="{43A7A133-D49E-B1CE-FA66-1FC3BE1FF925}"/>
              </a:ext>
            </a:extLst>
          </p:cNvPr>
          <p:cNvSpPr/>
          <p:nvPr/>
        </p:nvSpPr>
        <p:spPr>
          <a:xfrm>
            <a:off x="3784183" y="4526184"/>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China NWC unlock ($543m total) and tariff refund (~$394m after-tax FY27) are Bull-only; excluded from terminal value</a:t>
            </a:r>
          </a:p>
        </p:txBody>
      </p:sp>
      <p:sp>
        <p:nvSpPr>
          <p:cNvPr id="244" name="Shape 35">
            <a:extLst>
              <a:ext uri="{FF2B5EF4-FFF2-40B4-BE49-F238E27FC236}">
                <a16:creationId xmlns:a16="http://schemas.microsoft.com/office/drawing/2014/main" id="{6A060306-9A84-2634-2C65-3913BB218C67}"/>
              </a:ext>
            </a:extLst>
          </p:cNvPr>
          <p:cNvSpPr/>
          <p:nvPr/>
        </p:nvSpPr>
        <p:spPr>
          <a:xfrm>
            <a:off x="137713" y="5046156"/>
            <a:ext cx="5122806" cy="545031"/>
          </a:xfrm>
          <a:prstGeom prst="rect">
            <a:avLst/>
          </a:prstGeom>
          <a:solidFill>
            <a:srgbClr val="F2F4F7"/>
          </a:solidFill>
          <a:ln w="3175">
            <a:solidFill>
              <a:srgbClr val="C8D0DA"/>
            </a:solidFill>
            <a:prstDash val="solid"/>
          </a:ln>
        </p:spPr>
        <p:txBody>
          <a:bodyPr/>
          <a:lstStyle/>
          <a:p>
            <a:endParaRPr lang="en-GB"/>
          </a:p>
        </p:txBody>
      </p:sp>
      <p:sp>
        <p:nvSpPr>
          <p:cNvPr id="245" name="Text 36">
            <a:extLst>
              <a:ext uri="{FF2B5EF4-FFF2-40B4-BE49-F238E27FC236}">
                <a16:creationId xmlns:a16="http://schemas.microsoft.com/office/drawing/2014/main" id="{AA9A8865-9A1B-9419-99AE-F4E9673F0C73}"/>
              </a:ext>
            </a:extLst>
          </p:cNvPr>
          <p:cNvSpPr/>
          <p:nvPr/>
        </p:nvSpPr>
        <p:spPr>
          <a:xfrm>
            <a:off x="202252" y="5071215"/>
            <a:ext cx="1452134" cy="494913"/>
          </a:xfrm>
          <a:prstGeom prst="rect">
            <a:avLst/>
          </a:prstGeom>
          <a:noFill/>
          <a:ln/>
        </p:spPr>
        <p:txBody>
          <a:bodyPr wrap="square" lIns="0" tIns="0" rIns="0" bIns="0" rtlCol="0" anchor="ctr"/>
          <a:lstStyle/>
          <a:p>
            <a:pPr marL="0" indent="0">
              <a:buNone/>
            </a:pPr>
            <a:r>
              <a:rPr lang="en-US" sz="1000">
                <a:latin typeface="Cambria" panose="02040503050406030204" pitchFamily="18" charset="0"/>
                <a:ea typeface="Cambria" panose="02040503050406030204" pitchFamily="18" charset="0"/>
              </a:rPr>
              <a:t>Exit EV/EBITDA</a:t>
            </a:r>
          </a:p>
        </p:txBody>
      </p:sp>
      <p:sp>
        <p:nvSpPr>
          <p:cNvPr id="246" name="Text 37">
            <a:extLst>
              <a:ext uri="{FF2B5EF4-FFF2-40B4-BE49-F238E27FC236}">
                <a16:creationId xmlns:a16="http://schemas.microsoft.com/office/drawing/2014/main" id="{2DE8F384-EB62-6356-A095-F9E864847037}"/>
              </a:ext>
            </a:extLst>
          </p:cNvPr>
          <p:cNvSpPr/>
          <p:nvPr/>
        </p:nvSpPr>
        <p:spPr>
          <a:xfrm>
            <a:off x="1710858" y="5071215"/>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11.0×</a:t>
            </a:r>
            <a:endParaRPr lang="en-US" sz="1050">
              <a:latin typeface="Cambria" panose="02040503050406030204" pitchFamily="18" charset="0"/>
              <a:ea typeface="Cambria" panose="02040503050406030204" pitchFamily="18" charset="0"/>
            </a:endParaRPr>
          </a:p>
        </p:txBody>
      </p:sp>
      <p:sp>
        <p:nvSpPr>
          <p:cNvPr id="247" name="Text 38">
            <a:extLst>
              <a:ext uri="{FF2B5EF4-FFF2-40B4-BE49-F238E27FC236}">
                <a16:creationId xmlns:a16="http://schemas.microsoft.com/office/drawing/2014/main" id="{0BEC4608-DDD3-EA43-4A77-B2995A23C502}"/>
              </a:ext>
            </a:extLst>
          </p:cNvPr>
          <p:cNvSpPr/>
          <p:nvPr/>
        </p:nvSpPr>
        <p:spPr>
          <a:xfrm>
            <a:off x="2735419" y="5071215"/>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~10.5×</a:t>
            </a:r>
          </a:p>
        </p:txBody>
      </p:sp>
      <p:sp>
        <p:nvSpPr>
          <p:cNvPr id="248" name="Text 39">
            <a:extLst>
              <a:ext uri="{FF2B5EF4-FFF2-40B4-BE49-F238E27FC236}">
                <a16:creationId xmlns:a16="http://schemas.microsoft.com/office/drawing/2014/main" id="{F1C1830B-6BBC-906D-C6B2-EC96A2DD6904}"/>
              </a:ext>
            </a:extLst>
          </p:cNvPr>
          <p:cNvSpPr/>
          <p:nvPr/>
        </p:nvSpPr>
        <p:spPr>
          <a:xfrm>
            <a:off x="3784183" y="5071215"/>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Peer median (Philips 10×, BDX 11×, MDT 13×). Improving FCF and PDx re-rating justifies convergence to median</a:t>
            </a:r>
          </a:p>
        </p:txBody>
      </p:sp>
      <p:sp>
        <p:nvSpPr>
          <p:cNvPr id="249" name="Shape 40">
            <a:extLst>
              <a:ext uri="{FF2B5EF4-FFF2-40B4-BE49-F238E27FC236}">
                <a16:creationId xmlns:a16="http://schemas.microsoft.com/office/drawing/2014/main" id="{6104E281-9A59-E5D9-4186-0D0142266E52}"/>
              </a:ext>
            </a:extLst>
          </p:cNvPr>
          <p:cNvSpPr/>
          <p:nvPr/>
        </p:nvSpPr>
        <p:spPr>
          <a:xfrm>
            <a:off x="137713" y="5591186"/>
            <a:ext cx="5122806" cy="545031"/>
          </a:xfrm>
          <a:prstGeom prst="rect">
            <a:avLst/>
          </a:prstGeom>
          <a:solidFill>
            <a:srgbClr val="FFFFFF"/>
          </a:solidFill>
          <a:ln w="3175">
            <a:solidFill>
              <a:srgbClr val="C8D0DA"/>
            </a:solidFill>
            <a:prstDash val="solid"/>
          </a:ln>
        </p:spPr>
        <p:txBody>
          <a:bodyPr/>
          <a:lstStyle/>
          <a:p>
            <a:endParaRPr lang="en-GB"/>
          </a:p>
        </p:txBody>
      </p:sp>
      <p:sp>
        <p:nvSpPr>
          <p:cNvPr id="250" name="Text 41">
            <a:extLst>
              <a:ext uri="{FF2B5EF4-FFF2-40B4-BE49-F238E27FC236}">
                <a16:creationId xmlns:a16="http://schemas.microsoft.com/office/drawing/2014/main" id="{479CA601-90C4-2740-72F1-44DC4C20BFAA}"/>
              </a:ext>
            </a:extLst>
          </p:cNvPr>
          <p:cNvSpPr/>
          <p:nvPr/>
        </p:nvSpPr>
        <p:spPr>
          <a:xfrm>
            <a:off x="202252" y="5616245"/>
            <a:ext cx="1452134" cy="494913"/>
          </a:xfrm>
          <a:prstGeom prst="rect">
            <a:avLst/>
          </a:prstGeom>
          <a:noFill/>
          <a:ln/>
        </p:spPr>
        <p:txBody>
          <a:bodyPr wrap="square" lIns="0" tIns="0" rIns="0" bIns="0" rtlCol="0" anchor="ctr"/>
          <a:lstStyle/>
          <a:p>
            <a:pPr marL="0" indent="0">
              <a:buNone/>
            </a:pPr>
            <a:r>
              <a:rPr lang="en-US" sz="1000">
                <a:latin typeface="Cambria" panose="02040503050406030204" pitchFamily="18" charset="0"/>
                <a:ea typeface="Cambria" panose="02040503050406030204" pitchFamily="18" charset="0"/>
              </a:rPr>
              <a:t>Target Price</a:t>
            </a:r>
          </a:p>
        </p:txBody>
      </p:sp>
      <p:sp>
        <p:nvSpPr>
          <p:cNvPr id="251" name="Text 42">
            <a:extLst>
              <a:ext uri="{FF2B5EF4-FFF2-40B4-BE49-F238E27FC236}">
                <a16:creationId xmlns:a16="http://schemas.microsoft.com/office/drawing/2014/main" id="{9FDF72CE-C7B8-111E-1F6C-3BBCB5578CC7}"/>
              </a:ext>
            </a:extLst>
          </p:cNvPr>
          <p:cNvSpPr/>
          <p:nvPr/>
        </p:nvSpPr>
        <p:spPr>
          <a:xfrm>
            <a:off x="1710858" y="5616245"/>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$79.91</a:t>
            </a:r>
            <a:endParaRPr lang="en-US" sz="1050">
              <a:latin typeface="Cambria" panose="02040503050406030204" pitchFamily="18" charset="0"/>
              <a:ea typeface="Cambria" panose="02040503050406030204" pitchFamily="18" charset="0"/>
            </a:endParaRPr>
          </a:p>
        </p:txBody>
      </p:sp>
      <p:sp>
        <p:nvSpPr>
          <p:cNvPr id="252" name="Text 43">
            <a:extLst>
              <a:ext uri="{FF2B5EF4-FFF2-40B4-BE49-F238E27FC236}">
                <a16:creationId xmlns:a16="http://schemas.microsoft.com/office/drawing/2014/main" id="{0A007E94-C7E4-57B6-3FB0-6C7ED8D39A0F}"/>
              </a:ext>
            </a:extLst>
          </p:cNvPr>
          <p:cNvSpPr/>
          <p:nvPr/>
        </p:nvSpPr>
        <p:spPr>
          <a:xfrm>
            <a:off x="2735419" y="5616245"/>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~$68.00</a:t>
            </a:r>
          </a:p>
        </p:txBody>
      </p:sp>
      <p:sp>
        <p:nvSpPr>
          <p:cNvPr id="253" name="Text 44">
            <a:extLst>
              <a:ext uri="{FF2B5EF4-FFF2-40B4-BE49-F238E27FC236}">
                <a16:creationId xmlns:a16="http://schemas.microsoft.com/office/drawing/2014/main" id="{A11F9C3F-2D30-3394-4295-58C5F3B69F90}"/>
              </a:ext>
            </a:extLst>
          </p:cNvPr>
          <p:cNvSpPr/>
          <p:nvPr/>
        </p:nvSpPr>
        <p:spPr>
          <a:xfrm>
            <a:off x="3784183" y="5616245"/>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Base DCF at FY30E exit; consensus clusters $65–70 reflecting margin underestimate. Bull $108.13, bear $55.64</a:t>
            </a:r>
          </a:p>
        </p:txBody>
      </p:sp>
      <p:sp>
        <p:nvSpPr>
          <p:cNvPr id="254" name="Shape 45">
            <a:extLst>
              <a:ext uri="{FF2B5EF4-FFF2-40B4-BE49-F238E27FC236}">
                <a16:creationId xmlns:a16="http://schemas.microsoft.com/office/drawing/2014/main" id="{08474544-5711-6BF0-0CF7-7C9851B81399}"/>
              </a:ext>
            </a:extLst>
          </p:cNvPr>
          <p:cNvSpPr/>
          <p:nvPr/>
        </p:nvSpPr>
        <p:spPr>
          <a:xfrm>
            <a:off x="137713" y="6136217"/>
            <a:ext cx="5122806" cy="545031"/>
          </a:xfrm>
          <a:prstGeom prst="rect">
            <a:avLst/>
          </a:prstGeom>
          <a:solidFill>
            <a:srgbClr val="EBF7F5"/>
          </a:solidFill>
          <a:ln w="3175">
            <a:solidFill>
              <a:srgbClr val="C8D0DA"/>
            </a:solidFill>
            <a:prstDash val="solid"/>
          </a:ln>
        </p:spPr>
        <p:txBody>
          <a:bodyPr/>
          <a:lstStyle/>
          <a:p>
            <a:endParaRPr lang="en-GB"/>
          </a:p>
        </p:txBody>
      </p:sp>
      <p:sp>
        <p:nvSpPr>
          <p:cNvPr id="255" name="Text 46">
            <a:extLst>
              <a:ext uri="{FF2B5EF4-FFF2-40B4-BE49-F238E27FC236}">
                <a16:creationId xmlns:a16="http://schemas.microsoft.com/office/drawing/2014/main" id="{E37A17B2-94E6-8164-7F16-A65A909071D8}"/>
              </a:ext>
            </a:extLst>
          </p:cNvPr>
          <p:cNvSpPr/>
          <p:nvPr/>
        </p:nvSpPr>
        <p:spPr>
          <a:xfrm>
            <a:off x="202252" y="6161276"/>
            <a:ext cx="1452134" cy="494913"/>
          </a:xfrm>
          <a:prstGeom prst="rect">
            <a:avLst/>
          </a:prstGeom>
          <a:noFill/>
          <a:ln/>
        </p:spPr>
        <p:txBody>
          <a:bodyPr wrap="square" lIns="0" tIns="0" rIns="0" bIns="0" rtlCol="0" anchor="ctr"/>
          <a:lstStyle/>
          <a:p>
            <a:pPr marL="0" indent="0">
              <a:buNone/>
            </a:pPr>
            <a:r>
              <a:rPr lang="en-US" sz="1000" b="1" dirty="0">
                <a:solidFill>
                  <a:srgbClr val="1A1A1A"/>
                </a:solidFill>
                <a:latin typeface="Cambria" panose="02040503050406030204" pitchFamily="18" charset="0"/>
                <a:ea typeface="Cambria" panose="02040503050406030204" pitchFamily="18" charset="0"/>
              </a:rPr>
              <a:t>Total 24M Return</a:t>
            </a:r>
            <a:endParaRPr lang="en-US" sz="1000" dirty="0">
              <a:latin typeface="Cambria" panose="02040503050406030204" pitchFamily="18" charset="0"/>
              <a:ea typeface="Cambria" panose="02040503050406030204" pitchFamily="18" charset="0"/>
            </a:endParaRPr>
          </a:p>
        </p:txBody>
      </p:sp>
      <p:sp>
        <p:nvSpPr>
          <p:cNvPr id="256" name="Text 47">
            <a:extLst>
              <a:ext uri="{FF2B5EF4-FFF2-40B4-BE49-F238E27FC236}">
                <a16:creationId xmlns:a16="http://schemas.microsoft.com/office/drawing/2014/main" id="{91562BA9-7601-58F7-1EEA-7B8759FED8C0}"/>
              </a:ext>
            </a:extLst>
          </p:cNvPr>
          <p:cNvSpPr/>
          <p:nvPr/>
        </p:nvSpPr>
        <p:spPr>
          <a:xfrm>
            <a:off x="1710858" y="6161276"/>
            <a:ext cx="984224" cy="494913"/>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31.0%</a:t>
            </a:r>
            <a:endParaRPr lang="en-US" sz="1050">
              <a:latin typeface="Cambria" panose="02040503050406030204" pitchFamily="18" charset="0"/>
              <a:ea typeface="Cambria" panose="02040503050406030204" pitchFamily="18" charset="0"/>
            </a:endParaRPr>
          </a:p>
        </p:txBody>
      </p:sp>
      <p:sp>
        <p:nvSpPr>
          <p:cNvPr id="257" name="Text 48">
            <a:extLst>
              <a:ext uri="{FF2B5EF4-FFF2-40B4-BE49-F238E27FC236}">
                <a16:creationId xmlns:a16="http://schemas.microsoft.com/office/drawing/2014/main" id="{5BA70682-4B45-0859-D9B2-86623B04B986}"/>
              </a:ext>
            </a:extLst>
          </p:cNvPr>
          <p:cNvSpPr/>
          <p:nvPr/>
        </p:nvSpPr>
        <p:spPr>
          <a:xfrm>
            <a:off x="2735419" y="6161276"/>
            <a:ext cx="984224" cy="494913"/>
          </a:xfrm>
          <a:prstGeom prst="rect">
            <a:avLst/>
          </a:prstGeom>
          <a:noFill/>
          <a:ln/>
        </p:spPr>
        <p:txBody>
          <a:bodyPr wrap="square" lIns="0" tIns="0" rIns="0" bIns="0" rtlCol="0" anchor="ctr"/>
          <a:lstStyle/>
          <a:p>
            <a:pPr marL="0" indent="0" algn="ctr">
              <a:buNone/>
            </a:pPr>
            <a:r>
              <a:rPr lang="en-US" sz="1050">
                <a:latin typeface="Cambria" panose="02040503050406030204" pitchFamily="18" charset="0"/>
                <a:ea typeface="Cambria" panose="02040503050406030204" pitchFamily="18" charset="0"/>
              </a:rPr>
              <a:t>11.5%</a:t>
            </a:r>
          </a:p>
        </p:txBody>
      </p:sp>
      <p:sp>
        <p:nvSpPr>
          <p:cNvPr id="258" name="Text 49">
            <a:extLst>
              <a:ext uri="{FF2B5EF4-FFF2-40B4-BE49-F238E27FC236}">
                <a16:creationId xmlns:a16="http://schemas.microsoft.com/office/drawing/2014/main" id="{74A6DDFF-29A6-651D-7008-B0C814CAFD9E}"/>
              </a:ext>
            </a:extLst>
          </p:cNvPr>
          <p:cNvSpPr/>
          <p:nvPr/>
        </p:nvSpPr>
        <p:spPr>
          <a:xfrm>
            <a:off x="3784183" y="6161276"/>
            <a:ext cx="1403730" cy="494913"/>
          </a:xfrm>
          <a:prstGeom prst="rect">
            <a:avLst/>
          </a:prstGeom>
          <a:noFill/>
          <a:ln/>
        </p:spPr>
        <p:txBody>
          <a:bodyPr wrap="square" lIns="0" tIns="0" rIns="0" bIns="0" rtlCol="0" anchor="ctr"/>
          <a:lstStyle/>
          <a:p>
            <a:pPr marL="0" indent="0">
              <a:buNone/>
            </a:pPr>
            <a:r>
              <a:rPr lang="en-US" sz="700">
                <a:latin typeface="Cambria" panose="02040503050406030204" pitchFamily="18" charset="0"/>
                <a:ea typeface="Cambria" panose="02040503050406030204" pitchFamily="18" charset="0"/>
              </a:rPr>
              <a:t>Key differentiators: margin expansion pace + tariff relief timing + peer-median multiple. Scenario-weighted return = 38.5%</a:t>
            </a:r>
          </a:p>
        </p:txBody>
      </p:sp>
      <p:sp>
        <p:nvSpPr>
          <p:cNvPr id="259" name="Shape 50">
            <a:extLst>
              <a:ext uri="{FF2B5EF4-FFF2-40B4-BE49-F238E27FC236}">
                <a16:creationId xmlns:a16="http://schemas.microsoft.com/office/drawing/2014/main" id="{C2457096-D28E-82DB-20E6-10CA14E6B2E3}"/>
              </a:ext>
            </a:extLst>
          </p:cNvPr>
          <p:cNvSpPr/>
          <p:nvPr/>
        </p:nvSpPr>
        <p:spPr>
          <a:xfrm>
            <a:off x="1694723" y="1995236"/>
            <a:ext cx="0" cy="4686012"/>
          </a:xfrm>
          <a:prstGeom prst="line">
            <a:avLst/>
          </a:prstGeom>
          <a:noFill/>
          <a:ln w="6350">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60" name="Shape 51">
            <a:extLst>
              <a:ext uri="{FF2B5EF4-FFF2-40B4-BE49-F238E27FC236}">
                <a16:creationId xmlns:a16="http://schemas.microsoft.com/office/drawing/2014/main" id="{9349B4F1-6FE2-271A-A2EB-516E116C926B}"/>
              </a:ext>
            </a:extLst>
          </p:cNvPr>
          <p:cNvSpPr/>
          <p:nvPr/>
        </p:nvSpPr>
        <p:spPr>
          <a:xfrm>
            <a:off x="2719285" y="1995236"/>
            <a:ext cx="0" cy="4686012"/>
          </a:xfrm>
          <a:prstGeom prst="line">
            <a:avLst/>
          </a:prstGeom>
          <a:noFill/>
          <a:ln w="6350">
            <a:solidFill>
              <a:srgbClr val="C8D0DA"/>
            </a:solidFill>
            <a:prstDash val="solid"/>
          </a:ln>
        </p:spPr>
        <p:txBody>
          <a:bodyPr/>
          <a:lstStyle/>
          <a:p>
            <a:endParaRPr lang="en-GB"/>
          </a:p>
        </p:txBody>
      </p:sp>
      <p:sp>
        <p:nvSpPr>
          <p:cNvPr id="261" name="Shape 52">
            <a:extLst>
              <a:ext uri="{FF2B5EF4-FFF2-40B4-BE49-F238E27FC236}">
                <a16:creationId xmlns:a16="http://schemas.microsoft.com/office/drawing/2014/main" id="{AD951C36-A2D4-90C8-77B5-89FE611B9A06}"/>
              </a:ext>
            </a:extLst>
          </p:cNvPr>
          <p:cNvSpPr/>
          <p:nvPr/>
        </p:nvSpPr>
        <p:spPr>
          <a:xfrm>
            <a:off x="3751913" y="1995236"/>
            <a:ext cx="0" cy="4686012"/>
          </a:xfrm>
          <a:prstGeom prst="line">
            <a:avLst/>
          </a:prstGeom>
          <a:noFill/>
          <a:ln w="6350">
            <a:solidFill>
              <a:srgbClr val="C8D0DA"/>
            </a:solidFill>
            <a:prstDash val="solid"/>
          </a:ln>
        </p:spPr>
        <p:txBody>
          <a:bodyPr/>
          <a:lstStyle/>
          <a:p>
            <a:endParaRPr lang="en-GB"/>
          </a:p>
        </p:txBody>
      </p:sp>
      <p:sp>
        <p:nvSpPr>
          <p:cNvPr id="267" name="Text 54">
            <a:extLst>
              <a:ext uri="{FF2B5EF4-FFF2-40B4-BE49-F238E27FC236}">
                <a16:creationId xmlns:a16="http://schemas.microsoft.com/office/drawing/2014/main" id="{AAE84952-2DE5-16CD-3BED-3A35AC58CD52}"/>
              </a:ext>
            </a:extLst>
          </p:cNvPr>
          <p:cNvSpPr/>
          <p:nvPr/>
        </p:nvSpPr>
        <p:spPr>
          <a:xfrm>
            <a:off x="5908184" y="1658806"/>
            <a:ext cx="5718191" cy="273128"/>
          </a:xfrm>
          <a:prstGeom prst="rect">
            <a:avLst/>
          </a:prstGeom>
          <a:noFill/>
          <a:ln/>
        </p:spPr>
        <p:txBody>
          <a:bodyPr wrap="square" lIns="0" tIns="0" rIns="0" bIns="0" rtlCol="0" anchor="ctr"/>
          <a:lstStyle/>
          <a:p>
            <a:pPr marL="0" indent="0">
              <a:buNone/>
            </a:pPr>
            <a:r>
              <a:rPr lang="en-US" sz="1050" b="1">
                <a:solidFill>
                  <a:srgbClr val="FFFFFF"/>
                </a:solidFill>
                <a:latin typeface="Cambria" panose="02040503050406030204" pitchFamily="18" charset="0"/>
                <a:ea typeface="Cambria" panose="02040503050406030204" pitchFamily="18" charset="0"/>
              </a:rPr>
              <a:t>Revenue build and key drivers</a:t>
            </a:r>
            <a:endParaRPr lang="en-US" sz="1050">
              <a:latin typeface="Cambria" panose="02040503050406030204" pitchFamily="18" charset="0"/>
              <a:ea typeface="Cambria" panose="02040503050406030204" pitchFamily="18" charset="0"/>
            </a:endParaRPr>
          </a:p>
        </p:txBody>
      </p:sp>
      <p:sp>
        <p:nvSpPr>
          <p:cNvPr id="268" name="Text 55">
            <a:extLst>
              <a:ext uri="{FF2B5EF4-FFF2-40B4-BE49-F238E27FC236}">
                <a16:creationId xmlns:a16="http://schemas.microsoft.com/office/drawing/2014/main" id="{CBDAFC31-5622-9705-44A2-9A5B1FD2F7B2}"/>
              </a:ext>
            </a:extLst>
          </p:cNvPr>
          <p:cNvSpPr/>
          <p:nvPr/>
        </p:nvSpPr>
        <p:spPr>
          <a:xfrm>
            <a:off x="5868523" y="2027692"/>
            <a:ext cx="5971465" cy="536502"/>
          </a:xfrm>
          <a:prstGeom prst="rect">
            <a:avLst/>
          </a:prstGeom>
          <a:noFill/>
          <a:ln/>
        </p:spPr>
        <p:txBody>
          <a:bodyPr wrap="square" lIns="0" tIns="0" rIns="0" bIns="0" rtlCol="0" anchor="ctr"/>
          <a:lstStyle/>
          <a:p>
            <a:pPr marL="0" indent="0">
              <a:buNone/>
            </a:pPr>
            <a:r>
              <a:rPr lang="en-US" sz="900">
                <a:solidFill>
                  <a:srgbClr val="1A1A1A"/>
                </a:solidFill>
                <a:latin typeface="Cambria" panose="02040503050406030204" pitchFamily="18" charset="0"/>
                <a:ea typeface="Cambria" panose="02040503050406030204" pitchFamily="18" charset="0"/>
              </a:rPr>
              <a:t>• Revenue anchored to FY25A actuals ($20,625m). Forward model driven by sub-segment growth: Flyrcado ramp, Intelerad SaaS layer (FY26+) and China CapEx recovery.
• Margins built bottom-up: each sub-segment grows toward peer anchor (Lantheus, Olympus ESD, ISRG, Nihon Kohden). Hardware residuals still below Varex/Mindray comps at FY30.</a:t>
            </a:r>
            <a:endParaRPr lang="en-US" sz="900">
              <a:latin typeface="Cambria" panose="02040503050406030204" pitchFamily="18" charset="0"/>
              <a:ea typeface="Cambria" panose="02040503050406030204" pitchFamily="18" charset="0"/>
            </a:endParaRPr>
          </a:p>
        </p:txBody>
      </p:sp>
      <p:sp>
        <p:nvSpPr>
          <p:cNvPr id="269" name="Text 56">
            <a:extLst>
              <a:ext uri="{FF2B5EF4-FFF2-40B4-BE49-F238E27FC236}">
                <a16:creationId xmlns:a16="http://schemas.microsoft.com/office/drawing/2014/main" id="{9DD9872D-83B2-6591-4375-2905391FE972}"/>
              </a:ext>
            </a:extLst>
          </p:cNvPr>
          <p:cNvSpPr/>
          <p:nvPr/>
        </p:nvSpPr>
        <p:spPr>
          <a:xfrm>
            <a:off x="5868523" y="2578817"/>
            <a:ext cx="2888470" cy="195092"/>
          </a:xfrm>
          <a:prstGeom prst="rect">
            <a:avLst/>
          </a:prstGeom>
          <a:noFill/>
          <a:ln/>
        </p:spPr>
        <p:txBody>
          <a:bodyPr wrap="square" lIns="0" tIns="0" rIns="0" bIns="0" rtlCol="0" anchor="ctr"/>
          <a:lstStyle/>
          <a:p>
            <a:pPr marL="0" indent="0">
              <a:buNone/>
            </a:pPr>
            <a:r>
              <a:rPr lang="en-US" sz="900" b="1">
                <a:solidFill>
                  <a:srgbClr val="1A1A1A"/>
                </a:solidFill>
                <a:latin typeface="Cambria" panose="02040503050406030204" pitchFamily="18" charset="0"/>
                <a:ea typeface="Cambria" panose="02040503050406030204" pitchFamily="18" charset="0"/>
              </a:rPr>
              <a:t>Revenue, $B</a:t>
            </a:r>
            <a:r>
              <a:rPr lang="en-US" sz="900" i="1">
                <a:solidFill>
                  <a:srgbClr val="6B7280"/>
                </a:solidFill>
                <a:latin typeface="Cambria" panose="02040503050406030204" pitchFamily="18" charset="0"/>
                <a:ea typeface="Cambria" panose="02040503050406030204" pitchFamily="18" charset="0"/>
              </a:rPr>
              <a:t>  Model vs consensus</a:t>
            </a:r>
            <a:endParaRPr lang="en-US" sz="900">
              <a:latin typeface="Cambria" panose="02040503050406030204" pitchFamily="18" charset="0"/>
              <a:ea typeface="Cambria" panose="02040503050406030204" pitchFamily="18" charset="0"/>
            </a:endParaRPr>
          </a:p>
        </p:txBody>
      </p:sp>
      <p:graphicFrame>
        <p:nvGraphicFramePr>
          <p:cNvPr id="270" name="Chart 0">
            <a:extLst>
              <a:ext uri="{FF2B5EF4-FFF2-40B4-BE49-F238E27FC236}">
                <a16:creationId xmlns:a16="http://schemas.microsoft.com/office/drawing/2014/main" id="{994535AF-B829-1D88-C678-9A57AEC4697F}"/>
              </a:ext>
            </a:extLst>
          </p:cNvPr>
          <p:cNvGraphicFramePr/>
          <p:nvPr>
            <p:extLst>
              <p:ext uri="{D42A27DB-BD31-4B8C-83A1-F6EECF244321}">
                <p14:modId xmlns:p14="http://schemas.microsoft.com/office/powerpoint/2010/main" val="89742220"/>
              </p:ext>
            </p:extLst>
          </p:nvPr>
        </p:nvGraphicFramePr>
        <p:xfrm>
          <a:off x="5829853" y="2731810"/>
          <a:ext cx="2888470" cy="1629015"/>
        </p:xfrm>
        <a:graphic>
          <a:graphicData uri="http://schemas.openxmlformats.org/drawingml/2006/chart">
            <c:chart xmlns:c="http://schemas.openxmlformats.org/drawingml/2006/chart" xmlns:r="http://schemas.openxmlformats.org/officeDocument/2006/relationships" r:id="rId2"/>
          </a:graphicData>
        </a:graphic>
      </p:graphicFrame>
      <p:sp>
        <p:nvSpPr>
          <p:cNvPr id="271" name="Text 57">
            <a:extLst>
              <a:ext uri="{FF2B5EF4-FFF2-40B4-BE49-F238E27FC236}">
                <a16:creationId xmlns:a16="http://schemas.microsoft.com/office/drawing/2014/main" id="{CDFD79F2-26F5-6DA6-D8A9-679C5E018F24}"/>
              </a:ext>
            </a:extLst>
          </p:cNvPr>
          <p:cNvSpPr/>
          <p:nvPr/>
        </p:nvSpPr>
        <p:spPr>
          <a:xfrm>
            <a:off x="5868523" y="4272565"/>
            <a:ext cx="2888470" cy="253619"/>
          </a:xfrm>
          <a:prstGeom prst="rect">
            <a:avLst/>
          </a:prstGeom>
          <a:noFill/>
          <a:ln/>
        </p:spPr>
        <p:txBody>
          <a:bodyPr wrap="square" lIns="0" tIns="0" rIns="0" bIns="0" rtlCol="0" anchor="t"/>
          <a:lstStyle/>
          <a:p>
            <a:pPr marL="0" indent="0">
              <a:buNone/>
            </a:pPr>
            <a:r>
              <a:rPr lang="en-US" sz="700" i="1">
                <a:latin typeface="Cambria" panose="02040503050406030204" pitchFamily="18" charset="0"/>
                <a:ea typeface="Cambria" panose="02040503050406030204" pitchFamily="18" charset="0"/>
              </a:rPr>
              <a:t>Model adds +$1.8B above consensus by FY30. Gap opens from FY27 as Flyrcado and Intelerad SaaS both compound into group revenue, widening from +3% to +8% divergence</a:t>
            </a:r>
            <a:r>
              <a:rPr lang="en-US" sz="600" i="1">
                <a:solidFill>
                  <a:srgbClr val="6B7280"/>
                </a:solidFill>
              </a:rPr>
              <a:t>.</a:t>
            </a:r>
            <a:endParaRPr lang="en-US" sz="600"/>
          </a:p>
        </p:txBody>
      </p:sp>
      <p:sp>
        <p:nvSpPr>
          <p:cNvPr id="272" name="Text 58">
            <a:extLst>
              <a:ext uri="{FF2B5EF4-FFF2-40B4-BE49-F238E27FC236}">
                <a16:creationId xmlns:a16="http://schemas.microsoft.com/office/drawing/2014/main" id="{9D4D1BFB-F286-84BF-B313-1B358A469068}"/>
              </a:ext>
            </a:extLst>
          </p:cNvPr>
          <p:cNvSpPr/>
          <p:nvPr/>
        </p:nvSpPr>
        <p:spPr>
          <a:xfrm>
            <a:off x="8905365" y="2593517"/>
            <a:ext cx="2888470" cy="195092"/>
          </a:xfrm>
          <a:prstGeom prst="rect">
            <a:avLst/>
          </a:prstGeom>
          <a:noFill/>
          <a:ln/>
        </p:spPr>
        <p:txBody>
          <a:bodyPr wrap="square" lIns="0" tIns="0" rIns="0" bIns="0" rtlCol="0" anchor="ctr"/>
          <a:lstStyle/>
          <a:p>
            <a:pPr marL="0" indent="0">
              <a:buNone/>
            </a:pPr>
            <a:r>
              <a:rPr lang="en-US" sz="800" b="1">
                <a:solidFill>
                  <a:srgbClr val="1A1A1A"/>
                </a:solidFill>
                <a:latin typeface="Cambria" panose="02040503050406030204" pitchFamily="18" charset="0"/>
                <a:ea typeface="Cambria" panose="02040503050406030204" pitchFamily="18" charset="0"/>
              </a:rPr>
              <a:t>EBIT Margin, %</a:t>
            </a:r>
            <a:r>
              <a:rPr lang="en-US" sz="800" i="1">
                <a:solidFill>
                  <a:srgbClr val="6B7280"/>
                </a:solidFill>
                <a:latin typeface="Cambria" panose="02040503050406030204" pitchFamily="18" charset="0"/>
                <a:ea typeface="Cambria" panose="02040503050406030204" pitchFamily="18" charset="0"/>
              </a:rPr>
              <a:t>  Model vs consensus</a:t>
            </a:r>
            <a:endParaRPr lang="en-US" sz="800">
              <a:latin typeface="Cambria" panose="02040503050406030204" pitchFamily="18" charset="0"/>
              <a:ea typeface="Cambria" panose="02040503050406030204" pitchFamily="18" charset="0"/>
            </a:endParaRPr>
          </a:p>
        </p:txBody>
      </p:sp>
      <p:graphicFrame>
        <p:nvGraphicFramePr>
          <p:cNvPr id="273" name="Chart 1">
            <a:extLst>
              <a:ext uri="{FF2B5EF4-FFF2-40B4-BE49-F238E27FC236}">
                <a16:creationId xmlns:a16="http://schemas.microsoft.com/office/drawing/2014/main" id="{F7F9509B-4C0D-C217-12CD-28509B88B544}"/>
              </a:ext>
            </a:extLst>
          </p:cNvPr>
          <p:cNvGraphicFramePr/>
          <p:nvPr>
            <p:extLst>
              <p:ext uri="{D42A27DB-BD31-4B8C-83A1-F6EECF244321}">
                <p14:modId xmlns:p14="http://schemas.microsoft.com/office/powerpoint/2010/main" val="4079441148"/>
              </p:ext>
            </p:extLst>
          </p:nvPr>
        </p:nvGraphicFramePr>
        <p:xfrm>
          <a:off x="8816237" y="2731810"/>
          <a:ext cx="2888470" cy="1629015"/>
        </p:xfrm>
        <a:graphic>
          <a:graphicData uri="http://schemas.openxmlformats.org/drawingml/2006/chart">
            <c:chart xmlns:c="http://schemas.openxmlformats.org/drawingml/2006/chart" xmlns:r="http://schemas.openxmlformats.org/officeDocument/2006/relationships" r:id="rId3"/>
          </a:graphicData>
        </a:graphic>
      </p:graphicFrame>
      <p:sp>
        <p:nvSpPr>
          <p:cNvPr id="274" name="Text 59">
            <a:extLst>
              <a:ext uri="{FF2B5EF4-FFF2-40B4-BE49-F238E27FC236}">
                <a16:creationId xmlns:a16="http://schemas.microsoft.com/office/drawing/2014/main" id="{1853323A-39CB-B4E7-31BD-BED3D682E8A4}"/>
              </a:ext>
            </a:extLst>
          </p:cNvPr>
          <p:cNvSpPr/>
          <p:nvPr/>
        </p:nvSpPr>
        <p:spPr>
          <a:xfrm>
            <a:off x="8905365" y="4260852"/>
            <a:ext cx="2888470" cy="253619"/>
          </a:xfrm>
          <a:prstGeom prst="rect">
            <a:avLst/>
          </a:prstGeom>
          <a:noFill/>
          <a:ln/>
        </p:spPr>
        <p:txBody>
          <a:bodyPr wrap="square" lIns="0" tIns="0" rIns="0" bIns="0" rtlCol="0" anchor="t"/>
          <a:lstStyle/>
          <a:p>
            <a:pPr marL="0" indent="0">
              <a:buNone/>
            </a:pPr>
            <a:r>
              <a:rPr lang="en-US" sz="700" i="1">
                <a:latin typeface="Cambria" panose="02040503050406030204" pitchFamily="18" charset="0"/>
                <a:ea typeface="Cambria" panose="02040503050406030204" pitchFamily="18" charset="0"/>
              </a:rPr>
              <a:t>Expands +325bps to 18.5% by FY30E vs consensus +120bps to 16.5%. Strongest annual gains in FY26–27 (+74/+78bps) as Intelerad SaaS and Flyrcado ramp compound simultaneously</a:t>
            </a:r>
            <a:r>
              <a:rPr lang="en-US" sz="700" i="1">
                <a:solidFill>
                  <a:srgbClr val="6B7280"/>
                </a:solidFill>
              </a:rPr>
              <a:t>.</a:t>
            </a:r>
            <a:endParaRPr lang="en-US" sz="700"/>
          </a:p>
        </p:txBody>
      </p:sp>
      <p:sp>
        <p:nvSpPr>
          <p:cNvPr id="275" name="Text 60">
            <a:extLst>
              <a:ext uri="{FF2B5EF4-FFF2-40B4-BE49-F238E27FC236}">
                <a16:creationId xmlns:a16="http://schemas.microsoft.com/office/drawing/2014/main" id="{6A65FD6C-C731-ABCC-8EBD-DCD0752D9541}"/>
              </a:ext>
            </a:extLst>
          </p:cNvPr>
          <p:cNvSpPr/>
          <p:nvPr/>
        </p:nvSpPr>
        <p:spPr>
          <a:xfrm>
            <a:off x="5868523" y="4676094"/>
            <a:ext cx="2888470" cy="195092"/>
          </a:xfrm>
          <a:prstGeom prst="rect">
            <a:avLst/>
          </a:prstGeom>
          <a:noFill/>
          <a:ln/>
        </p:spPr>
        <p:txBody>
          <a:bodyPr wrap="square" lIns="0" tIns="0" rIns="0" bIns="0" rtlCol="0" anchor="ctr"/>
          <a:lstStyle/>
          <a:p>
            <a:pPr marL="0" indent="0">
              <a:buNone/>
            </a:pPr>
            <a:r>
              <a:rPr lang="en-US" sz="800" b="1">
                <a:solidFill>
                  <a:srgbClr val="1A1A1A"/>
                </a:solidFill>
                <a:latin typeface="Cambria" panose="02040503050406030204" pitchFamily="18" charset="0"/>
                <a:ea typeface="Cambria" panose="02040503050406030204" pitchFamily="18" charset="0"/>
              </a:rPr>
              <a:t>Segment Revenue, $m</a:t>
            </a:r>
            <a:r>
              <a:rPr lang="en-US" sz="800" i="1">
                <a:solidFill>
                  <a:srgbClr val="6B7280"/>
                </a:solidFill>
                <a:latin typeface="Cambria" panose="02040503050406030204" pitchFamily="18" charset="0"/>
                <a:ea typeface="Cambria" panose="02040503050406030204" pitchFamily="18" charset="0"/>
              </a:rPr>
              <a:t>  Imaging · AVS · PCS · PDx</a:t>
            </a:r>
            <a:endParaRPr lang="en-US" sz="800">
              <a:latin typeface="Cambria" panose="02040503050406030204" pitchFamily="18" charset="0"/>
              <a:ea typeface="Cambria" panose="02040503050406030204" pitchFamily="18" charset="0"/>
            </a:endParaRPr>
          </a:p>
        </p:txBody>
      </p:sp>
      <p:graphicFrame>
        <p:nvGraphicFramePr>
          <p:cNvPr id="276" name="Chart 2">
            <a:extLst>
              <a:ext uri="{FF2B5EF4-FFF2-40B4-BE49-F238E27FC236}">
                <a16:creationId xmlns:a16="http://schemas.microsoft.com/office/drawing/2014/main" id="{F02E7E74-8B27-C06E-449F-635D5023810F}"/>
              </a:ext>
            </a:extLst>
          </p:cNvPr>
          <p:cNvGraphicFramePr/>
          <p:nvPr>
            <p:extLst>
              <p:ext uri="{D42A27DB-BD31-4B8C-83A1-F6EECF244321}">
                <p14:modId xmlns:p14="http://schemas.microsoft.com/office/powerpoint/2010/main" val="2544044542"/>
              </p:ext>
            </p:extLst>
          </p:nvPr>
        </p:nvGraphicFramePr>
        <p:xfrm>
          <a:off x="5829853" y="4858309"/>
          <a:ext cx="2888470" cy="1629015"/>
        </p:xfrm>
        <a:graphic>
          <a:graphicData uri="http://schemas.openxmlformats.org/drawingml/2006/chart">
            <c:chart xmlns:c="http://schemas.openxmlformats.org/drawingml/2006/chart" xmlns:r="http://schemas.openxmlformats.org/officeDocument/2006/relationships" r:id="rId4"/>
          </a:graphicData>
        </a:graphic>
      </p:graphicFrame>
      <p:sp>
        <p:nvSpPr>
          <p:cNvPr id="277" name="Text 61">
            <a:extLst>
              <a:ext uri="{FF2B5EF4-FFF2-40B4-BE49-F238E27FC236}">
                <a16:creationId xmlns:a16="http://schemas.microsoft.com/office/drawing/2014/main" id="{8F926187-C7F0-146E-3C41-86DEB52CF5A7}"/>
              </a:ext>
            </a:extLst>
          </p:cNvPr>
          <p:cNvSpPr/>
          <p:nvPr/>
        </p:nvSpPr>
        <p:spPr>
          <a:xfrm>
            <a:off x="5829853" y="6506834"/>
            <a:ext cx="2888470" cy="253619"/>
          </a:xfrm>
          <a:prstGeom prst="rect">
            <a:avLst/>
          </a:prstGeom>
          <a:noFill/>
          <a:ln/>
        </p:spPr>
        <p:txBody>
          <a:bodyPr wrap="square" lIns="0" tIns="0" rIns="0" bIns="0" rtlCol="0" anchor="t"/>
          <a:lstStyle/>
          <a:p>
            <a:pPr marL="0" indent="0">
              <a:buNone/>
            </a:pPr>
            <a:r>
              <a:rPr lang="en-US" sz="700" i="1">
                <a:latin typeface="Cambria" panose="02040503050406030204" pitchFamily="18" charset="0"/>
                <a:ea typeface="Cambria" panose="02040503050406030204" pitchFamily="18" charset="0"/>
              </a:rPr>
              <a:t>PDx fastest-growing (+41% FY25–30) as Flyrcado and NMP scale. Imaging dominant but hardware drag limits growth. Mix-shift toward PDx is the structural margin-expansion driver.</a:t>
            </a:r>
            <a:endParaRPr lang="en-US" sz="700">
              <a:latin typeface="Cambria" panose="02040503050406030204" pitchFamily="18" charset="0"/>
              <a:ea typeface="Cambria" panose="02040503050406030204" pitchFamily="18" charset="0"/>
            </a:endParaRPr>
          </a:p>
        </p:txBody>
      </p:sp>
      <p:sp>
        <p:nvSpPr>
          <p:cNvPr id="278" name="Text 62">
            <a:extLst>
              <a:ext uri="{FF2B5EF4-FFF2-40B4-BE49-F238E27FC236}">
                <a16:creationId xmlns:a16="http://schemas.microsoft.com/office/drawing/2014/main" id="{BD7B8CA1-FEED-B450-9DCB-EB926AA23CCB}"/>
              </a:ext>
            </a:extLst>
          </p:cNvPr>
          <p:cNvSpPr/>
          <p:nvPr/>
        </p:nvSpPr>
        <p:spPr>
          <a:xfrm>
            <a:off x="8905365" y="4744094"/>
            <a:ext cx="2888470" cy="195092"/>
          </a:xfrm>
          <a:prstGeom prst="rect">
            <a:avLst/>
          </a:prstGeom>
          <a:noFill/>
          <a:ln/>
        </p:spPr>
        <p:txBody>
          <a:bodyPr wrap="square" lIns="0" tIns="0" rIns="0" bIns="0" rtlCol="0" anchor="ctr"/>
          <a:lstStyle/>
          <a:p>
            <a:pPr marL="0" indent="0">
              <a:buNone/>
            </a:pPr>
            <a:r>
              <a:rPr lang="en-US" sz="800" b="1">
                <a:solidFill>
                  <a:srgbClr val="1A1A1A"/>
                </a:solidFill>
                <a:latin typeface="Cambria" panose="02040503050406030204" pitchFamily="18" charset="0"/>
                <a:ea typeface="Cambria" panose="02040503050406030204" pitchFamily="18" charset="0"/>
              </a:rPr>
              <a:t>Flyrcado revenue, $m  &amp;  PDx EBIT margin, %</a:t>
            </a:r>
            <a:r>
              <a:rPr lang="en-US" sz="800" i="1">
                <a:solidFill>
                  <a:srgbClr val="6B7280"/>
                </a:solidFill>
                <a:latin typeface="Cambria" panose="02040503050406030204" pitchFamily="18" charset="0"/>
                <a:ea typeface="Cambria" panose="02040503050406030204" pitchFamily="18" charset="0"/>
              </a:rPr>
              <a:t>  Key PDx growth drivers</a:t>
            </a:r>
            <a:endParaRPr lang="en-US" sz="800">
              <a:latin typeface="Cambria" panose="02040503050406030204" pitchFamily="18" charset="0"/>
              <a:ea typeface="Cambria" panose="02040503050406030204" pitchFamily="18" charset="0"/>
            </a:endParaRPr>
          </a:p>
        </p:txBody>
      </p:sp>
      <p:graphicFrame>
        <p:nvGraphicFramePr>
          <p:cNvPr id="279" name="Chart 3">
            <a:extLst>
              <a:ext uri="{FF2B5EF4-FFF2-40B4-BE49-F238E27FC236}">
                <a16:creationId xmlns:a16="http://schemas.microsoft.com/office/drawing/2014/main" id="{FF030DB4-BE7B-DA96-090D-8A8B43A12B8A}"/>
              </a:ext>
            </a:extLst>
          </p:cNvPr>
          <p:cNvGraphicFramePr/>
          <p:nvPr>
            <p:extLst>
              <p:ext uri="{D42A27DB-BD31-4B8C-83A1-F6EECF244321}">
                <p14:modId xmlns:p14="http://schemas.microsoft.com/office/powerpoint/2010/main" val="1674626232"/>
              </p:ext>
            </p:extLst>
          </p:nvPr>
        </p:nvGraphicFramePr>
        <p:xfrm>
          <a:off x="8816237" y="4858309"/>
          <a:ext cx="2888470" cy="1629015"/>
        </p:xfrm>
        <a:graphic>
          <a:graphicData uri="http://schemas.openxmlformats.org/drawingml/2006/chart">
            <c:chart xmlns:c="http://schemas.openxmlformats.org/drawingml/2006/chart" xmlns:r="http://schemas.openxmlformats.org/officeDocument/2006/relationships" r:id="rId5"/>
          </a:graphicData>
        </a:graphic>
      </p:graphicFrame>
      <p:sp>
        <p:nvSpPr>
          <p:cNvPr id="280" name="Text 63">
            <a:extLst>
              <a:ext uri="{FF2B5EF4-FFF2-40B4-BE49-F238E27FC236}">
                <a16:creationId xmlns:a16="http://schemas.microsoft.com/office/drawing/2014/main" id="{5894BD10-C413-86FB-6142-97280C7F6708}"/>
              </a:ext>
            </a:extLst>
          </p:cNvPr>
          <p:cNvSpPr/>
          <p:nvPr/>
        </p:nvSpPr>
        <p:spPr>
          <a:xfrm>
            <a:off x="8816237" y="6506834"/>
            <a:ext cx="2888470" cy="253619"/>
          </a:xfrm>
          <a:prstGeom prst="rect">
            <a:avLst/>
          </a:prstGeom>
          <a:noFill/>
          <a:ln/>
        </p:spPr>
        <p:txBody>
          <a:bodyPr wrap="square" lIns="0" tIns="0" rIns="0" bIns="0" rtlCol="0" anchor="t"/>
          <a:lstStyle/>
          <a:p>
            <a:pPr marL="0" indent="0">
              <a:buNone/>
            </a:pPr>
            <a:r>
              <a:rPr lang="en-US" sz="700" i="1">
                <a:latin typeface="Cambria" panose="02040503050406030204" pitchFamily="18" charset="0"/>
                <a:ea typeface="Cambria" panose="02040503050406030204" pitchFamily="18" charset="0"/>
              </a:rPr>
              <a:t>Single product: $50m→$590m (+1,080%) by FY30 — largest incremental revenue driver. PDx margin expands 30.1%→33.1% as Flyrcado's ~43% contribution margin (Lantheus ceiling) lifts the segment.</a:t>
            </a:r>
            <a:endParaRPr lang="en-US" sz="700">
              <a:latin typeface="Cambria" panose="02040503050406030204" pitchFamily="18" charset="0"/>
              <a:ea typeface="Cambria" panose="02040503050406030204" pitchFamily="18" charset="0"/>
            </a:endParaRPr>
          </a:p>
        </p:txBody>
      </p:sp>
      <p:sp>
        <p:nvSpPr>
          <p:cNvPr id="281" name="Shape 4">
            <a:extLst>
              <a:ext uri="{FF2B5EF4-FFF2-40B4-BE49-F238E27FC236}">
                <a16:creationId xmlns:a16="http://schemas.microsoft.com/office/drawing/2014/main" id="{D02E11CD-6DEE-F5DF-6BEA-5A8AA358D320}"/>
              </a:ext>
            </a:extLst>
          </p:cNvPr>
          <p:cNvSpPr/>
          <p:nvPr/>
        </p:nvSpPr>
        <p:spPr>
          <a:xfrm>
            <a:off x="5868523" y="1640325"/>
            <a:ext cx="5925312" cy="350824"/>
          </a:xfrm>
          <a:prstGeom prst="rect">
            <a:avLst/>
          </a:prstGeom>
          <a:solidFill>
            <a:srgbClr val="123C3E"/>
          </a:solidFill>
          <a:ln w="12700">
            <a:solidFill>
              <a:srgbClr val="006D64"/>
            </a:solidFill>
            <a:prstDash val="solid"/>
          </a:ln>
        </p:spPr>
        <p:txBody>
          <a:bodyPr/>
          <a:lstStyle/>
          <a:p>
            <a:endParaRPr lang="en-GB"/>
          </a:p>
        </p:txBody>
      </p:sp>
      <p:sp>
        <p:nvSpPr>
          <p:cNvPr id="282" name="Text 5">
            <a:extLst>
              <a:ext uri="{FF2B5EF4-FFF2-40B4-BE49-F238E27FC236}">
                <a16:creationId xmlns:a16="http://schemas.microsoft.com/office/drawing/2014/main" id="{95E84C15-33F5-63B1-1A35-4D5AF2B4485D}"/>
              </a:ext>
            </a:extLst>
          </p:cNvPr>
          <p:cNvSpPr/>
          <p:nvPr/>
        </p:nvSpPr>
        <p:spPr>
          <a:xfrm>
            <a:off x="6008883" y="1651508"/>
            <a:ext cx="4993727" cy="350824"/>
          </a:xfrm>
          <a:prstGeom prst="rect">
            <a:avLst/>
          </a:prstGeom>
          <a:noFill/>
          <a:ln/>
        </p:spPr>
        <p:txBody>
          <a:bodyPr wrap="square" lIns="0" tIns="0" rIns="0" bIns="0" rtlCol="0" anchor="ctr"/>
          <a:lstStyle/>
          <a:p>
            <a:pPr marL="0" indent="0">
              <a:buNone/>
            </a:pPr>
            <a:r>
              <a:rPr lang="en-US" sz="1050" b="1">
                <a:solidFill>
                  <a:srgbClr val="FFFFFF"/>
                </a:solidFill>
                <a:latin typeface="Cambria" panose="02040503050406030204" pitchFamily="18" charset="0"/>
                <a:ea typeface="Cambria" panose="02040503050406030204" pitchFamily="18" charset="0"/>
              </a:rPr>
              <a:t>Revenue build and Key drivers</a:t>
            </a:r>
            <a:endParaRPr lang="en-US" sz="105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4350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4" name="Group 313">
            <a:extLst>
              <a:ext uri="{FF2B5EF4-FFF2-40B4-BE49-F238E27FC236}">
                <a16:creationId xmlns:a16="http://schemas.microsoft.com/office/drawing/2014/main" id="{897AE233-71DD-703C-E66F-B914372AD07D}"/>
              </a:ext>
            </a:extLst>
          </p:cNvPr>
          <p:cNvGrpSpPr/>
          <p:nvPr/>
        </p:nvGrpSpPr>
        <p:grpSpPr>
          <a:xfrm>
            <a:off x="108285" y="637200"/>
            <a:ext cx="5970872" cy="6077480"/>
            <a:chOff x="108285" y="479721"/>
            <a:chExt cx="5970872" cy="6077480"/>
          </a:xfrm>
        </p:grpSpPr>
        <p:sp>
          <p:nvSpPr>
            <p:cNvPr id="163" name="Shape 4">
              <a:extLst>
                <a:ext uri="{FF2B5EF4-FFF2-40B4-BE49-F238E27FC236}">
                  <a16:creationId xmlns:a16="http://schemas.microsoft.com/office/drawing/2014/main" id="{10DBA3EA-8894-8589-0B11-9EDD52FCB9A5}"/>
                </a:ext>
              </a:extLst>
            </p:cNvPr>
            <p:cNvSpPr/>
            <p:nvPr/>
          </p:nvSpPr>
          <p:spPr>
            <a:xfrm>
              <a:off x="108285" y="479721"/>
              <a:ext cx="5970872" cy="321560"/>
            </a:xfrm>
            <a:prstGeom prst="rect">
              <a:avLst/>
            </a:prstGeom>
            <a:solidFill>
              <a:srgbClr val="123C3E"/>
            </a:solidFill>
            <a:ln w="12700">
              <a:solidFill>
                <a:srgbClr val="006D64"/>
              </a:solidFill>
              <a:prstDash val="solid"/>
            </a:ln>
          </p:spPr>
          <p:txBody>
            <a:bodyPr/>
            <a:lstStyle/>
            <a:p>
              <a:endParaRPr lang="en-GB"/>
            </a:p>
          </p:txBody>
        </p:sp>
        <p:sp>
          <p:nvSpPr>
            <p:cNvPr id="164" name="Text 5">
              <a:extLst>
                <a:ext uri="{FF2B5EF4-FFF2-40B4-BE49-F238E27FC236}">
                  <a16:creationId xmlns:a16="http://schemas.microsoft.com/office/drawing/2014/main" id="{C8C75BE9-A4A7-672B-E9A1-0EBFB079000F}"/>
                </a:ext>
              </a:extLst>
            </p:cNvPr>
            <p:cNvSpPr/>
            <p:nvPr/>
          </p:nvSpPr>
          <p:spPr>
            <a:xfrm>
              <a:off x="183509" y="479721"/>
              <a:ext cx="5820425" cy="321560"/>
            </a:xfrm>
            <a:prstGeom prst="rect">
              <a:avLst/>
            </a:prstGeom>
            <a:noFill/>
            <a:ln/>
          </p:spPr>
          <p:txBody>
            <a:bodyPr wrap="square" lIns="0" tIns="0" rIns="0" bIns="0" rtlCol="0" anchor="ctr"/>
            <a:lstStyle/>
            <a:p>
              <a:pPr marL="0" indent="0">
                <a:buNone/>
              </a:pPr>
              <a:r>
                <a:rPr lang="en-US" sz="1050" b="1">
                  <a:solidFill>
                    <a:srgbClr val="FFFFFF"/>
                  </a:solidFill>
                  <a:latin typeface="Cambria" panose="02040503050406030204" pitchFamily="18" charset="0"/>
                  <a:ea typeface="Cambria" panose="02040503050406030204" pitchFamily="18" charset="0"/>
                </a:rPr>
                <a:t>Key inputs and outputs  (FY-2025A  →  FY-2030E)</a:t>
              </a:r>
              <a:endParaRPr lang="en-US" sz="1050">
                <a:latin typeface="Cambria" panose="02040503050406030204" pitchFamily="18" charset="0"/>
                <a:ea typeface="Cambria" panose="02040503050406030204" pitchFamily="18" charset="0"/>
              </a:endParaRPr>
            </a:p>
          </p:txBody>
        </p:sp>
        <p:sp>
          <p:nvSpPr>
            <p:cNvPr id="165" name="Shape 6">
              <a:extLst>
                <a:ext uri="{FF2B5EF4-FFF2-40B4-BE49-F238E27FC236}">
                  <a16:creationId xmlns:a16="http://schemas.microsoft.com/office/drawing/2014/main" id="{DBE7CF74-2BD2-434C-7CB3-903F01A1DD17}"/>
                </a:ext>
              </a:extLst>
            </p:cNvPr>
            <p:cNvSpPr/>
            <p:nvPr/>
          </p:nvSpPr>
          <p:spPr>
            <a:xfrm>
              <a:off x="108285" y="801281"/>
              <a:ext cx="5970872" cy="298591"/>
            </a:xfrm>
            <a:prstGeom prst="rect">
              <a:avLst/>
            </a:prstGeom>
            <a:solidFill>
              <a:srgbClr val="E5E9EF"/>
            </a:solidFill>
            <a:ln w="3175">
              <a:solidFill>
                <a:srgbClr val="C8D0DA"/>
              </a:solidFill>
              <a:prstDash val="solid"/>
            </a:ln>
          </p:spPr>
          <p:txBody>
            <a:bodyPr/>
            <a:lstStyle/>
            <a:p>
              <a:endParaRPr lang="en-GB"/>
            </a:p>
          </p:txBody>
        </p:sp>
        <p:sp>
          <p:nvSpPr>
            <p:cNvPr id="166" name="Text 7">
              <a:extLst>
                <a:ext uri="{FF2B5EF4-FFF2-40B4-BE49-F238E27FC236}">
                  <a16:creationId xmlns:a16="http://schemas.microsoft.com/office/drawing/2014/main" id="{F033AFFC-2D52-9A34-4167-C3A2609F35F3}"/>
                </a:ext>
              </a:extLst>
            </p:cNvPr>
            <p:cNvSpPr/>
            <p:nvPr/>
          </p:nvSpPr>
          <p:spPr>
            <a:xfrm>
              <a:off x="2139322" y="824249"/>
              <a:ext cx="1241189" cy="252654"/>
            </a:xfrm>
            <a:prstGeom prst="rect">
              <a:avLst/>
            </a:prstGeom>
            <a:noFill/>
            <a:ln/>
          </p:spPr>
          <p:txBody>
            <a:bodyPr wrap="square" lIns="0" tIns="0" rIns="0" bIns="0" rtlCol="0" anchor="ctr"/>
            <a:lstStyle/>
            <a:p>
              <a:pPr marL="0" indent="0" algn="ctr">
                <a:buNone/>
              </a:pPr>
              <a:r>
                <a:rPr lang="en-US" sz="850" b="1">
                  <a:solidFill>
                    <a:srgbClr val="C62828"/>
                  </a:solidFill>
                </a:rPr>
                <a:t>Bear</a:t>
              </a:r>
              <a:endParaRPr lang="en-US" sz="850"/>
            </a:p>
          </p:txBody>
        </p:sp>
        <p:sp>
          <p:nvSpPr>
            <p:cNvPr id="167" name="Text 8">
              <a:extLst>
                <a:ext uri="{FF2B5EF4-FFF2-40B4-BE49-F238E27FC236}">
                  <a16:creationId xmlns:a16="http://schemas.microsoft.com/office/drawing/2014/main" id="{421D9CE4-7A6A-4538-9E46-ED1E3A705085}"/>
                </a:ext>
              </a:extLst>
            </p:cNvPr>
            <p:cNvSpPr/>
            <p:nvPr/>
          </p:nvSpPr>
          <p:spPr>
            <a:xfrm>
              <a:off x="3418123" y="824249"/>
              <a:ext cx="1241189" cy="252654"/>
            </a:xfrm>
            <a:prstGeom prst="rect">
              <a:avLst/>
            </a:prstGeom>
            <a:noFill/>
            <a:ln/>
          </p:spPr>
          <p:txBody>
            <a:bodyPr wrap="square" lIns="0" tIns="0" rIns="0" bIns="0" rtlCol="0" anchor="ctr"/>
            <a:lstStyle/>
            <a:p>
              <a:pPr marL="0" indent="0" algn="ctr">
                <a:buNone/>
              </a:pPr>
              <a:r>
                <a:rPr lang="en-US" sz="850" b="1">
                  <a:solidFill>
                    <a:srgbClr val="1A1A1A"/>
                  </a:solidFill>
                </a:rPr>
                <a:t>Base</a:t>
              </a:r>
              <a:endParaRPr lang="en-US" sz="850"/>
            </a:p>
          </p:txBody>
        </p:sp>
        <p:sp>
          <p:nvSpPr>
            <p:cNvPr id="168" name="Text 9">
              <a:extLst>
                <a:ext uri="{FF2B5EF4-FFF2-40B4-BE49-F238E27FC236}">
                  <a16:creationId xmlns:a16="http://schemas.microsoft.com/office/drawing/2014/main" id="{777167ED-48FD-7F97-8639-AD6A03F9A352}"/>
                </a:ext>
              </a:extLst>
            </p:cNvPr>
            <p:cNvSpPr/>
            <p:nvPr/>
          </p:nvSpPr>
          <p:spPr>
            <a:xfrm>
              <a:off x="4696924" y="824249"/>
              <a:ext cx="1297607" cy="252654"/>
            </a:xfrm>
            <a:prstGeom prst="rect">
              <a:avLst/>
            </a:prstGeom>
            <a:noFill/>
            <a:ln/>
          </p:spPr>
          <p:txBody>
            <a:bodyPr wrap="square" lIns="0" tIns="0" rIns="0" bIns="0" rtlCol="0" anchor="ctr"/>
            <a:lstStyle/>
            <a:p>
              <a:pPr marL="0" indent="0" algn="ctr">
                <a:buNone/>
              </a:pPr>
              <a:r>
                <a:rPr lang="en-US" sz="850" b="1">
                  <a:solidFill>
                    <a:srgbClr val="00897B"/>
                  </a:solidFill>
                </a:rPr>
                <a:t>Bull</a:t>
              </a:r>
              <a:endParaRPr lang="en-US" sz="850"/>
            </a:p>
          </p:txBody>
        </p:sp>
        <p:sp>
          <p:nvSpPr>
            <p:cNvPr id="169" name="Shape 10">
              <a:extLst>
                <a:ext uri="{FF2B5EF4-FFF2-40B4-BE49-F238E27FC236}">
                  <a16:creationId xmlns:a16="http://schemas.microsoft.com/office/drawing/2014/main" id="{4AD69410-D0E7-D54F-F3E5-85B592D0D74F}"/>
                </a:ext>
              </a:extLst>
            </p:cNvPr>
            <p:cNvSpPr/>
            <p:nvPr/>
          </p:nvSpPr>
          <p:spPr>
            <a:xfrm>
              <a:off x="108285" y="1099872"/>
              <a:ext cx="5970872" cy="496121"/>
            </a:xfrm>
            <a:prstGeom prst="rect">
              <a:avLst/>
            </a:prstGeom>
            <a:solidFill>
              <a:srgbClr val="FFFFFF"/>
            </a:solidFill>
            <a:ln w="3175">
              <a:solidFill>
                <a:srgbClr val="C8D0DA"/>
              </a:solidFill>
              <a:prstDash val="solid"/>
            </a:ln>
          </p:spPr>
          <p:txBody>
            <a:bodyPr/>
            <a:lstStyle/>
            <a:p>
              <a:endParaRPr lang="en-GB"/>
            </a:p>
          </p:txBody>
        </p:sp>
        <p:sp>
          <p:nvSpPr>
            <p:cNvPr id="170" name="Text 11">
              <a:extLst>
                <a:ext uri="{FF2B5EF4-FFF2-40B4-BE49-F238E27FC236}">
                  <a16:creationId xmlns:a16="http://schemas.microsoft.com/office/drawing/2014/main" id="{EA5C1F3E-14FD-0BFC-375C-A3D4631BD1E7}"/>
                </a:ext>
              </a:extLst>
            </p:cNvPr>
            <p:cNvSpPr/>
            <p:nvPr/>
          </p:nvSpPr>
          <p:spPr>
            <a:xfrm>
              <a:off x="183509" y="1122841"/>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Revenue (FY30E)</a:t>
              </a:r>
            </a:p>
          </p:txBody>
        </p:sp>
        <p:sp>
          <p:nvSpPr>
            <p:cNvPr id="171" name="Text 12">
              <a:extLst>
                <a:ext uri="{FF2B5EF4-FFF2-40B4-BE49-F238E27FC236}">
                  <a16:creationId xmlns:a16="http://schemas.microsoft.com/office/drawing/2014/main" id="{1184A6C7-46B9-E9D5-0BB7-B6DD42A4D72C}"/>
                </a:ext>
              </a:extLst>
            </p:cNvPr>
            <p:cNvSpPr/>
            <p:nvPr/>
          </p:nvSpPr>
          <p:spPr>
            <a:xfrm>
              <a:off x="2139322" y="1122841"/>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$23.4B</a:t>
              </a:r>
            </a:p>
          </p:txBody>
        </p:sp>
        <p:sp>
          <p:nvSpPr>
            <p:cNvPr id="172" name="Text 13">
              <a:extLst>
                <a:ext uri="{FF2B5EF4-FFF2-40B4-BE49-F238E27FC236}">
                  <a16:creationId xmlns:a16="http://schemas.microsoft.com/office/drawing/2014/main" id="{5BFB8880-555F-CECE-79E7-2DA966167D1A}"/>
                </a:ext>
              </a:extLst>
            </p:cNvPr>
            <p:cNvSpPr/>
            <p:nvPr/>
          </p:nvSpPr>
          <p:spPr>
            <a:xfrm>
              <a:off x="3418123" y="1122841"/>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$25.9B</a:t>
              </a:r>
            </a:p>
          </p:txBody>
        </p:sp>
        <p:sp>
          <p:nvSpPr>
            <p:cNvPr id="173" name="Text 14">
              <a:extLst>
                <a:ext uri="{FF2B5EF4-FFF2-40B4-BE49-F238E27FC236}">
                  <a16:creationId xmlns:a16="http://schemas.microsoft.com/office/drawing/2014/main" id="{AB0623C8-E977-8340-A6F9-F4F1B1782722}"/>
                </a:ext>
              </a:extLst>
            </p:cNvPr>
            <p:cNvSpPr/>
            <p:nvPr/>
          </p:nvSpPr>
          <p:spPr>
            <a:xfrm>
              <a:off x="4696924" y="1122841"/>
              <a:ext cx="1297607" cy="450184"/>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$26.4B</a:t>
              </a:r>
            </a:p>
          </p:txBody>
        </p:sp>
        <p:sp>
          <p:nvSpPr>
            <p:cNvPr id="174" name="Shape 15">
              <a:extLst>
                <a:ext uri="{FF2B5EF4-FFF2-40B4-BE49-F238E27FC236}">
                  <a16:creationId xmlns:a16="http://schemas.microsoft.com/office/drawing/2014/main" id="{64CDC1B2-DAF8-2BBC-A1D7-F9971C6898F2}"/>
                </a:ext>
              </a:extLst>
            </p:cNvPr>
            <p:cNvSpPr/>
            <p:nvPr/>
          </p:nvSpPr>
          <p:spPr>
            <a:xfrm>
              <a:off x="108285" y="1595993"/>
              <a:ext cx="5970872" cy="496121"/>
            </a:xfrm>
            <a:prstGeom prst="rect">
              <a:avLst/>
            </a:prstGeom>
            <a:solidFill>
              <a:srgbClr val="F2F4F7"/>
            </a:solidFill>
            <a:ln w="3175">
              <a:solidFill>
                <a:srgbClr val="C8D0DA"/>
              </a:solidFill>
              <a:prstDash val="solid"/>
            </a:ln>
          </p:spPr>
          <p:txBody>
            <a:bodyPr/>
            <a:lstStyle/>
            <a:p>
              <a:endParaRPr lang="en-GB"/>
            </a:p>
          </p:txBody>
        </p:sp>
        <p:sp>
          <p:nvSpPr>
            <p:cNvPr id="175" name="Text 16">
              <a:extLst>
                <a:ext uri="{FF2B5EF4-FFF2-40B4-BE49-F238E27FC236}">
                  <a16:creationId xmlns:a16="http://schemas.microsoft.com/office/drawing/2014/main" id="{4D1C3EFE-788D-7345-3D65-E470F6565590}"/>
                </a:ext>
              </a:extLst>
            </p:cNvPr>
            <p:cNvSpPr/>
            <p:nvPr/>
          </p:nvSpPr>
          <p:spPr>
            <a:xfrm>
              <a:off x="183509" y="1618962"/>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Revenue growth p.a.</a:t>
              </a:r>
            </a:p>
          </p:txBody>
        </p:sp>
        <p:sp>
          <p:nvSpPr>
            <p:cNvPr id="176" name="Text 17">
              <a:extLst>
                <a:ext uri="{FF2B5EF4-FFF2-40B4-BE49-F238E27FC236}">
                  <a16:creationId xmlns:a16="http://schemas.microsoft.com/office/drawing/2014/main" id="{B8494CED-1A02-A143-BD0B-4AF048C27DE5}"/>
                </a:ext>
              </a:extLst>
            </p:cNvPr>
            <p:cNvSpPr/>
            <p:nvPr/>
          </p:nvSpPr>
          <p:spPr>
            <a:xfrm>
              <a:off x="2139322" y="1618962"/>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2.0–3.0%</a:t>
              </a:r>
            </a:p>
          </p:txBody>
        </p:sp>
        <p:sp>
          <p:nvSpPr>
            <p:cNvPr id="177" name="Text 18">
              <a:extLst>
                <a:ext uri="{FF2B5EF4-FFF2-40B4-BE49-F238E27FC236}">
                  <a16:creationId xmlns:a16="http://schemas.microsoft.com/office/drawing/2014/main" id="{9FBAA495-DAA7-7B4D-D108-2275C34C932D}"/>
                </a:ext>
              </a:extLst>
            </p:cNvPr>
            <p:cNvSpPr/>
            <p:nvPr/>
          </p:nvSpPr>
          <p:spPr>
            <a:xfrm>
              <a:off x="3418123" y="1618962"/>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3.5–4.0%</a:t>
              </a:r>
            </a:p>
          </p:txBody>
        </p:sp>
        <p:sp>
          <p:nvSpPr>
            <p:cNvPr id="178" name="Text 19">
              <a:extLst>
                <a:ext uri="{FF2B5EF4-FFF2-40B4-BE49-F238E27FC236}">
                  <a16:creationId xmlns:a16="http://schemas.microsoft.com/office/drawing/2014/main" id="{70AFDB5A-78BE-011F-1DDB-4A5B500F2A79}"/>
                </a:ext>
              </a:extLst>
            </p:cNvPr>
            <p:cNvSpPr/>
            <p:nvPr/>
          </p:nvSpPr>
          <p:spPr>
            <a:xfrm>
              <a:off x="4696924" y="1618962"/>
              <a:ext cx="1297607" cy="450184"/>
            </a:xfrm>
            <a:prstGeom prst="rect">
              <a:avLst/>
            </a:prstGeom>
            <a:noFill/>
            <a:ln/>
          </p:spPr>
          <p:txBody>
            <a:bodyPr wrap="square" lIns="0" tIns="0" rIns="0" bIns="0" rtlCol="0" anchor="ctr"/>
            <a:lstStyle/>
            <a:p>
              <a:pPr marL="0" indent="0" algn="ctr">
                <a:buNone/>
              </a:pPr>
              <a:r>
                <a:rPr lang="en-US" sz="1050" b="1">
                  <a:solidFill>
                    <a:srgbClr val="1A1A1A"/>
                  </a:solidFill>
                  <a:latin typeface="Cambria" panose="02040503050406030204" pitchFamily="18" charset="0"/>
                  <a:ea typeface="Cambria" panose="02040503050406030204" pitchFamily="18" charset="0"/>
                </a:rPr>
                <a:t>4.5–5.5%</a:t>
              </a:r>
              <a:endParaRPr lang="en-US" sz="1050" b="1">
                <a:latin typeface="Cambria" panose="02040503050406030204" pitchFamily="18" charset="0"/>
                <a:ea typeface="Cambria" panose="02040503050406030204" pitchFamily="18" charset="0"/>
              </a:endParaRPr>
            </a:p>
          </p:txBody>
        </p:sp>
        <p:sp>
          <p:nvSpPr>
            <p:cNvPr id="179" name="Shape 20">
              <a:extLst>
                <a:ext uri="{FF2B5EF4-FFF2-40B4-BE49-F238E27FC236}">
                  <a16:creationId xmlns:a16="http://schemas.microsoft.com/office/drawing/2014/main" id="{BAAD4DCE-0DAF-0653-772B-AC8D06CFA7CE}"/>
                </a:ext>
              </a:extLst>
            </p:cNvPr>
            <p:cNvSpPr/>
            <p:nvPr/>
          </p:nvSpPr>
          <p:spPr>
            <a:xfrm>
              <a:off x="108285" y="2092114"/>
              <a:ext cx="5970872" cy="496121"/>
            </a:xfrm>
            <a:prstGeom prst="rect">
              <a:avLst/>
            </a:prstGeom>
            <a:solidFill>
              <a:srgbClr val="FFFFFF"/>
            </a:solidFill>
            <a:ln w="3175">
              <a:solidFill>
                <a:srgbClr val="C8D0DA"/>
              </a:solidFill>
              <a:prstDash val="solid"/>
            </a:ln>
          </p:spPr>
          <p:txBody>
            <a:bodyPr/>
            <a:lstStyle/>
            <a:p>
              <a:endParaRPr lang="en-GB"/>
            </a:p>
          </p:txBody>
        </p:sp>
        <p:sp>
          <p:nvSpPr>
            <p:cNvPr id="180" name="Text 21">
              <a:extLst>
                <a:ext uri="{FF2B5EF4-FFF2-40B4-BE49-F238E27FC236}">
                  <a16:creationId xmlns:a16="http://schemas.microsoft.com/office/drawing/2014/main" id="{4C3840C2-73FC-C727-9FFC-1D3DAECC353C}"/>
                </a:ext>
              </a:extLst>
            </p:cNvPr>
            <p:cNvSpPr/>
            <p:nvPr/>
          </p:nvSpPr>
          <p:spPr>
            <a:xfrm>
              <a:off x="183509" y="2115083"/>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EBIT margin (FY30E)</a:t>
              </a:r>
            </a:p>
          </p:txBody>
        </p:sp>
        <p:sp>
          <p:nvSpPr>
            <p:cNvPr id="181" name="Text 22">
              <a:extLst>
                <a:ext uri="{FF2B5EF4-FFF2-40B4-BE49-F238E27FC236}">
                  <a16:creationId xmlns:a16="http://schemas.microsoft.com/office/drawing/2014/main" id="{8171CEDA-4207-0F93-1733-83671CD8792F}"/>
                </a:ext>
              </a:extLst>
            </p:cNvPr>
            <p:cNvSpPr/>
            <p:nvPr/>
          </p:nvSpPr>
          <p:spPr>
            <a:xfrm>
              <a:off x="2139322" y="2115083"/>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15.7%</a:t>
              </a:r>
            </a:p>
          </p:txBody>
        </p:sp>
        <p:sp>
          <p:nvSpPr>
            <p:cNvPr id="182" name="Text 23">
              <a:extLst>
                <a:ext uri="{FF2B5EF4-FFF2-40B4-BE49-F238E27FC236}">
                  <a16:creationId xmlns:a16="http://schemas.microsoft.com/office/drawing/2014/main" id="{542C564A-A669-8154-4208-68CBD1CDC9E7}"/>
                </a:ext>
              </a:extLst>
            </p:cNvPr>
            <p:cNvSpPr/>
            <p:nvPr/>
          </p:nvSpPr>
          <p:spPr>
            <a:xfrm>
              <a:off x="3418123" y="2115083"/>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18.5%</a:t>
              </a:r>
            </a:p>
          </p:txBody>
        </p:sp>
        <p:sp>
          <p:nvSpPr>
            <p:cNvPr id="183" name="Text 24">
              <a:extLst>
                <a:ext uri="{FF2B5EF4-FFF2-40B4-BE49-F238E27FC236}">
                  <a16:creationId xmlns:a16="http://schemas.microsoft.com/office/drawing/2014/main" id="{7FA4F884-AFB8-91D2-862A-459AA67C7BDE}"/>
                </a:ext>
              </a:extLst>
            </p:cNvPr>
            <p:cNvSpPr/>
            <p:nvPr/>
          </p:nvSpPr>
          <p:spPr>
            <a:xfrm>
              <a:off x="4696924" y="2115083"/>
              <a:ext cx="1297607" cy="450184"/>
            </a:xfrm>
            <a:prstGeom prst="rect">
              <a:avLst/>
            </a:prstGeom>
            <a:noFill/>
            <a:ln/>
          </p:spPr>
          <p:txBody>
            <a:bodyPr wrap="square" lIns="0" tIns="0" rIns="0" bIns="0" rtlCol="0" anchor="ctr"/>
            <a:lstStyle/>
            <a:p>
              <a:pPr marL="0" indent="0" algn="ctr">
                <a:buNone/>
              </a:pPr>
              <a:r>
                <a:rPr lang="en-US" sz="1050" b="1">
                  <a:solidFill>
                    <a:srgbClr val="1A1A1A"/>
                  </a:solidFill>
                  <a:latin typeface="Cambria" panose="02040503050406030204" pitchFamily="18" charset="0"/>
                  <a:ea typeface="Cambria" panose="02040503050406030204" pitchFamily="18" charset="0"/>
                </a:rPr>
                <a:t>19.0%</a:t>
              </a:r>
              <a:endParaRPr lang="en-US" sz="1050" b="1">
                <a:latin typeface="Cambria" panose="02040503050406030204" pitchFamily="18" charset="0"/>
                <a:ea typeface="Cambria" panose="02040503050406030204" pitchFamily="18" charset="0"/>
              </a:endParaRPr>
            </a:p>
          </p:txBody>
        </p:sp>
        <p:sp>
          <p:nvSpPr>
            <p:cNvPr id="184" name="Shape 25">
              <a:extLst>
                <a:ext uri="{FF2B5EF4-FFF2-40B4-BE49-F238E27FC236}">
                  <a16:creationId xmlns:a16="http://schemas.microsoft.com/office/drawing/2014/main" id="{43B49A76-8590-0F1A-66B8-B69E1ED03225}"/>
                </a:ext>
              </a:extLst>
            </p:cNvPr>
            <p:cNvSpPr/>
            <p:nvPr/>
          </p:nvSpPr>
          <p:spPr>
            <a:xfrm>
              <a:off x="108285" y="2588234"/>
              <a:ext cx="5970872" cy="496121"/>
            </a:xfrm>
            <a:prstGeom prst="rect">
              <a:avLst/>
            </a:prstGeom>
            <a:solidFill>
              <a:srgbClr val="F2F4F7"/>
            </a:solidFill>
            <a:ln w="3175">
              <a:solidFill>
                <a:srgbClr val="C8D0DA"/>
              </a:solidFill>
              <a:prstDash val="solid"/>
            </a:ln>
          </p:spPr>
          <p:txBody>
            <a:bodyPr/>
            <a:lstStyle/>
            <a:p>
              <a:endParaRPr lang="en-GB"/>
            </a:p>
          </p:txBody>
        </p:sp>
        <p:sp>
          <p:nvSpPr>
            <p:cNvPr id="185" name="Text 26">
              <a:extLst>
                <a:ext uri="{FF2B5EF4-FFF2-40B4-BE49-F238E27FC236}">
                  <a16:creationId xmlns:a16="http://schemas.microsoft.com/office/drawing/2014/main" id="{122A8726-117B-C239-70AB-8F9513485F26}"/>
                </a:ext>
              </a:extLst>
            </p:cNvPr>
            <p:cNvSpPr/>
            <p:nvPr/>
          </p:nvSpPr>
          <p:spPr>
            <a:xfrm>
              <a:off x="183509" y="2611202"/>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Tariff drag (recurring)</a:t>
              </a:r>
            </a:p>
          </p:txBody>
        </p:sp>
        <p:sp>
          <p:nvSpPr>
            <p:cNvPr id="186" name="Text 27">
              <a:extLst>
                <a:ext uri="{FF2B5EF4-FFF2-40B4-BE49-F238E27FC236}">
                  <a16:creationId xmlns:a16="http://schemas.microsoft.com/office/drawing/2014/main" id="{BC46FE88-0EA8-C385-E1B2-B03E2EBB2D8D}"/>
                </a:ext>
              </a:extLst>
            </p:cNvPr>
            <p:cNvSpPr/>
            <p:nvPr/>
          </p:nvSpPr>
          <p:spPr>
            <a:xfrm>
              <a:off x="2139322" y="2611202"/>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−$245m/yr</a:t>
              </a:r>
            </a:p>
          </p:txBody>
        </p:sp>
        <p:sp>
          <p:nvSpPr>
            <p:cNvPr id="187" name="Text 28">
              <a:extLst>
                <a:ext uri="{FF2B5EF4-FFF2-40B4-BE49-F238E27FC236}">
                  <a16:creationId xmlns:a16="http://schemas.microsoft.com/office/drawing/2014/main" id="{E1BA3278-7827-3054-455E-67D5BBB8B7F2}"/>
                </a:ext>
              </a:extLst>
            </p:cNvPr>
            <p:cNvSpPr/>
            <p:nvPr/>
          </p:nvSpPr>
          <p:spPr>
            <a:xfrm>
              <a:off x="3418123" y="2611202"/>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−$30m FY30</a:t>
              </a:r>
            </a:p>
          </p:txBody>
        </p:sp>
        <p:sp>
          <p:nvSpPr>
            <p:cNvPr id="188" name="Text 29">
              <a:extLst>
                <a:ext uri="{FF2B5EF4-FFF2-40B4-BE49-F238E27FC236}">
                  <a16:creationId xmlns:a16="http://schemas.microsoft.com/office/drawing/2014/main" id="{9CBC8EDE-6555-63F2-BAAE-D58B9C912C48}"/>
                </a:ext>
              </a:extLst>
            </p:cNvPr>
            <p:cNvSpPr/>
            <p:nvPr/>
          </p:nvSpPr>
          <p:spPr>
            <a:xfrm>
              <a:off x="4696924" y="2611202"/>
              <a:ext cx="1297607" cy="450184"/>
            </a:xfrm>
            <a:prstGeom prst="rect">
              <a:avLst/>
            </a:prstGeom>
            <a:noFill/>
            <a:ln/>
          </p:spPr>
          <p:txBody>
            <a:bodyPr wrap="square" lIns="0" tIns="0" rIns="0" bIns="0" rtlCol="0" anchor="ctr"/>
            <a:lstStyle/>
            <a:p>
              <a:pPr marL="0" indent="0" algn="ctr">
                <a:buNone/>
              </a:pPr>
              <a:r>
                <a:rPr lang="en-US" sz="1050" b="1">
                  <a:solidFill>
                    <a:srgbClr val="1A1A1A"/>
                  </a:solidFill>
                  <a:latin typeface="Cambria" panose="02040503050406030204" pitchFamily="18" charset="0"/>
                  <a:ea typeface="Cambria" panose="02040503050406030204" pitchFamily="18" charset="0"/>
                </a:rPr>
                <a:t>Zero</a:t>
              </a:r>
              <a:endParaRPr lang="en-US" sz="1050" b="1">
                <a:latin typeface="Cambria" panose="02040503050406030204" pitchFamily="18" charset="0"/>
                <a:ea typeface="Cambria" panose="02040503050406030204" pitchFamily="18" charset="0"/>
              </a:endParaRPr>
            </a:p>
          </p:txBody>
        </p:sp>
        <p:sp>
          <p:nvSpPr>
            <p:cNvPr id="189" name="Shape 30">
              <a:extLst>
                <a:ext uri="{FF2B5EF4-FFF2-40B4-BE49-F238E27FC236}">
                  <a16:creationId xmlns:a16="http://schemas.microsoft.com/office/drawing/2014/main" id="{0E083F1B-05D2-9880-CDB4-0436942C33B5}"/>
                </a:ext>
              </a:extLst>
            </p:cNvPr>
            <p:cNvSpPr/>
            <p:nvPr/>
          </p:nvSpPr>
          <p:spPr>
            <a:xfrm>
              <a:off x="108285" y="3084355"/>
              <a:ext cx="5970872" cy="496121"/>
            </a:xfrm>
            <a:prstGeom prst="rect">
              <a:avLst/>
            </a:prstGeom>
            <a:solidFill>
              <a:srgbClr val="FFFFFF"/>
            </a:solidFill>
            <a:ln w="3175">
              <a:solidFill>
                <a:srgbClr val="C8D0DA"/>
              </a:solidFill>
              <a:prstDash val="solid"/>
            </a:ln>
          </p:spPr>
          <p:txBody>
            <a:bodyPr/>
            <a:lstStyle/>
            <a:p>
              <a:endParaRPr lang="en-GB"/>
            </a:p>
          </p:txBody>
        </p:sp>
        <p:sp>
          <p:nvSpPr>
            <p:cNvPr id="190" name="Text 31">
              <a:extLst>
                <a:ext uri="{FF2B5EF4-FFF2-40B4-BE49-F238E27FC236}">
                  <a16:creationId xmlns:a16="http://schemas.microsoft.com/office/drawing/2014/main" id="{67085BD6-2D97-FA29-4F80-FD129730237D}"/>
                </a:ext>
              </a:extLst>
            </p:cNvPr>
            <p:cNvSpPr/>
            <p:nvPr/>
          </p:nvSpPr>
          <p:spPr>
            <a:xfrm>
              <a:off x="183509" y="3107323"/>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Tariff refund (one-time)</a:t>
              </a:r>
            </a:p>
          </p:txBody>
        </p:sp>
        <p:sp>
          <p:nvSpPr>
            <p:cNvPr id="191" name="Text 32">
              <a:extLst>
                <a:ext uri="{FF2B5EF4-FFF2-40B4-BE49-F238E27FC236}">
                  <a16:creationId xmlns:a16="http://schemas.microsoft.com/office/drawing/2014/main" id="{C0E54C90-4889-03FF-C946-816CEBDC1D07}"/>
                </a:ext>
              </a:extLst>
            </p:cNvPr>
            <p:cNvSpPr/>
            <p:nvPr/>
          </p:nvSpPr>
          <p:spPr>
            <a:xfrm>
              <a:off x="2139322" y="3107323"/>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None</a:t>
              </a:r>
            </a:p>
          </p:txBody>
        </p:sp>
        <p:sp>
          <p:nvSpPr>
            <p:cNvPr id="192" name="Text 33">
              <a:extLst>
                <a:ext uri="{FF2B5EF4-FFF2-40B4-BE49-F238E27FC236}">
                  <a16:creationId xmlns:a16="http://schemas.microsoft.com/office/drawing/2014/main" id="{BA77278A-D3F3-D6F1-ECB7-1F3732D26DDC}"/>
                </a:ext>
              </a:extLst>
            </p:cNvPr>
            <p:cNvSpPr/>
            <p:nvPr/>
          </p:nvSpPr>
          <p:spPr>
            <a:xfrm>
              <a:off x="3418123" y="3107323"/>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None</a:t>
              </a:r>
            </a:p>
          </p:txBody>
        </p:sp>
        <p:sp>
          <p:nvSpPr>
            <p:cNvPr id="193" name="Text 34">
              <a:extLst>
                <a:ext uri="{FF2B5EF4-FFF2-40B4-BE49-F238E27FC236}">
                  <a16:creationId xmlns:a16="http://schemas.microsoft.com/office/drawing/2014/main" id="{E42014ED-CB22-170D-479E-136F79E2E7DD}"/>
                </a:ext>
              </a:extLst>
            </p:cNvPr>
            <p:cNvSpPr/>
            <p:nvPr/>
          </p:nvSpPr>
          <p:spPr>
            <a:xfrm>
              <a:off x="4696924" y="3107323"/>
              <a:ext cx="1297607" cy="450184"/>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~$394m (FY27</a:t>
              </a:r>
              <a:r>
                <a:rPr lang="en-US" sz="1050" b="1">
                  <a:solidFill>
                    <a:srgbClr val="1A1A1A"/>
                  </a:solidFill>
                  <a:latin typeface="Cambria" panose="02040503050406030204" pitchFamily="18" charset="0"/>
                  <a:ea typeface="Cambria" panose="02040503050406030204" pitchFamily="18" charset="0"/>
                </a:rPr>
                <a:t>)</a:t>
              </a:r>
              <a:endParaRPr lang="en-US" sz="1050" b="1">
                <a:latin typeface="Cambria" panose="02040503050406030204" pitchFamily="18" charset="0"/>
                <a:ea typeface="Cambria" panose="02040503050406030204" pitchFamily="18" charset="0"/>
              </a:endParaRPr>
            </a:p>
          </p:txBody>
        </p:sp>
        <p:sp>
          <p:nvSpPr>
            <p:cNvPr id="194" name="Shape 35">
              <a:extLst>
                <a:ext uri="{FF2B5EF4-FFF2-40B4-BE49-F238E27FC236}">
                  <a16:creationId xmlns:a16="http://schemas.microsoft.com/office/drawing/2014/main" id="{A8E64194-C6BE-5023-EB13-44D767E06E69}"/>
                </a:ext>
              </a:extLst>
            </p:cNvPr>
            <p:cNvSpPr/>
            <p:nvPr/>
          </p:nvSpPr>
          <p:spPr>
            <a:xfrm>
              <a:off x="108285" y="3580476"/>
              <a:ext cx="5970872" cy="496121"/>
            </a:xfrm>
            <a:prstGeom prst="rect">
              <a:avLst/>
            </a:prstGeom>
            <a:solidFill>
              <a:srgbClr val="F2F4F7"/>
            </a:solidFill>
            <a:ln w="3175">
              <a:solidFill>
                <a:srgbClr val="C8D0DA"/>
              </a:solidFill>
              <a:prstDash val="solid"/>
            </a:ln>
          </p:spPr>
          <p:txBody>
            <a:bodyPr/>
            <a:lstStyle/>
            <a:p>
              <a:endParaRPr lang="en-GB"/>
            </a:p>
          </p:txBody>
        </p:sp>
        <p:sp>
          <p:nvSpPr>
            <p:cNvPr id="195" name="Text 36">
              <a:extLst>
                <a:ext uri="{FF2B5EF4-FFF2-40B4-BE49-F238E27FC236}">
                  <a16:creationId xmlns:a16="http://schemas.microsoft.com/office/drawing/2014/main" id="{8127BBCA-3833-B4C3-23B3-DA9020C15CE3}"/>
                </a:ext>
              </a:extLst>
            </p:cNvPr>
            <p:cNvSpPr/>
            <p:nvPr/>
          </p:nvSpPr>
          <p:spPr>
            <a:xfrm>
              <a:off x="183509" y="3603445"/>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China NWC unlock</a:t>
              </a:r>
            </a:p>
          </p:txBody>
        </p:sp>
        <p:sp>
          <p:nvSpPr>
            <p:cNvPr id="196" name="Text 37">
              <a:extLst>
                <a:ext uri="{FF2B5EF4-FFF2-40B4-BE49-F238E27FC236}">
                  <a16:creationId xmlns:a16="http://schemas.microsoft.com/office/drawing/2014/main" id="{48F01572-E858-6DD1-B737-1ABC330F8C4E}"/>
                </a:ext>
              </a:extLst>
            </p:cNvPr>
            <p:cNvSpPr/>
            <p:nvPr/>
          </p:nvSpPr>
          <p:spPr>
            <a:xfrm>
              <a:off x="2139322" y="3603445"/>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None</a:t>
              </a:r>
            </a:p>
          </p:txBody>
        </p:sp>
        <p:sp>
          <p:nvSpPr>
            <p:cNvPr id="197" name="Text 38">
              <a:extLst>
                <a:ext uri="{FF2B5EF4-FFF2-40B4-BE49-F238E27FC236}">
                  <a16:creationId xmlns:a16="http://schemas.microsoft.com/office/drawing/2014/main" id="{4C714D26-CB1E-8735-87BF-27EA2CBB0C23}"/>
                </a:ext>
              </a:extLst>
            </p:cNvPr>
            <p:cNvSpPr/>
            <p:nvPr/>
          </p:nvSpPr>
          <p:spPr>
            <a:xfrm>
              <a:off x="3418123" y="3603445"/>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None</a:t>
              </a:r>
            </a:p>
          </p:txBody>
        </p:sp>
        <p:sp>
          <p:nvSpPr>
            <p:cNvPr id="198" name="Text 39">
              <a:extLst>
                <a:ext uri="{FF2B5EF4-FFF2-40B4-BE49-F238E27FC236}">
                  <a16:creationId xmlns:a16="http://schemas.microsoft.com/office/drawing/2014/main" id="{AD039730-E516-57A7-4CC6-564C9627DB10}"/>
                </a:ext>
              </a:extLst>
            </p:cNvPr>
            <p:cNvSpPr/>
            <p:nvPr/>
          </p:nvSpPr>
          <p:spPr>
            <a:xfrm>
              <a:off x="4696924" y="3603445"/>
              <a:ext cx="1297607" cy="450184"/>
            </a:xfrm>
            <a:prstGeom prst="rect">
              <a:avLst/>
            </a:prstGeom>
            <a:noFill/>
            <a:ln/>
          </p:spPr>
          <p:txBody>
            <a:bodyPr wrap="square" lIns="0" tIns="0" rIns="0" bIns="0" rtlCol="0" anchor="ctr"/>
            <a:lstStyle/>
            <a:p>
              <a:pPr marL="0" indent="0" algn="ctr">
                <a:buNone/>
              </a:pPr>
              <a:r>
                <a:rPr lang="en-US" sz="1050" b="1">
                  <a:solidFill>
                    <a:srgbClr val="1A1A1A"/>
                  </a:solidFill>
                  <a:latin typeface="Cambria" panose="02040503050406030204" pitchFamily="18" charset="0"/>
                  <a:ea typeface="Cambria" panose="02040503050406030204" pitchFamily="18" charset="0"/>
                </a:rPr>
                <a:t>$543m total</a:t>
              </a:r>
              <a:endParaRPr lang="en-US" sz="1050" b="1">
                <a:latin typeface="Cambria" panose="02040503050406030204" pitchFamily="18" charset="0"/>
                <a:ea typeface="Cambria" panose="02040503050406030204" pitchFamily="18" charset="0"/>
              </a:endParaRPr>
            </a:p>
          </p:txBody>
        </p:sp>
        <p:sp>
          <p:nvSpPr>
            <p:cNvPr id="199" name="Shape 40">
              <a:extLst>
                <a:ext uri="{FF2B5EF4-FFF2-40B4-BE49-F238E27FC236}">
                  <a16:creationId xmlns:a16="http://schemas.microsoft.com/office/drawing/2014/main" id="{47E1A501-5E55-263C-21C5-559945259347}"/>
                </a:ext>
              </a:extLst>
            </p:cNvPr>
            <p:cNvSpPr/>
            <p:nvPr/>
          </p:nvSpPr>
          <p:spPr>
            <a:xfrm>
              <a:off x="108285" y="4076597"/>
              <a:ext cx="5970872" cy="496121"/>
            </a:xfrm>
            <a:prstGeom prst="rect">
              <a:avLst/>
            </a:prstGeom>
            <a:solidFill>
              <a:srgbClr val="FFFFFF"/>
            </a:solidFill>
            <a:ln w="3175">
              <a:solidFill>
                <a:srgbClr val="C8D0DA"/>
              </a:solidFill>
              <a:prstDash val="solid"/>
            </a:ln>
          </p:spPr>
          <p:txBody>
            <a:bodyPr/>
            <a:lstStyle/>
            <a:p>
              <a:endParaRPr lang="en-GB"/>
            </a:p>
          </p:txBody>
        </p:sp>
        <p:sp>
          <p:nvSpPr>
            <p:cNvPr id="200" name="Text 41">
              <a:extLst>
                <a:ext uri="{FF2B5EF4-FFF2-40B4-BE49-F238E27FC236}">
                  <a16:creationId xmlns:a16="http://schemas.microsoft.com/office/drawing/2014/main" id="{EE7D0735-290F-304E-DE5E-1CB2C6107714}"/>
                </a:ext>
              </a:extLst>
            </p:cNvPr>
            <p:cNvSpPr/>
            <p:nvPr/>
          </p:nvSpPr>
          <p:spPr>
            <a:xfrm>
              <a:off x="183509" y="4099566"/>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Exit EV/EBITDA</a:t>
              </a:r>
            </a:p>
          </p:txBody>
        </p:sp>
        <p:sp>
          <p:nvSpPr>
            <p:cNvPr id="201" name="Text 42">
              <a:extLst>
                <a:ext uri="{FF2B5EF4-FFF2-40B4-BE49-F238E27FC236}">
                  <a16:creationId xmlns:a16="http://schemas.microsoft.com/office/drawing/2014/main" id="{038E9EF8-107B-19F3-FBD0-C0C88ED27D81}"/>
                </a:ext>
              </a:extLst>
            </p:cNvPr>
            <p:cNvSpPr/>
            <p:nvPr/>
          </p:nvSpPr>
          <p:spPr>
            <a:xfrm>
              <a:off x="2139322" y="4099566"/>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9.4×</a:t>
              </a:r>
            </a:p>
          </p:txBody>
        </p:sp>
        <p:sp>
          <p:nvSpPr>
            <p:cNvPr id="202" name="Text 43">
              <a:extLst>
                <a:ext uri="{FF2B5EF4-FFF2-40B4-BE49-F238E27FC236}">
                  <a16:creationId xmlns:a16="http://schemas.microsoft.com/office/drawing/2014/main" id="{5E6D66A7-31A2-04AF-3896-995A9A2E2551}"/>
                </a:ext>
              </a:extLst>
            </p:cNvPr>
            <p:cNvSpPr/>
            <p:nvPr/>
          </p:nvSpPr>
          <p:spPr>
            <a:xfrm>
              <a:off x="3418123" y="4099566"/>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11.0×</a:t>
              </a:r>
            </a:p>
          </p:txBody>
        </p:sp>
        <p:sp>
          <p:nvSpPr>
            <p:cNvPr id="203" name="Text 44">
              <a:extLst>
                <a:ext uri="{FF2B5EF4-FFF2-40B4-BE49-F238E27FC236}">
                  <a16:creationId xmlns:a16="http://schemas.microsoft.com/office/drawing/2014/main" id="{7750D0D8-5E3E-9654-2622-8F9BC98ECE4E}"/>
                </a:ext>
              </a:extLst>
            </p:cNvPr>
            <p:cNvSpPr/>
            <p:nvPr/>
          </p:nvSpPr>
          <p:spPr>
            <a:xfrm>
              <a:off x="4696924" y="4099566"/>
              <a:ext cx="1297607" cy="450184"/>
            </a:xfrm>
            <a:prstGeom prst="rect">
              <a:avLst/>
            </a:prstGeom>
            <a:noFill/>
            <a:ln/>
          </p:spPr>
          <p:txBody>
            <a:bodyPr wrap="square" lIns="0" tIns="0" rIns="0" bIns="0" rtlCol="0" anchor="ctr"/>
            <a:lstStyle/>
            <a:p>
              <a:pPr marL="0" indent="0" algn="ctr">
                <a:buNone/>
              </a:pPr>
              <a:r>
                <a:rPr lang="en-US" sz="1050" b="1">
                  <a:latin typeface="Cambria" panose="02040503050406030204" pitchFamily="18" charset="0"/>
                  <a:ea typeface="Cambria" panose="02040503050406030204" pitchFamily="18" charset="0"/>
                </a:rPr>
                <a:t>13.0×</a:t>
              </a:r>
            </a:p>
          </p:txBody>
        </p:sp>
        <p:sp>
          <p:nvSpPr>
            <p:cNvPr id="204" name="Shape 45">
              <a:extLst>
                <a:ext uri="{FF2B5EF4-FFF2-40B4-BE49-F238E27FC236}">
                  <a16:creationId xmlns:a16="http://schemas.microsoft.com/office/drawing/2014/main" id="{356E0319-57DF-9031-C0B6-FD54AA9B5A3E}"/>
                </a:ext>
              </a:extLst>
            </p:cNvPr>
            <p:cNvSpPr/>
            <p:nvPr/>
          </p:nvSpPr>
          <p:spPr>
            <a:xfrm>
              <a:off x="108285" y="4572718"/>
              <a:ext cx="5970872" cy="496121"/>
            </a:xfrm>
            <a:prstGeom prst="rect">
              <a:avLst/>
            </a:prstGeom>
            <a:solidFill>
              <a:srgbClr val="EBF7F5"/>
            </a:solidFill>
            <a:ln w="3175">
              <a:solidFill>
                <a:srgbClr val="C8D0DA"/>
              </a:solidFill>
              <a:prstDash val="solid"/>
            </a:ln>
          </p:spPr>
          <p:txBody>
            <a:bodyPr/>
            <a:lstStyle/>
            <a:p>
              <a:endParaRPr lang="en-GB"/>
            </a:p>
          </p:txBody>
        </p:sp>
        <p:sp>
          <p:nvSpPr>
            <p:cNvPr id="205" name="Text 46">
              <a:extLst>
                <a:ext uri="{FF2B5EF4-FFF2-40B4-BE49-F238E27FC236}">
                  <a16:creationId xmlns:a16="http://schemas.microsoft.com/office/drawing/2014/main" id="{15A099B4-3AE5-D95A-FA40-69AD9B905710}"/>
                </a:ext>
              </a:extLst>
            </p:cNvPr>
            <p:cNvSpPr/>
            <p:nvPr/>
          </p:nvSpPr>
          <p:spPr>
            <a:xfrm>
              <a:off x="183509" y="4595687"/>
              <a:ext cx="1880590" cy="450184"/>
            </a:xfrm>
            <a:prstGeom prst="rect">
              <a:avLst/>
            </a:prstGeom>
            <a:noFill/>
            <a:ln/>
          </p:spPr>
          <p:txBody>
            <a:bodyPr wrap="square" lIns="0" tIns="0" rIns="0" bIns="0" rtlCol="0" anchor="ctr"/>
            <a:lstStyle/>
            <a:p>
              <a:pPr marL="0" indent="0">
                <a:buNone/>
              </a:pPr>
              <a:r>
                <a:rPr lang="en-US" sz="1050" b="1">
                  <a:latin typeface="Cambria" panose="02040503050406030204" pitchFamily="18" charset="0"/>
                  <a:ea typeface="Cambria" panose="02040503050406030204" pitchFamily="18" charset="0"/>
                </a:rPr>
                <a:t>Target Price</a:t>
              </a:r>
              <a:endParaRPr lang="en-US" sz="1050">
                <a:latin typeface="Cambria" panose="02040503050406030204" pitchFamily="18" charset="0"/>
                <a:ea typeface="Cambria" panose="02040503050406030204" pitchFamily="18" charset="0"/>
              </a:endParaRPr>
            </a:p>
          </p:txBody>
        </p:sp>
        <p:sp>
          <p:nvSpPr>
            <p:cNvPr id="206" name="Text 47">
              <a:extLst>
                <a:ext uri="{FF2B5EF4-FFF2-40B4-BE49-F238E27FC236}">
                  <a16:creationId xmlns:a16="http://schemas.microsoft.com/office/drawing/2014/main" id="{F8E08DEF-5CD6-8816-BA06-79C058F2177C}"/>
                </a:ext>
              </a:extLst>
            </p:cNvPr>
            <p:cNvSpPr/>
            <p:nvPr/>
          </p:nvSpPr>
          <p:spPr>
            <a:xfrm>
              <a:off x="2139322" y="4595687"/>
              <a:ext cx="1241189"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$55.64</a:t>
              </a:r>
              <a:endParaRPr lang="en-US" sz="1200">
                <a:latin typeface="Cambria" panose="02040503050406030204" pitchFamily="18" charset="0"/>
                <a:ea typeface="Cambria" panose="02040503050406030204" pitchFamily="18" charset="0"/>
              </a:endParaRPr>
            </a:p>
          </p:txBody>
        </p:sp>
        <p:sp>
          <p:nvSpPr>
            <p:cNvPr id="207" name="Text 48">
              <a:extLst>
                <a:ext uri="{FF2B5EF4-FFF2-40B4-BE49-F238E27FC236}">
                  <a16:creationId xmlns:a16="http://schemas.microsoft.com/office/drawing/2014/main" id="{B46CA179-9AAE-5A40-A9F5-AF8E995B067D}"/>
                </a:ext>
              </a:extLst>
            </p:cNvPr>
            <p:cNvSpPr/>
            <p:nvPr/>
          </p:nvSpPr>
          <p:spPr>
            <a:xfrm>
              <a:off x="3418123" y="4595687"/>
              <a:ext cx="1241189"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$79.91</a:t>
              </a:r>
              <a:endParaRPr lang="en-US" sz="1200">
                <a:latin typeface="Cambria" panose="02040503050406030204" pitchFamily="18" charset="0"/>
                <a:ea typeface="Cambria" panose="02040503050406030204" pitchFamily="18" charset="0"/>
              </a:endParaRPr>
            </a:p>
          </p:txBody>
        </p:sp>
        <p:sp>
          <p:nvSpPr>
            <p:cNvPr id="208" name="Text 49">
              <a:extLst>
                <a:ext uri="{FF2B5EF4-FFF2-40B4-BE49-F238E27FC236}">
                  <a16:creationId xmlns:a16="http://schemas.microsoft.com/office/drawing/2014/main" id="{F8708A63-EFCA-164E-6B0C-10B15AE7633E}"/>
                </a:ext>
              </a:extLst>
            </p:cNvPr>
            <p:cNvSpPr/>
            <p:nvPr/>
          </p:nvSpPr>
          <p:spPr>
            <a:xfrm>
              <a:off x="4696924" y="4595687"/>
              <a:ext cx="1297607"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$108.13</a:t>
              </a:r>
              <a:endParaRPr lang="en-US" sz="1200">
                <a:latin typeface="Cambria" panose="02040503050406030204" pitchFamily="18" charset="0"/>
                <a:ea typeface="Cambria" panose="02040503050406030204" pitchFamily="18" charset="0"/>
              </a:endParaRPr>
            </a:p>
          </p:txBody>
        </p:sp>
        <p:sp>
          <p:nvSpPr>
            <p:cNvPr id="209" name="Shape 50">
              <a:extLst>
                <a:ext uri="{FF2B5EF4-FFF2-40B4-BE49-F238E27FC236}">
                  <a16:creationId xmlns:a16="http://schemas.microsoft.com/office/drawing/2014/main" id="{73CA78A4-98CA-DB4D-3B0A-DBC89FD068EE}"/>
                </a:ext>
              </a:extLst>
            </p:cNvPr>
            <p:cNvSpPr/>
            <p:nvPr/>
          </p:nvSpPr>
          <p:spPr>
            <a:xfrm>
              <a:off x="108285" y="5068838"/>
              <a:ext cx="5970872" cy="496121"/>
            </a:xfrm>
            <a:prstGeom prst="rect">
              <a:avLst/>
            </a:prstGeom>
            <a:solidFill>
              <a:srgbClr val="EBF7F5"/>
            </a:solidFill>
            <a:ln w="3175">
              <a:solidFill>
                <a:srgbClr val="C8D0DA"/>
              </a:solidFill>
              <a:prstDash val="solid"/>
            </a:ln>
          </p:spPr>
          <p:txBody>
            <a:bodyPr/>
            <a:lstStyle/>
            <a:p>
              <a:endParaRPr lang="en-GB"/>
            </a:p>
          </p:txBody>
        </p:sp>
        <p:sp>
          <p:nvSpPr>
            <p:cNvPr id="210" name="Text 51">
              <a:extLst>
                <a:ext uri="{FF2B5EF4-FFF2-40B4-BE49-F238E27FC236}">
                  <a16:creationId xmlns:a16="http://schemas.microsoft.com/office/drawing/2014/main" id="{A8A55810-F7EE-43F8-2F5B-B40EBFE62F41}"/>
                </a:ext>
              </a:extLst>
            </p:cNvPr>
            <p:cNvSpPr/>
            <p:nvPr/>
          </p:nvSpPr>
          <p:spPr>
            <a:xfrm>
              <a:off x="183509" y="5091806"/>
              <a:ext cx="1880590" cy="450184"/>
            </a:xfrm>
            <a:prstGeom prst="rect">
              <a:avLst/>
            </a:prstGeom>
            <a:noFill/>
            <a:ln/>
          </p:spPr>
          <p:txBody>
            <a:bodyPr wrap="square" lIns="0" tIns="0" rIns="0" bIns="0" rtlCol="0" anchor="ctr"/>
            <a:lstStyle/>
            <a:p>
              <a:pPr marL="0" indent="0">
                <a:buNone/>
              </a:pPr>
              <a:r>
                <a:rPr lang="en-US" sz="1050" b="1" dirty="0">
                  <a:latin typeface="Cambria" panose="02040503050406030204" pitchFamily="18" charset="0"/>
                  <a:ea typeface="Cambria" panose="02040503050406030204" pitchFamily="18" charset="0"/>
                </a:rPr>
                <a:t>Total 24M Return</a:t>
              </a:r>
              <a:endParaRPr lang="en-US" sz="1050" dirty="0">
                <a:latin typeface="Cambria" panose="02040503050406030204" pitchFamily="18" charset="0"/>
                <a:ea typeface="Cambria" panose="02040503050406030204" pitchFamily="18" charset="0"/>
              </a:endParaRPr>
            </a:p>
          </p:txBody>
        </p:sp>
        <p:sp>
          <p:nvSpPr>
            <p:cNvPr id="211" name="Text 52">
              <a:extLst>
                <a:ext uri="{FF2B5EF4-FFF2-40B4-BE49-F238E27FC236}">
                  <a16:creationId xmlns:a16="http://schemas.microsoft.com/office/drawing/2014/main" id="{F51A8066-0310-73E0-961A-84943BFFB9A8}"/>
                </a:ext>
              </a:extLst>
            </p:cNvPr>
            <p:cNvSpPr/>
            <p:nvPr/>
          </p:nvSpPr>
          <p:spPr>
            <a:xfrm>
              <a:off x="2139322" y="5091806"/>
              <a:ext cx="1241189"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−8.8%</a:t>
              </a:r>
              <a:endParaRPr lang="en-US" sz="1200">
                <a:latin typeface="Cambria" panose="02040503050406030204" pitchFamily="18" charset="0"/>
                <a:ea typeface="Cambria" panose="02040503050406030204" pitchFamily="18" charset="0"/>
              </a:endParaRPr>
            </a:p>
          </p:txBody>
        </p:sp>
        <p:sp>
          <p:nvSpPr>
            <p:cNvPr id="212" name="Text 53">
              <a:extLst>
                <a:ext uri="{FF2B5EF4-FFF2-40B4-BE49-F238E27FC236}">
                  <a16:creationId xmlns:a16="http://schemas.microsoft.com/office/drawing/2014/main" id="{6E1EAA4A-27B0-97EA-4AD3-A93B7829C9D6}"/>
                </a:ext>
              </a:extLst>
            </p:cNvPr>
            <p:cNvSpPr/>
            <p:nvPr/>
          </p:nvSpPr>
          <p:spPr>
            <a:xfrm>
              <a:off x="3418123" y="5091806"/>
              <a:ext cx="1241189"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31.0%</a:t>
              </a:r>
              <a:endParaRPr lang="en-US" sz="1200">
                <a:latin typeface="Cambria" panose="02040503050406030204" pitchFamily="18" charset="0"/>
                <a:ea typeface="Cambria" panose="02040503050406030204" pitchFamily="18" charset="0"/>
              </a:endParaRPr>
            </a:p>
          </p:txBody>
        </p:sp>
        <p:sp>
          <p:nvSpPr>
            <p:cNvPr id="213" name="Text 54">
              <a:extLst>
                <a:ext uri="{FF2B5EF4-FFF2-40B4-BE49-F238E27FC236}">
                  <a16:creationId xmlns:a16="http://schemas.microsoft.com/office/drawing/2014/main" id="{D1F6BE47-9088-ED08-A219-23104D0BF391}"/>
                </a:ext>
              </a:extLst>
            </p:cNvPr>
            <p:cNvSpPr/>
            <p:nvPr/>
          </p:nvSpPr>
          <p:spPr>
            <a:xfrm>
              <a:off x="4696924" y="5091806"/>
              <a:ext cx="1297607"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77.3%</a:t>
              </a:r>
              <a:endParaRPr lang="en-US" sz="1200">
                <a:latin typeface="Cambria" panose="02040503050406030204" pitchFamily="18" charset="0"/>
                <a:ea typeface="Cambria" panose="02040503050406030204" pitchFamily="18" charset="0"/>
              </a:endParaRPr>
            </a:p>
          </p:txBody>
        </p:sp>
        <p:sp>
          <p:nvSpPr>
            <p:cNvPr id="214" name="Shape 55">
              <a:extLst>
                <a:ext uri="{FF2B5EF4-FFF2-40B4-BE49-F238E27FC236}">
                  <a16:creationId xmlns:a16="http://schemas.microsoft.com/office/drawing/2014/main" id="{2AC32D52-7FFA-5AC9-E491-E03FB3970F63}"/>
                </a:ext>
              </a:extLst>
            </p:cNvPr>
            <p:cNvSpPr/>
            <p:nvPr/>
          </p:nvSpPr>
          <p:spPr>
            <a:xfrm>
              <a:off x="108285" y="5564959"/>
              <a:ext cx="5970872" cy="496121"/>
            </a:xfrm>
            <a:prstGeom prst="rect">
              <a:avLst/>
            </a:prstGeom>
            <a:solidFill>
              <a:srgbClr val="F2F4F7"/>
            </a:solidFill>
            <a:ln w="3175">
              <a:solidFill>
                <a:srgbClr val="C8D0DA"/>
              </a:solidFill>
              <a:prstDash val="solid"/>
            </a:ln>
          </p:spPr>
          <p:txBody>
            <a:bodyPr/>
            <a:lstStyle/>
            <a:p>
              <a:endParaRPr lang="en-GB"/>
            </a:p>
          </p:txBody>
        </p:sp>
        <p:sp>
          <p:nvSpPr>
            <p:cNvPr id="215" name="Text 56">
              <a:extLst>
                <a:ext uri="{FF2B5EF4-FFF2-40B4-BE49-F238E27FC236}">
                  <a16:creationId xmlns:a16="http://schemas.microsoft.com/office/drawing/2014/main" id="{B9E6D225-FA16-521C-A6EC-AFAA0A4BD98D}"/>
                </a:ext>
              </a:extLst>
            </p:cNvPr>
            <p:cNvSpPr/>
            <p:nvPr/>
          </p:nvSpPr>
          <p:spPr>
            <a:xfrm>
              <a:off x="183509" y="5587927"/>
              <a:ext cx="1880590" cy="450184"/>
            </a:xfrm>
            <a:prstGeom prst="rect">
              <a:avLst/>
            </a:prstGeom>
            <a:noFill/>
            <a:ln/>
          </p:spPr>
          <p:txBody>
            <a:bodyPr wrap="square" lIns="0" tIns="0" rIns="0" bIns="0" rtlCol="0" anchor="ctr"/>
            <a:lstStyle/>
            <a:p>
              <a:pPr marL="0" indent="0">
                <a:buNone/>
              </a:pPr>
              <a:r>
                <a:rPr lang="en-US" sz="1050">
                  <a:latin typeface="Cambria" panose="02040503050406030204" pitchFamily="18" charset="0"/>
                  <a:ea typeface="Cambria" panose="02040503050406030204" pitchFamily="18" charset="0"/>
                </a:rPr>
                <a:t>Probability</a:t>
              </a:r>
            </a:p>
          </p:txBody>
        </p:sp>
        <p:sp>
          <p:nvSpPr>
            <p:cNvPr id="216" name="Text 57">
              <a:extLst>
                <a:ext uri="{FF2B5EF4-FFF2-40B4-BE49-F238E27FC236}">
                  <a16:creationId xmlns:a16="http://schemas.microsoft.com/office/drawing/2014/main" id="{2CCECBEE-ED3A-B1CA-53D8-DB34D1888C0F}"/>
                </a:ext>
              </a:extLst>
            </p:cNvPr>
            <p:cNvSpPr/>
            <p:nvPr/>
          </p:nvSpPr>
          <p:spPr>
            <a:xfrm>
              <a:off x="2139322" y="5587927"/>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25%</a:t>
              </a:r>
            </a:p>
          </p:txBody>
        </p:sp>
        <p:sp>
          <p:nvSpPr>
            <p:cNvPr id="217" name="Text 58">
              <a:extLst>
                <a:ext uri="{FF2B5EF4-FFF2-40B4-BE49-F238E27FC236}">
                  <a16:creationId xmlns:a16="http://schemas.microsoft.com/office/drawing/2014/main" id="{AE010979-10E6-521E-F1E1-C788E0A7DBA3}"/>
                </a:ext>
              </a:extLst>
            </p:cNvPr>
            <p:cNvSpPr/>
            <p:nvPr/>
          </p:nvSpPr>
          <p:spPr>
            <a:xfrm>
              <a:off x="3418123" y="5587927"/>
              <a:ext cx="1241189"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50%</a:t>
              </a:r>
            </a:p>
          </p:txBody>
        </p:sp>
        <p:sp>
          <p:nvSpPr>
            <p:cNvPr id="218" name="Text 59">
              <a:extLst>
                <a:ext uri="{FF2B5EF4-FFF2-40B4-BE49-F238E27FC236}">
                  <a16:creationId xmlns:a16="http://schemas.microsoft.com/office/drawing/2014/main" id="{A9651478-39F9-9CD1-E01B-D2D83B2D4715}"/>
                </a:ext>
              </a:extLst>
            </p:cNvPr>
            <p:cNvSpPr/>
            <p:nvPr/>
          </p:nvSpPr>
          <p:spPr>
            <a:xfrm>
              <a:off x="4696924" y="5587927"/>
              <a:ext cx="1297607" cy="450184"/>
            </a:xfrm>
            <a:prstGeom prst="rect">
              <a:avLst/>
            </a:prstGeom>
            <a:noFill/>
            <a:ln/>
          </p:spPr>
          <p:txBody>
            <a:bodyPr wrap="square" lIns="0" tIns="0" rIns="0" bIns="0" rtlCol="0" anchor="ctr"/>
            <a:lstStyle/>
            <a:p>
              <a:pPr marL="0" indent="0" algn="ctr">
                <a:buNone/>
              </a:pPr>
              <a:r>
                <a:rPr lang="en-US" sz="1100">
                  <a:latin typeface="Cambria" panose="02040503050406030204" pitchFamily="18" charset="0"/>
                  <a:ea typeface="Cambria" panose="02040503050406030204" pitchFamily="18" charset="0"/>
                </a:rPr>
                <a:t>25%</a:t>
              </a:r>
            </a:p>
          </p:txBody>
        </p:sp>
        <p:sp>
          <p:nvSpPr>
            <p:cNvPr id="219" name="Shape 60">
              <a:extLst>
                <a:ext uri="{FF2B5EF4-FFF2-40B4-BE49-F238E27FC236}">
                  <a16:creationId xmlns:a16="http://schemas.microsoft.com/office/drawing/2014/main" id="{BBB80556-546A-D5F9-9218-CA60A42E68E7}"/>
                </a:ext>
              </a:extLst>
            </p:cNvPr>
            <p:cNvSpPr/>
            <p:nvPr/>
          </p:nvSpPr>
          <p:spPr>
            <a:xfrm>
              <a:off x="108285" y="6061080"/>
              <a:ext cx="5970872" cy="496121"/>
            </a:xfrm>
            <a:prstGeom prst="rect">
              <a:avLst/>
            </a:prstGeom>
            <a:solidFill>
              <a:srgbClr val="EBF7F5"/>
            </a:solidFill>
            <a:ln w="3175">
              <a:solidFill>
                <a:srgbClr val="C8D0DA"/>
              </a:solidFill>
              <a:prstDash val="solid"/>
            </a:ln>
          </p:spPr>
          <p:txBody>
            <a:bodyPr/>
            <a:lstStyle/>
            <a:p>
              <a:endParaRPr lang="en-GB"/>
            </a:p>
          </p:txBody>
        </p:sp>
        <p:sp>
          <p:nvSpPr>
            <p:cNvPr id="220" name="Text 61">
              <a:extLst>
                <a:ext uri="{FF2B5EF4-FFF2-40B4-BE49-F238E27FC236}">
                  <a16:creationId xmlns:a16="http://schemas.microsoft.com/office/drawing/2014/main" id="{18B17ED2-4482-F1FD-5EA5-ABB74C6E4B0E}"/>
                </a:ext>
              </a:extLst>
            </p:cNvPr>
            <p:cNvSpPr/>
            <p:nvPr/>
          </p:nvSpPr>
          <p:spPr>
            <a:xfrm>
              <a:off x="183509" y="6084049"/>
              <a:ext cx="1880590" cy="450184"/>
            </a:xfrm>
            <a:prstGeom prst="rect">
              <a:avLst/>
            </a:prstGeom>
            <a:noFill/>
            <a:ln/>
          </p:spPr>
          <p:txBody>
            <a:bodyPr wrap="square" lIns="0" tIns="0" rIns="0" bIns="0" rtlCol="0" anchor="ctr"/>
            <a:lstStyle/>
            <a:p>
              <a:pPr marL="0" indent="0">
                <a:buNone/>
              </a:pPr>
              <a:r>
                <a:rPr lang="en-US" sz="1050" b="1">
                  <a:latin typeface="Cambria" panose="02040503050406030204" pitchFamily="18" charset="0"/>
                  <a:ea typeface="Cambria" panose="02040503050406030204" pitchFamily="18" charset="0"/>
                </a:rPr>
                <a:t>Scenario Weighted</a:t>
              </a:r>
              <a:endParaRPr lang="en-US" sz="1050">
                <a:latin typeface="Cambria" panose="02040503050406030204" pitchFamily="18" charset="0"/>
                <a:ea typeface="Cambria" panose="02040503050406030204" pitchFamily="18" charset="0"/>
              </a:endParaRPr>
            </a:p>
            <a:p>
              <a:pPr marL="0" indent="0">
                <a:buNone/>
              </a:pPr>
              <a:r>
                <a:rPr lang="en-US" sz="1050" b="1">
                  <a:latin typeface="Cambria" panose="02040503050406030204" pitchFamily="18" charset="0"/>
                  <a:ea typeface="Cambria" panose="02040503050406030204" pitchFamily="18" charset="0"/>
                </a:rPr>
                <a:t>Return</a:t>
              </a:r>
              <a:endParaRPr lang="en-US" sz="1050">
                <a:latin typeface="Cambria" panose="02040503050406030204" pitchFamily="18" charset="0"/>
                <a:ea typeface="Cambria" panose="02040503050406030204" pitchFamily="18" charset="0"/>
              </a:endParaRPr>
            </a:p>
          </p:txBody>
        </p:sp>
        <p:sp>
          <p:nvSpPr>
            <p:cNvPr id="221" name="Text 62">
              <a:extLst>
                <a:ext uri="{FF2B5EF4-FFF2-40B4-BE49-F238E27FC236}">
                  <a16:creationId xmlns:a16="http://schemas.microsoft.com/office/drawing/2014/main" id="{05354245-3785-779F-EFCB-9B60BD239D74}"/>
                </a:ext>
              </a:extLst>
            </p:cNvPr>
            <p:cNvSpPr/>
            <p:nvPr/>
          </p:nvSpPr>
          <p:spPr>
            <a:xfrm>
              <a:off x="3418123" y="6084049"/>
              <a:ext cx="1241189" cy="450184"/>
            </a:xfrm>
            <a:prstGeom prst="rect">
              <a:avLst/>
            </a:prstGeom>
            <a:noFill/>
            <a:ln/>
          </p:spPr>
          <p:txBody>
            <a:bodyPr wrap="square" lIns="0" tIns="0" rIns="0" bIns="0" rtlCol="0" anchor="ctr"/>
            <a:lstStyle/>
            <a:p>
              <a:pPr marL="0" indent="0" algn="ctr">
                <a:buNone/>
              </a:pPr>
              <a:r>
                <a:rPr lang="en-US" sz="1200" b="1">
                  <a:latin typeface="Cambria" panose="02040503050406030204" pitchFamily="18" charset="0"/>
                  <a:ea typeface="Cambria" panose="02040503050406030204" pitchFamily="18" charset="0"/>
                </a:rPr>
                <a:t>38.5%</a:t>
              </a:r>
              <a:endParaRPr lang="en-US" sz="1200">
                <a:latin typeface="Cambria" panose="02040503050406030204" pitchFamily="18" charset="0"/>
                <a:ea typeface="Cambria" panose="02040503050406030204" pitchFamily="18" charset="0"/>
              </a:endParaRPr>
            </a:p>
          </p:txBody>
        </p:sp>
        <p:sp>
          <p:nvSpPr>
            <p:cNvPr id="222" name="Shape 63">
              <a:extLst>
                <a:ext uri="{FF2B5EF4-FFF2-40B4-BE49-F238E27FC236}">
                  <a16:creationId xmlns:a16="http://schemas.microsoft.com/office/drawing/2014/main" id="{67F574ED-0422-B70A-63A4-F7D0B2CF4FED}"/>
                </a:ext>
              </a:extLst>
            </p:cNvPr>
            <p:cNvSpPr/>
            <p:nvPr/>
          </p:nvSpPr>
          <p:spPr>
            <a:xfrm>
              <a:off x="2120516" y="801281"/>
              <a:ext cx="0" cy="5755920"/>
            </a:xfrm>
            <a:prstGeom prst="line">
              <a:avLst/>
            </a:prstGeom>
            <a:noFill/>
            <a:ln w="6350">
              <a:solidFill>
                <a:srgbClr val="C8D0DA"/>
              </a:solidFill>
              <a:prstDash val="solid"/>
            </a:ln>
          </p:spPr>
          <p:txBody>
            <a:bodyPr/>
            <a:lstStyle/>
            <a:p>
              <a:endParaRPr lang="en-GB"/>
            </a:p>
          </p:txBody>
        </p:sp>
        <p:sp>
          <p:nvSpPr>
            <p:cNvPr id="223" name="Shape 64">
              <a:extLst>
                <a:ext uri="{FF2B5EF4-FFF2-40B4-BE49-F238E27FC236}">
                  <a16:creationId xmlns:a16="http://schemas.microsoft.com/office/drawing/2014/main" id="{39FBE73E-15C3-B80F-7AB2-5FFCD782E8C3}"/>
                </a:ext>
              </a:extLst>
            </p:cNvPr>
            <p:cNvSpPr/>
            <p:nvPr/>
          </p:nvSpPr>
          <p:spPr>
            <a:xfrm>
              <a:off x="3399317" y="801281"/>
              <a:ext cx="0" cy="5755920"/>
            </a:xfrm>
            <a:prstGeom prst="line">
              <a:avLst/>
            </a:prstGeom>
            <a:noFill/>
            <a:ln w="6350">
              <a:solidFill>
                <a:srgbClr val="C8D0DA"/>
              </a:solidFill>
              <a:prstDash val="solid"/>
            </a:ln>
          </p:spPr>
          <p:txBody>
            <a:bodyPr/>
            <a:lstStyle/>
            <a:p>
              <a:endParaRPr lang="en-GB"/>
            </a:p>
          </p:txBody>
        </p:sp>
        <p:sp>
          <p:nvSpPr>
            <p:cNvPr id="224" name="Shape 65">
              <a:extLst>
                <a:ext uri="{FF2B5EF4-FFF2-40B4-BE49-F238E27FC236}">
                  <a16:creationId xmlns:a16="http://schemas.microsoft.com/office/drawing/2014/main" id="{A76F94AE-D85F-DA7A-FFC6-F498C5717768}"/>
                </a:ext>
              </a:extLst>
            </p:cNvPr>
            <p:cNvSpPr/>
            <p:nvPr/>
          </p:nvSpPr>
          <p:spPr>
            <a:xfrm>
              <a:off x="4678118" y="801281"/>
              <a:ext cx="0" cy="5755920"/>
            </a:xfrm>
            <a:prstGeom prst="line">
              <a:avLst/>
            </a:prstGeom>
            <a:noFill/>
            <a:ln w="6350">
              <a:solidFill>
                <a:srgbClr val="C8D0DA"/>
              </a:solidFill>
              <a:prstDash val="solid"/>
            </a:ln>
          </p:spPr>
          <p:txBody>
            <a:bodyPr/>
            <a:lstStyle/>
            <a:p>
              <a:endParaRPr lang="en-GB"/>
            </a:p>
          </p:txBody>
        </p:sp>
      </p:grpSp>
      <p:sp>
        <p:nvSpPr>
          <p:cNvPr id="226" name="Text 67">
            <a:extLst>
              <a:ext uri="{FF2B5EF4-FFF2-40B4-BE49-F238E27FC236}">
                <a16:creationId xmlns:a16="http://schemas.microsoft.com/office/drawing/2014/main" id="{BCA3B265-A796-5DF9-E90B-13C62858D902}"/>
              </a:ext>
            </a:extLst>
          </p:cNvPr>
          <p:cNvSpPr/>
          <p:nvPr/>
        </p:nvSpPr>
        <p:spPr>
          <a:xfrm>
            <a:off x="6428232" y="1207008"/>
            <a:ext cx="5340096" cy="256032"/>
          </a:xfrm>
          <a:prstGeom prst="rect">
            <a:avLst/>
          </a:prstGeom>
          <a:noFill/>
          <a:ln/>
        </p:spPr>
        <p:txBody>
          <a:bodyPr wrap="square" lIns="0" tIns="0" rIns="0" bIns="0" rtlCol="0" anchor="ctr"/>
          <a:lstStyle/>
          <a:p>
            <a:pPr marL="0" indent="0">
              <a:buNone/>
            </a:pPr>
            <a:r>
              <a:rPr lang="en-US" sz="800" b="1">
                <a:solidFill>
                  <a:srgbClr val="FFFFFF"/>
                </a:solidFill>
              </a:rPr>
              <a:t>Sensitivity analysis</a:t>
            </a:r>
            <a:endParaRPr lang="en-US" sz="800"/>
          </a:p>
        </p:txBody>
      </p:sp>
      <p:sp>
        <p:nvSpPr>
          <p:cNvPr id="227" name="Text 68">
            <a:extLst>
              <a:ext uri="{FF2B5EF4-FFF2-40B4-BE49-F238E27FC236}">
                <a16:creationId xmlns:a16="http://schemas.microsoft.com/office/drawing/2014/main" id="{605F2D09-862D-24D1-39D1-4EB1F8DB0A1C}"/>
              </a:ext>
            </a:extLst>
          </p:cNvPr>
          <p:cNvSpPr/>
          <p:nvPr/>
        </p:nvSpPr>
        <p:spPr>
          <a:xfrm>
            <a:off x="7955280" y="1010427"/>
            <a:ext cx="2286000" cy="182880"/>
          </a:xfrm>
          <a:prstGeom prst="rect">
            <a:avLst/>
          </a:prstGeom>
          <a:noFill/>
          <a:ln/>
        </p:spPr>
        <p:txBody>
          <a:bodyPr wrap="square" lIns="0" tIns="0" rIns="0" bIns="0" rtlCol="0" anchor="ctr"/>
          <a:lstStyle/>
          <a:p>
            <a:pPr marL="0" indent="0" algn="ctr">
              <a:buNone/>
            </a:pPr>
            <a:r>
              <a:rPr lang="en-US" sz="1000" b="1">
                <a:solidFill>
                  <a:srgbClr val="1A1A1A"/>
                </a:solidFill>
              </a:rPr>
              <a:t>EV/EBITDA</a:t>
            </a:r>
            <a:endParaRPr lang="en-US" sz="1000"/>
          </a:p>
        </p:txBody>
      </p:sp>
      <p:grpSp>
        <p:nvGrpSpPr>
          <p:cNvPr id="310" name="Group 309">
            <a:extLst>
              <a:ext uri="{FF2B5EF4-FFF2-40B4-BE49-F238E27FC236}">
                <a16:creationId xmlns:a16="http://schemas.microsoft.com/office/drawing/2014/main" id="{DF99B4F8-2ECF-84AA-EA31-E3B1FB1C6780}"/>
              </a:ext>
            </a:extLst>
          </p:cNvPr>
          <p:cNvGrpSpPr/>
          <p:nvPr/>
        </p:nvGrpSpPr>
        <p:grpSpPr>
          <a:xfrm>
            <a:off x="6296352" y="1181257"/>
            <a:ext cx="5787363" cy="2255639"/>
            <a:chOff x="6428232" y="1728216"/>
            <a:chExt cx="5340096" cy="1470355"/>
          </a:xfrm>
        </p:grpSpPr>
        <p:sp>
          <p:nvSpPr>
            <p:cNvPr id="228" name="Shape 69">
              <a:extLst>
                <a:ext uri="{FF2B5EF4-FFF2-40B4-BE49-F238E27FC236}">
                  <a16:creationId xmlns:a16="http://schemas.microsoft.com/office/drawing/2014/main" id="{C4AC4262-6F72-DD15-4612-445E2A7FCB62}"/>
                </a:ext>
              </a:extLst>
            </p:cNvPr>
            <p:cNvSpPr/>
            <p:nvPr/>
          </p:nvSpPr>
          <p:spPr>
            <a:xfrm>
              <a:off x="6428232" y="1728216"/>
              <a:ext cx="890016" cy="245059"/>
            </a:xfrm>
            <a:prstGeom prst="rect">
              <a:avLst/>
            </a:prstGeom>
            <a:solidFill>
              <a:srgbClr val="0D1B3E"/>
            </a:solidFill>
            <a:ln w="12700">
              <a:solidFill>
                <a:srgbClr val="0D1B3E"/>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29" name="Text 70">
              <a:extLst>
                <a:ext uri="{FF2B5EF4-FFF2-40B4-BE49-F238E27FC236}">
                  <a16:creationId xmlns:a16="http://schemas.microsoft.com/office/drawing/2014/main" id="{3F6CA537-B244-5BCC-09C2-D72BB823A905}"/>
                </a:ext>
              </a:extLst>
            </p:cNvPr>
            <p:cNvSpPr/>
            <p:nvPr/>
          </p:nvSpPr>
          <p:spPr>
            <a:xfrm>
              <a:off x="6428232" y="1728216"/>
              <a:ext cx="890016" cy="245059"/>
            </a:xfrm>
            <a:prstGeom prst="rect">
              <a:avLst/>
            </a:prstGeom>
            <a:noFill/>
            <a:ln/>
          </p:spPr>
          <p:txBody>
            <a:bodyPr wrap="square" lIns="0" tIns="0" rIns="0" bIns="0" rtlCol="0" anchor="ctr"/>
            <a:lstStyle/>
            <a:p>
              <a:pPr marL="0" indent="0" algn="ctr">
                <a:buNone/>
              </a:pPr>
              <a:r>
                <a:rPr lang="en-US" sz="900" b="1">
                  <a:solidFill>
                    <a:srgbClr val="FFFFFF"/>
                  </a:solidFill>
                  <a:latin typeface="Cambria" panose="02040503050406030204" pitchFamily="18" charset="0"/>
                  <a:ea typeface="Cambria" panose="02040503050406030204" pitchFamily="18" charset="0"/>
                </a:rPr>
                <a:t>WACC \ Exit×</a:t>
              </a:r>
              <a:endParaRPr lang="en-US" sz="900">
                <a:latin typeface="Cambria" panose="02040503050406030204" pitchFamily="18" charset="0"/>
                <a:ea typeface="Cambria" panose="02040503050406030204" pitchFamily="18" charset="0"/>
              </a:endParaRPr>
            </a:p>
          </p:txBody>
        </p:sp>
        <p:sp>
          <p:nvSpPr>
            <p:cNvPr id="230" name="Shape 71">
              <a:extLst>
                <a:ext uri="{FF2B5EF4-FFF2-40B4-BE49-F238E27FC236}">
                  <a16:creationId xmlns:a16="http://schemas.microsoft.com/office/drawing/2014/main" id="{41754E86-64D3-8AB1-B8B4-49E1ED47E56D}"/>
                </a:ext>
              </a:extLst>
            </p:cNvPr>
            <p:cNvSpPr/>
            <p:nvPr/>
          </p:nvSpPr>
          <p:spPr>
            <a:xfrm>
              <a:off x="7318248" y="1728216"/>
              <a:ext cx="890016" cy="245059"/>
            </a:xfrm>
            <a:prstGeom prst="rect">
              <a:avLst/>
            </a:prstGeom>
            <a:solidFill>
              <a:srgbClr val="0D1B3E"/>
            </a:solidFill>
            <a:ln w="12700">
              <a:solidFill>
                <a:srgbClr val="0D1B3E"/>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31" name="Text 72">
              <a:extLst>
                <a:ext uri="{FF2B5EF4-FFF2-40B4-BE49-F238E27FC236}">
                  <a16:creationId xmlns:a16="http://schemas.microsoft.com/office/drawing/2014/main" id="{DB55B18F-BD4D-D18F-EF94-C1B23ADB9B47}"/>
                </a:ext>
              </a:extLst>
            </p:cNvPr>
            <p:cNvSpPr/>
            <p:nvPr/>
          </p:nvSpPr>
          <p:spPr>
            <a:xfrm>
              <a:off x="7318248" y="1728216"/>
              <a:ext cx="890016" cy="245059"/>
            </a:xfrm>
            <a:prstGeom prst="rect">
              <a:avLst/>
            </a:prstGeom>
            <a:noFill/>
            <a:ln/>
          </p:spPr>
          <p:txBody>
            <a:bodyPr wrap="square" lIns="0" tIns="0" rIns="0" bIns="0" rtlCol="0" anchor="ctr"/>
            <a:lstStyle/>
            <a:p>
              <a:pPr marL="0" indent="0" algn="ctr">
                <a:buNone/>
              </a:pPr>
              <a:r>
                <a:rPr lang="en-US" sz="1000" b="1">
                  <a:solidFill>
                    <a:srgbClr val="FFFFFF"/>
                  </a:solidFill>
                  <a:latin typeface="Cambria" panose="02040503050406030204" pitchFamily="18" charset="0"/>
                  <a:ea typeface="Cambria" panose="02040503050406030204" pitchFamily="18" charset="0"/>
                </a:rPr>
                <a:t>9×</a:t>
              </a:r>
              <a:endParaRPr lang="en-US" sz="1000">
                <a:latin typeface="Cambria" panose="02040503050406030204" pitchFamily="18" charset="0"/>
                <a:ea typeface="Cambria" panose="02040503050406030204" pitchFamily="18" charset="0"/>
              </a:endParaRPr>
            </a:p>
          </p:txBody>
        </p:sp>
        <p:sp>
          <p:nvSpPr>
            <p:cNvPr id="232" name="Shape 73">
              <a:extLst>
                <a:ext uri="{FF2B5EF4-FFF2-40B4-BE49-F238E27FC236}">
                  <a16:creationId xmlns:a16="http://schemas.microsoft.com/office/drawing/2014/main" id="{C7978DBE-15AD-0564-9A8C-8528FDC56408}"/>
                </a:ext>
              </a:extLst>
            </p:cNvPr>
            <p:cNvSpPr/>
            <p:nvPr/>
          </p:nvSpPr>
          <p:spPr>
            <a:xfrm>
              <a:off x="8208264" y="1728216"/>
              <a:ext cx="890016" cy="245059"/>
            </a:xfrm>
            <a:prstGeom prst="rect">
              <a:avLst/>
            </a:prstGeom>
            <a:solidFill>
              <a:srgbClr val="0D1B3E"/>
            </a:solidFill>
            <a:ln w="12700">
              <a:solidFill>
                <a:srgbClr val="0D1B3E"/>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33" name="Text 74">
              <a:extLst>
                <a:ext uri="{FF2B5EF4-FFF2-40B4-BE49-F238E27FC236}">
                  <a16:creationId xmlns:a16="http://schemas.microsoft.com/office/drawing/2014/main" id="{F80E0E51-6B5D-D713-3B13-CD70C07EE1BD}"/>
                </a:ext>
              </a:extLst>
            </p:cNvPr>
            <p:cNvSpPr/>
            <p:nvPr/>
          </p:nvSpPr>
          <p:spPr>
            <a:xfrm>
              <a:off x="8208264" y="1728216"/>
              <a:ext cx="890016" cy="245059"/>
            </a:xfrm>
            <a:prstGeom prst="rect">
              <a:avLst/>
            </a:prstGeom>
            <a:noFill/>
            <a:ln/>
          </p:spPr>
          <p:txBody>
            <a:bodyPr wrap="square" lIns="0" tIns="0" rIns="0" bIns="0" rtlCol="0" anchor="ctr"/>
            <a:lstStyle/>
            <a:p>
              <a:pPr marL="0" indent="0" algn="ctr">
                <a:buNone/>
              </a:pPr>
              <a:r>
                <a:rPr lang="en-US" sz="1000" b="1">
                  <a:solidFill>
                    <a:srgbClr val="FFFFFF"/>
                  </a:solidFill>
                  <a:latin typeface="Cambria" panose="02040503050406030204" pitchFamily="18" charset="0"/>
                  <a:ea typeface="Cambria" panose="02040503050406030204" pitchFamily="18" charset="0"/>
                </a:rPr>
                <a:t>10×</a:t>
              </a:r>
              <a:endParaRPr lang="en-US" sz="1000">
                <a:latin typeface="Cambria" panose="02040503050406030204" pitchFamily="18" charset="0"/>
                <a:ea typeface="Cambria" panose="02040503050406030204" pitchFamily="18" charset="0"/>
              </a:endParaRPr>
            </a:p>
          </p:txBody>
        </p:sp>
        <p:sp>
          <p:nvSpPr>
            <p:cNvPr id="234" name="Shape 75">
              <a:extLst>
                <a:ext uri="{FF2B5EF4-FFF2-40B4-BE49-F238E27FC236}">
                  <a16:creationId xmlns:a16="http://schemas.microsoft.com/office/drawing/2014/main" id="{23395DCF-7F57-9CC7-267D-8C4BD39D7268}"/>
                </a:ext>
              </a:extLst>
            </p:cNvPr>
            <p:cNvSpPr/>
            <p:nvPr/>
          </p:nvSpPr>
          <p:spPr>
            <a:xfrm>
              <a:off x="9098280" y="1728216"/>
              <a:ext cx="890016" cy="245059"/>
            </a:xfrm>
            <a:prstGeom prst="rect">
              <a:avLst/>
            </a:prstGeom>
            <a:solidFill>
              <a:srgbClr val="0D1B3E"/>
            </a:solidFill>
            <a:ln w="12700">
              <a:solidFill>
                <a:srgbClr val="0D1B3E"/>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35" name="Text 76">
              <a:extLst>
                <a:ext uri="{FF2B5EF4-FFF2-40B4-BE49-F238E27FC236}">
                  <a16:creationId xmlns:a16="http://schemas.microsoft.com/office/drawing/2014/main" id="{7911DD8A-28B2-2030-6467-72364E52A4A0}"/>
                </a:ext>
              </a:extLst>
            </p:cNvPr>
            <p:cNvSpPr/>
            <p:nvPr/>
          </p:nvSpPr>
          <p:spPr>
            <a:xfrm>
              <a:off x="9098280" y="1728216"/>
              <a:ext cx="890016" cy="245059"/>
            </a:xfrm>
            <a:prstGeom prst="rect">
              <a:avLst/>
            </a:prstGeom>
            <a:noFill/>
            <a:ln/>
          </p:spPr>
          <p:txBody>
            <a:bodyPr wrap="square" lIns="0" tIns="0" rIns="0" bIns="0" rtlCol="0" anchor="ctr"/>
            <a:lstStyle/>
            <a:p>
              <a:pPr marL="0" indent="0" algn="ctr">
                <a:buNone/>
              </a:pPr>
              <a:r>
                <a:rPr lang="en-US" sz="1000" b="1">
                  <a:solidFill>
                    <a:srgbClr val="FFFFFF"/>
                  </a:solidFill>
                  <a:latin typeface="Cambria" panose="02040503050406030204" pitchFamily="18" charset="0"/>
                  <a:ea typeface="Cambria" panose="02040503050406030204" pitchFamily="18" charset="0"/>
                </a:rPr>
                <a:t>11×</a:t>
              </a:r>
              <a:endParaRPr lang="en-US" sz="1000">
                <a:latin typeface="Cambria" panose="02040503050406030204" pitchFamily="18" charset="0"/>
                <a:ea typeface="Cambria" panose="02040503050406030204" pitchFamily="18" charset="0"/>
              </a:endParaRPr>
            </a:p>
          </p:txBody>
        </p:sp>
        <p:sp>
          <p:nvSpPr>
            <p:cNvPr id="236" name="Shape 77">
              <a:extLst>
                <a:ext uri="{FF2B5EF4-FFF2-40B4-BE49-F238E27FC236}">
                  <a16:creationId xmlns:a16="http://schemas.microsoft.com/office/drawing/2014/main" id="{F6330D96-66D9-6961-E54B-B519045233DC}"/>
                </a:ext>
              </a:extLst>
            </p:cNvPr>
            <p:cNvSpPr/>
            <p:nvPr/>
          </p:nvSpPr>
          <p:spPr>
            <a:xfrm>
              <a:off x="9988296" y="1728216"/>
              <a:ext cx="890016" cy="245059"/>
            </a:xfrm>
            <a:prstGeom prst="rect">
              <a:avLst/>
            </a:prstGeom>
            <a:solidFill>
              <a:srgbClr val="0D1B3E"/>
            </a:solidFill>
            <a:ln w="12700">
              <a:solidFill>
                <a:srgbClr val="0D1B3E"/>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37" name="Text 78">
              <a:extLst>
                <a:ext uri="{FF2B5EF4-FFF2-40B4-BE49-F238E27FC236}">
                  <a16:creationId xmlns:a16="http://schemas.microsoft.com/office/drawing/2014/main" id="{F9DFD135-0041-13EC-0A34-766B41FE1B46}"/>
                </a:ext>
              </a:extLst>
            </p:cNvPr>
            <p:cNvSpPr/>
            <p:nvPr/>
          </p:nvSpPr>
          <p:spPr>
            <a:xfrm>
              <a:off x="9988296" y="1728216"/>
              <a:ext cx="890016" cy="245059"/>
            </a:xfrm>
            <a:prstGeom prst="rect">
              <a:avLst/>
            </a:prstGeom>
            <a:noFill/>
            <a:ln/>
          </p:spPr>
          <p:txBody>
            <a:bodyPr wrap="square" lIns="0" tIns="0" rIns="0" bIns="0" rtlCol="0" anchor="ctr"/>
            <a:lstStyle/>
            <a:p>
              <a:pPr marL="0" indent="0" algn="ctr">
                <a:buNone/>
              </a:pPr>
              <a:r>
                <a:rPr lang="en-US" sz="1000" b="1">
                  <a:solidFill>
                    <a:srgbClr val="FFFFFF"/>
                  </a:solidFill>
                  <a:latin typeface="Cambria" panose="02040503050406030204" pitchFamily="18" charset="0"/>
                  <a:ea typeface="Cambria" panose="02040503050406030204" pitchFamily="18" charset="0"/>
                </a:rPr>
                <a:t>12×</a:t>
              </a:r>
              <a:endParaRPr lang="en-US" sz="1000">
                <a:latin typeface="Cambria" panose="02040503050406030204" pitchFamily="18" charset="0"/>
                <a:ea typeface="Cambria" panose="02040503050406030204" pitchFamily="18" charset="0"/>
              </a:endParaRPr>
            </a:p>
          </p:txBody>
        </p:sp>
        <p:sp>
          <p:nvSpPr>
            <p:cNvPr id="238" name="Shape 79">
              <a:extLst>
                <a:ext uri="{FF2B5EF4-FFF2-40B4-BE49-F238E27FC236}">
                  <a16:creationId xmlns:a16="http://schemas.microsoft.com/office/drawing/2014/main" id="{1F3DA127-CDE3-3ADC-B824-E12FB9551A12}"/>
                </a:ext>
              </a:extLst>
            </p:cNvPr>
            <p:cNvSpPr/>
            <p:nvPr/>
          </p:nvSpPr>
          <p:spPr>
            <a:xfrm>
              <a:off x="10878312" y="1728216"/>
              <a:ext cx="890016" cy="245059"/>
            </a:xfrm>
            <a:prstGeom prst="rect">
              <a:avLst/>
            </a:prstGeom>
            <a:solidFill>
              <a:srgbClr val="0D1B3E"/>
            </a:solidFill>
            <a:ln w="12700">
              <a:solidFill>
                <a:srgbClr val="0D1B3E"/>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39" name="Text 80">
              <a:extLst>
                <a:ext uri="{FF2B5EF4-FFF2-40B4-BE49-F238E27FC236}">
                  <a16:creationId xmlns:a16="http://schemas.microsoft.com/office/drawing/2014/main" id="{B1A6B234-E8B2-E949-6CF8-3147E05D4657}"/>
                </a:ext>
              </a:extLst>
            </p:cNvPr>
            <p:cNvSpPr/>
            <p:nvPr/>
          </p:nvSpPr>
          <p:spPr>
            <a:xfrm>
              <a:off x="10878312" y="1728216"/>
              <a:ext cx="890016" cy="245059"/>
            </a:xfrm>
            <a:prstGeom prst="rect">
              <a:avLst/>
            </a:prstGeom>
            <a:noFill/>
            <a:ln/>
          </p:spPr>
          <p:txBody>
            <a:bodyPr wrap="square" lIns="0" tIns="0" rIns="0" bIns="0" rtlCol="0" anchor="ctr"/>
            <a:lstStyle/>
            <a:p>
              <a:pPr marL="0" indent="0" algn="ctr">
                <a:buNone/>
              </a:pPr>
              <a:r>
                <a:rPr lang="en-US" sz="1000" b="1">
                  <a:solidFill>
                    <a:srgbClr val="FFFFFF"/>
                  </a:solidFill>
                  <a:latin typeface="Cambria" panose="02040503050406030204" pitchFamily="18" charset="0"/>
                  <a:ea typeface="Cambria" panose="02040503050406030204" pitchFamily="18" charset="0"/>
                </a:rPr>
                <a:t>13×</a:t>
              </a:r>
              <a:endParaRPr lang="en-US" sz="1000">
                <a:latin typeface="Cambria" panose="02040503050406030204" pitchFamily="18" charset="0"/>
                <a:ea typeface="Cambria" panose="02040503050406030204" pitchFamily="18" charset="0"/>
              </a:endParaRPr>
            </a:p>
          </p:txBody>
        </p:sp>
        <p:sp>
          <p:nvSpPr>
            <p:cNvPr id="240" name="Shape 81">
              <a:extLst>
                <a:ext uri="{FF2B5EF4-FFF2-40B4-BE49-F238E27FC236}">
                  <a16:creationId xmlns:a16="http://schemas.microsoft.com/office/drawing/2014/main" id="{74E082E2-0C5B-B949-5BBB-DFBBB15363AA}"/>
                </a:ext>
              </a:extLst>
            </p:cNvPr>
            <p:cNvSpPr/>
            <p:nvPr/>
          </p:nvSpPr>
          <p:spPr>
            <a:xfrm>
              <a:off x="6428232" y="1973275"/>
              <a:ext cx="890016" cy="245059"/>
            </a:xfrm>
            <a:prstGeom prst="rect">
              <a:avLst/>
            </a:prstGeom>
            <a:solidFill>
              <a:srgbClr val="E5E9E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41" name="Text 82">
              <a:extLst>
                <a:ext uri="{FF2B5EF4-FFF2-40B4-BE49-F238E27FC236}">
                  <a16:creationId xmlns:a16="http://schemas.microsoft.com/office/drawing/2014/main" id="{AE6E61D3-6C89-6343-F927-D65BADCE4E75}"/>
                </a:ext>
              </a:extLst>
            </p:cNvPr>
            <p:cNvSpPr/>
            <p:nvPr/>
          </p:nvSpPr>
          <p:spPr>
            <a:xfrm>
              <a:off x="6428232" y="1973275"/>
              <a:ext cx="890016" cy="245059"/>
            </a:xfrm>
            <a:prstGeom prst="rect">
              <a:avLst/>
            </a:prstGeom>
            <a:noFill/>
            <a:ln/>
          </p:spPr>
          <p:txBody>
            <a:bodyPr wrap="square" lIns="0" tIns="0" rIns="0" bIns="0" rtlCol="0" anchor="ctr"/>
            <a:lstStyle/>
            <a:p>
              <a:pPr marL="0" indent="0" algn="ctr">
                <a:buNone/>
              </a:pPr>
              <a:r>
                <a:rPr lang="en-US" sz="900">
                  <a:solidFill>
                    <a:srgbClr val="1A1A1A"/>
                  </a:solidFill>
                  <a:latin typeface="Cambria" panose="02040503050406030204" pitchFamily="18" charset="0"/>
                  <a:ea typeface="Cambria" panose="02040503050406030204" pitchFamily="18" charset="0"/>
                </a:rPr>
                <a:t>9.33%</a:t>
              </a:r>
              <a:endParaRPr lang="en-US" sz="900">
                <a:latin typeface="Cambria" panose="02040503050406030204" pitchFamily="18" charset="0"/>
                <a:ea typeface="Cambria" panose="02040503050406030204" pitchFamily="18" charset="0"/>
              </a:endParaRPr>
            </a:p>
          </p:txBody>
        </p:sp>
        <p:sp>
          <p:nvSpPr>
            <p:cNvPr id="242" name="Shape 83">
              <a:extLst>
                <a:ext uri="{FF2B5EF4-FFF2-40B4-BE49-F238E27FC236}">
                  <a16:creationId xmlns:a16="http://schemas.microsoft.com/office/drawing/2014/main" id="{389F8910-D3F3-4726-1AF7-5144F03A2E12}"/>
                </a:ext>
              </a:extLst>
            </p:cNvPr>
            <p:cNvSpPr/>
            <p:nvPr/>
          </p:nvSpPr>
          <p:spPr>
            <a:xfrm>
              <a:off x="7318248" y="1973275"/>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43" name="Text 84">
              <a:extLst>
                <a:ext uri="{FF2B5EF4-FFF2-40B4-BE49-F238E27FC236}">
                  <a16:creationId xmlns:a16="http://schemas.microsoft.com/office/drawing/2014/main" id="{E904694F-ADAB-7687-7FCC-EF9AE0F4FA1C}"/>
                </a:ext>
              </a:extLst>
            </p:cNvPr>
            <p:cNvSpPr/>
            <p:nvPr/>
          </p:nvSpPr>
          <p:spPr>
            <a:xfrm>
              <a:off x="7318248" y="1973275"/>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$74</a:t>
              </a:r>
              <a:endParaRPr lang="en-US" sz="1000">
                <a:latin typeface="Cambria" panose="02040503050406030204" pitchFamily="18" charset="0"/>
                <a:ea typeface="Cambria" panose="02040503050406030204" pitchFamily="18" charset="0"/>
              </a:endParaRPr>
            </a:p>
          </p:txBody>
        </p:sp>
        <p:sp>
          <p:nvSpPr>
            <p:cNvPr id="244" name="Shape 85">
              <a:extLst>
                <a:ext uri="{FF2B5EF4-FFF2-40B4-BE49-F238E27FC236}">
                  <a16:creationId xmlns:a16="http://schemas.microsoft.com/office/drawing/2014/main" id="{6D6740FC-5D8B-ABA9-C440-822A48EA033D}"/>
                </a:ext>
              </a:extLst>
            </p:cNvPr>
            <p:cNvSpPr/>
            <p:nvPr/>
          </p:nvSpPr>
          <p:spPr>
            <a:xfrm>
              <a:off x="8208264" y="1973275"/>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45" name="Text 86">
              <a:extLst>
                <a:ext uri="{FF2B5EF4-FFF2-40B4-BE49-F238E27FC236}">
                  <a16:creationId xmlns:a16="http://schemas.microsoft.com/office/drawing/2014/main" id="{9599D818-A2EB-BBEB-96AE-5E5C23BB6D27}"/>
                </a:ext>
              </a:extLst>
            </p:cNvPr>
            <p:cNvSpPr/>
            <p:nvPr/>
          </p:nvSpPr>
          <p:spPr>
            <a:xfrm>
              <a:off x="8208264" y="1973275"/>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$81</a:t>
              </a:r>
              <a:endParaRPr lang="en-US" sz="1000">
                <a:latin typeface="Cambria" panose="02040503050406030204" pitchFamily="18" charset="0"/>
                <a:ea typeface="Cambria" panose="02040503050406030204" pitchFamily="18" charset="0"/>
              </a:endParaRPr>
            </a:p>
          </p:txBody>
        </p:sp>
        <p:sp>
          <p:nvSpPr>
            <p:cNvPr id="246" name="Shape 87">
              <a:extLst>
                <a:ext uri="{FF2B5EF4-FFF2-40B4-BE49-F238E27FC236}">
                  <a16:creationId xmlns:a16="http://schemas.microsoft.com/office/drawing/2014/main" id="{30674C3F-B69C-4C57-26F6-9B19E2F0F965}"/>
                </a:ext>
              </a:extLst>
            </p:cNvPr>
            <p:cNvSpPr/>
            <p:nvPr/>
          </p:nvSpPr>
          <p:spPr>
            <a:xfrm>
              <a:off x="9098280" y="1973275"/>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47" name="Text 88">
              <a:extLst>
                <a:ext uri="{FF2B5EF4-FFF2-40B4-BE49-F238E27FC236}">
                  <a16:creationId xmlns:a16="http://schemas.microsoft.com/office/drawing/2014/main" id="{DFCCCEFB-0D04-0779-BAB3-FFCEFE5852E6}"/>
                </a:ext>
              </a:extLst>
            </p:cNvPr>
            <p:cNvSpPr/>
            <p:nvPr/>
          </p:nvSpPr>
          <p:spPr>
            <a:xfrm>
              <a:off x="9098280" y="1973275"/>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$88</a:t>
              </a:r>
              <a:endParaRPr lang="en-US" sz="1000">
                <a:latin typeface="Cambria" panose="02040503050406030204" pitchFamily="18" charset="0"/>
                <a:ea typeface="Cambria" panose="02040503050406030204" pitchFamily="18" charset="0"/>
              </a:endParaRPr>
            </a:p>
          </p:txBody>
        </p:sp>
        <p:sp>
          <p:nvSpPr>
            <p:cNvPr id="248" name="Shape 89">
              <a:extLst>
                <a:ext uri="{FF2B5EF4-FFF2-40B4-BE49-F238E27FC236}">
                  <a16:creationId xmlns:a16="http://schemas.microsoft.com/office/drawing/2014/main" id="{7BC23C94-EBF6-9CE1-383E-A678F5DA2EEF}"/>
                </a:ext>
              </a:extLst>
            </p:cNvPr>
            <p:cNvSpPr/>
            <p:nvPr/>
          </p:nvSpPr>
          <p:spPr>
            <a:xfrm>
              <a:off x="9988296" y="1973275"/>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49" name="Text 90">
              <a:extLst>
                <a:ext uri="{FF2B5EF4-FFF2-40B4-BE49-F238E27FC236}">
                  <a16:creationId xmlns:a16="http://schemas.microsoft.com/office/drawing/2014/main" id="{5829E3CD-16E8-EAE0-7CAC-7B61A3C26FEF}"/>
                </a:ext>
              </a:extLst>
            </p:cNvPr>
            <p:cNvSpPr/>
            <p:nvPr/>
          </p:nvSpPr>
          <p:spPr>
            <a:xfrm>
              <a:off x="9988296" y="1973275"/>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$95</a:t>
              </a:r>
              <a:endParaRPr lang="en-US" sz="1000">
                <a:latin typeface="Cambria" panose="02040503050406030204" pitchFamily="18" charset="0"/>
                <a:ea typeface="Cambria" panose="02040503050406030204" pitchFamily="18" charset="0"/>
              </a:endParaRPr>
            </a:p>
          </p:txBody>
        </p:sp>
        <p:sp>
          <p:nvSpPr>
            <p:cNvPr id="250" name="Shape 91">
              <a:extLst>
                <a:ext uri="{FF2B5EF4-FFF2-40B4-BE49-F238E27FC236}">
                  <a16:creationId xmlns:a16="http://schemas.microsoft.com/office/drawing/2014/main" id="{18ECFF0B-372E-867F-EA19-304715A52677}"/>
                </a:ext>
              </a:extLst>
            </p:cNvPr>
            <p:cNvSpPr/>
            <p:nvPr/>
          </p:nvSpPr>
          <p:spPr>
            <a:xfrm>
              <a:off x="10878312" y="1973275"/>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51" name="Text 92">
              <a:extLst>
                <a:ext uri="{FF2B5EF4-FFF2-40B4-BE49-F238E27FC236}">
                  <a16:creationId xmlns:a16="http://schemas.microsoft.com/office/drawing/2014/main" id="{C2A84058-DC36-9474-69DD-2884D2EC5CC0}"/>
                </a:ext>
              </a:extLst>
            </p:cNvPr>
            <p:cNvSpPr/>
            <p:nvPr/>
          </p:nvSpPr>
          <p:spPr>
            <a:xfrm>
              <a:off x="10878312" y="1973275"/>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$102</a:t>
              </a:r>
              <a:endParaRPr lang="en-US" sz="1000">
                <a:latin typeface="Cambria" panose="02040503050406030204" pitchFamily="18" charset="0"/>
                <a:ea typeface="Cambria" panose="02040503050406030204" pitchFamily="18" charset="0"/>
              </a:endParaRPr>
            </a:p>
          </p:txBody>
        </p:sp>
        <p:sp>
          <p:nvSpPr>
            <p:cNvPr id="252" name="Shape 93">
              <a:extLst>
                <a:ext uri="{FF2B5EF4-FFF2-40B4-BE49-F238E27FC236}">
                  <a16:creationId xmlns:a16="http://schemas.microsoft.com/office/drawing/2014/main" id="{DFD428BA-7FD3-51B9-E37A-38E729EE794C}"/>
                </a:ext>
              </a:extLst>
            </p:cNvPr>
            <p:cNvSpPr/>
            <p:nvPr/>
          </p:nvSpPr>
          <p:spPr>
            <a:xfrm>
              <a:off x="6428232" y="2218334"/>
              <a:ext cx="890016" cy="245059"/>
            </a:xfrm>
            <a:prstGeom prst="rect">
              <a:avLst/>
            </a:prstGeom>
            <a:solidFill>
              <a:srgbClr val="E5E9E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53" name="Text 94">
              <a:extLst>
                <a:ext uri="{FF2B5EF4-FFF2-40B4-BE49-F238E27FC236}">
                  <a16:creationId xmlns:a16="http://schemas.microsoft.com/office/drawing/2014/main" id="{2F54D106-BA2F-3C44-88B1-C39D797B33B4}"/>
                </a:ext>
              </a:extLst>
            </p:cNvPr>
            <p:cNvSpPr/>
            <p:nvPr/>
          </p:nvSpPr>
          <p:spPr>
            <a:xfrm>
              <a:off x="6428232" y="2218334"/>
              <a:ext cx="890016" cy="245059"/>
            </a:xfrm>
            <a:prstGeom prst="rect">
              <a:avLst/>
            </a:prstGeom>
            <a:noFill/>
            <a:ln/>
          </p:spPr>
          <p:txBody>
            <a:bodyPr wrap="square" lIns="0" tIns="0" rIns="0" bIns="0" rtlCol="0" anchor="ctr"/>
            <a:lstStyle/>
            <a:p>
              <a:pPr marL="0" indent="0" algn="ctr">
                <a:buNone/>
              </a:pPr>
              <a:r>
                <a:rPr lang="en-US" sz="900">
                  <a:solidFill>
                    <a:srgbClr val="1A1A1A"/>
                  </a:solidFill>
                  <a:latin typeface="Cambria" panose="02040503050406030204" pitchFamily="18" charset="0"/>
                  <a:ea typeface="Cambria" panose="02040503050406030204" pitchFamily="18" charset="0"/>
                </a:rPr>
                <a:t>10.33%</a:t>
              </a:r>
              <a:endParaRPr lang="en-US" sz="900">
                <a:latin typeface="Cambria" panose="02040503050406030204" pitchFamily="18" charset="0"/>
                <a:ea typeface="Cambria" panose="02040503050406030204" pitchFamily="18" charset="0"/>
              </a:endParaRPr>
            </a:p>
          </p:txBody>
        </p:sp>
        <p:sp>
          <p:nvSpPr>
            <p:cNvPr id="254" name="Shape 95">
              <a:extLst>
                <a:ext uri="{FF2B5EF4-FFF2-40B4-BE49-F238E27FC236}">
                  <a16:creationId xmlns:a16="http://schemas.microsoft.com/office/drawing/2014/main" id="{58ABBF27-E559-93F2-9106-F51066C71A87}"/>
                </a:ext>
              </a:extLst>
            </p:cNvPr>
            <p:cNvSpPr/>
            <p:nvPr/>
          </p:nvSpPr>
          <p:spPr>
            <a:xfrm>
              <a:off x="7318248" y="2218334"/>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55" name="Text 96">
              <a:extLst>
                <a:ext uri="{FF2B5EF4-FFF2-40B4-BE49-F238E27FC236}">
                  <a16:creationId xmlns:a16="http://schemas.microsoft.com/office/drawing/2014/main" id="{6DE3F228-619A-8639-FB5D-EA1A05499163}"/>
                </a:ext>
              </a:extLst>
            </p:cNvPr>
            <p:cNvSpPr/>
            <p:nvPr/>
          </p:nvSpPr>
          <p:spPr>
            <a:xfrm>
              <a:off x="7318248" y="221833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$70</a:t>
              </a:r>
              <a:endParaRPr lang="en-US" sz="1000">
                <a:latin typeface="Cambria" panose="02040503050406030204" pitchFamily="18" charset="0"/>
                <a:ea typeface="Cambria" panose="02040503050406030204" pitchFamily="18" charset="0"/>
              </a:endParaRPr>
            </a:p>
          </p:txBody>
        </p:sp>
        <p:sp>
          <p:nvSpPr>
            <p:cNvPr id="256" name="Shape 97">
              <a:extLst>
                <a:ext uri="{FF2B5EF4-FFF2-40B4-BE49-F238E27FC236}">
                  <a16:creationId xmlns:a16="http://schemas.microsoft.com/office/drawing/2014/main" id="{3FD0BA3F-9A47-082D-A8EC-1263656FB8E6}"/>
                </a:ext>
              </a:extLst>
            </p:cNvPr>
            <p:cNvSpPr/>
            <p:nvPr/>
          </p:nvSpPr>
          <p:spPr>
            <a:xfrm>
              <a:off x="8208264" y="2218334"/>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57" name="Text 98">
              <a:extLst>
                <a:ext uri="{FF2B5EF4-FFF2-40B4-BE49-F238E27FC236}">
                  <a16:creationId xmlns:a16="http://schemas.microsoft.com/office/drawing/2014/main" id="{1A1A7379-E753-90A3-C440-8296C3C28968}"/>
                </a:ext>
              </a:extLst>
            </p:cNvPr>
            <p:cNvSpPr/>
            <p:nvPr/>
          </p:nvSpPr>
          <p:spPr>
            <a:xfrm>
              <a:off x="8208264" y="221833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$77</a:t>
              </a:r>
              <a:endParaRPr lang="en-US" sz="1000">
                <a:latin typeface="Cambria" panose="02040503050406030204" pitchFamily="18" charset="0"/>
                <a:ea typeface="Cambria" panose="02040503050406030204" pitchFamily="18" charset="0"/>
              </a:endParaRPr>
            </a:p>
          </p:txBody>
        </p:sp>
        <p:sp>
          <p:nvSpPr>
            <p:cNvPr id="258" name="Shape 99">
              <a:extLst>
                <a:ext uri="{FF2B5EF4-FFF2-40B4-BE49-F238E27FC236}">
                  <a16:creationId xmlns:a16="http://schemas.microsoft.com/office/drawing/2014/main" id="{F07D43A1-11A9-E97C-53C5-462135854896}"/>
                </a:ext>
              </a:extLst>
            </p:cNvPr>
            <p:cNvSpPr/>
            <p:nvPr/>
          </p:nvSpPr>
          <p:spPr>
            <a:xfrm>
              <a:off x="9098280" y="2218334"/>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59" name="Text 100">
              <a:extLst>
                <a:ext uri="{FF2B5EF4-FFF2-40B4-BE49-F238E27FC236}">
                  <a16:creationId xmlns:a16="http://schemas.microsoft.com/office/drawing/2014/main" id="{D11B6FA5-242C-1F7C-4F9E-0867FD050789}"/>
                </a:ext>
              </a:extLst>
            </p:cNvPr>
            <p:cNvSpPr/>
            <p:nvPr/>
          </p:nvSpPr>
          <p:spPr>
            <a:xfrm>
              <a:off x="9098280" y="221833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$84</a:t>
              </a:r>
              <a:endParaRPr lang="en-US" sz="1000">
                <a:latin typeface="Cambria" panose="02040503050406030204" pitchFamily="18" charset="0"/>
                <a:ea typeface="Cambria" panose="02040503050406030204" pitchFamily="18" charset="0"/>
              </a:endParaRPr>
            </a:p>
          </p:txBody>
        </p:sp>
        <p:sp>
          <p:nvSpPr>
            <p:cNvPr id="260" name="Shape 101">
              <a:extLst>
                <a:ext uri="{FF2B5EF4-FFF2-40B4-BE49-F238E27FC236}">
                  <a16:creationId xmlns:a16="http://schemas.microsoft.com/office/drawing/2014/main" id="{8F42D2AD-CF3E-F705-CF4C-F0E1280F420D}"/>
                </a:ext>
              </a:extLst>
            </p:cNvPr>
            <p:cNvSpPr/>
            <p:nvPr/>
          </p:nvSpPr>
          <p:spPr>
            <a:xfrm>
              <a:off x="9988296" y="2218334"/>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61" name="Text 102">
              <a:extLst>
                <a:ext uri="{FF2B5EF4-FFF2-40B4-BE49-F238E27FC236}">
                  <a16:creationId xmlns:a16="http://schemas.microsoft.com/office/drawing/2014/main" id="{DF3C6595-13E2-1338-5D39-E9BA5E7691F7}"/>
                </a:ext>
              </a:extLst>
            </p:cNvPr>
            <p:cNvSpPr/>
            <p:nvPr/>
          </p:nvSpPr>
          <p:spPr>
            <a:xfrm>
              <a:off x="9988296" y="221833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$90</a:t>
              </a:r>
              <a:endParaRPr lang="en-US" sz="1000">
                <a:latin typeface="Cambria" panose="02040503050406030204" pitchFamily="18" charset="0"/>
                <a:ea typeface="Cambria" panose="02040503050406030204" pitchFamily="18" charset="0"/>
              </a:endParaRPr>
            </a:p>
          </p:txBody>
        </p:sp>
        <p:sp>
          <p:nvSpPr>
            <p:cNvPr id="262" name="Shape 103">
              <a:extLst>
                <a:ext uri="{FF2B5EF4-FFF2-40B4-BE49-F238E27FC236}">
                  <a16:creationId xmlns:a16="http://schemas.microsoft.com/office/drawing/2014/main" id="{00537D5F-245F-74DF-3EB9-EB27B457C5F7}"/>
                </a:ext>
              </a:extLst>
            </p:cNvPr>
            <p:cNvSpPr/>
            <p:nvPr/>
          </p:nvSpPr>
          <p:spPr>
            <a:xfrm>
              <a:off x="10878312" y="2218334"/>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63" name="Text 104">
              <a:extLst>
                <a:ext uri="{FF2B5EF4-FFF2-40B4-BE49-F238E27FC236}">
                  <a16:creationId xmlns:a16="http://schemas.microsoft.com/office/drawing/2014/main" id="{B6807FFB-CA74-7BB9-BAA7-BCA6798EFF2A}"/>
                </a:ext>
              </a:extLst>
            </p:cNvPr>
            <p:cNvSpPr/>
            <p:nvPr/>
          </p:nvSpPr>
          <p:spPr>
            <a:xfrm>
              <a:off x="10878312" y="221833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$97</a:t>
              </a:r>
              <a:endParaRPr lang="en-US" sz="1000">
                <a:latin typeface="Cambria" panose="02040503050406030204" pitchFamily="18" charset="0"/>
                <a:ea typeface="Cambria" panose="02040503050406030204" pitchFamily="18" charset="0"/>
              </a:endParaRPr>
            </a:p>
          </p:txBody>
        </p:sp>
        <p:sp>
          <p:nvSpPr>
            <p:cNvPr id="264" name="Shape 105">
              <a:extLst>
                <a:ext uri="{FF2B5EF4-FFF2-40B4-BE49-F238E27FC236}">
                  <a16:creationId xmlns:a16="http://schemas.microsoft.com/office/drawing/2014/main" id="{82BFC82C-7A9D-2134-D0AE-BBC1BBABD183}"/>
                </a:ext>
              </a:extLst>
            </p:cNvPr>
            <p:cNvSpPr/>
            <p:nvPr/>
          </p:nvSpPr>
          <p:spPr>
            <a:xfrm>
              <a:off x="6428232" y="2463394"/>
              <a:ext cx="890016" cy="245059"/>
            </a:xfrm>
            <a:prstGeom prst="rect">
              <a:avLst/>
            </a:prstGeom>
            <a:solidFill>
              <a:srgbClr val="0D2850"/>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65" name="Text 106">
              <a:extLst>
                <a:ext uri="{FF2B5EF4-FFF2-40B4-BE49-F238E27FC236}">
                  <a16:creationId xmlns:a16="http://schemas.microsoft.com/office/drawing/2014/main" id="{C4DF2694-EF70-A177-ADE3-7F6143873951}"/>
                </a:ext>
              </a:extLst>
            </p:cNvPr>
            <p:cNvSpPr/>
            <p:nvPr/>
          </p:nvSpPr>
          <p:spPr>
            <a:xfrm>
              <a:off x="6428232" y="2463394"/>
              <a:ext cx="890016" cy="245059"/>
            </a:xfrm>
            <a:prstGeom prst="rect">
              <a:avLst/>
            </a:prstGeom>
            <a:noFill/>
            <a:ln/>
          </p:spPr>
          <p:txBody>
            <a:bodyPr wrap="square" lIns="0" tIns="0" rIns="0" bIns="0" rtlCol="0" anchor="ctr"/>
            <a:lstStyle/>
            <a:p>
              <a:pPr marL="0" indent="0" algn="ctr">
                <a:buNone/>
              </a:pPr>
              <a:r>
                <a:rPr lang="en-US" sz="900" b="1">
                  <a:solidFill>
                    <a:srgbClr val="D4A017"/>
                  </a:solidFill>
                  <a:latin typeface="Cambria" panose="02040503050406030204" pitchFamily="18" charset="0"/>
                  <a:ea typeface="Cambria" panose="02040503050406030204" pitchFamily="18" charset="0"/>
                </a:rPr>
                <a:t>11.33% ◄</a:t>
              </a:r>
              <a:endParaRPr lang="en-US" sz="900">
                <a:latin typeface="Cambria" panose="02040503050406030204" pitchFamily="18" charset="0"/>
                <a:ea typeface="Cambria" panose="02040503050406030204" pitchFamily="18" charset="0"/>
              </a:endParaRPr>
            </a:p>
          </p:txBody>
        </p:sp>
        <p:sp>
          <p:nvSpPr>
            <p:cNvPr id="266" name="Shape 107">
              <a:extLst>
                <a:ext uri="{FF2B5EF4-FFF2-40B4-BE49-F238E27FC236}">
                  <a16:creationId xmlns:a16="http://schemas.microsoft.com/office/drawing/2014/main" id="{8CD66E00-D55C-7DD6-3590-6AE6403F1215}"/>
                </a:ext>
              </a:extLst>
            </p:cNvPr>
            <p:cNvSpPr/>
            <p:nvPr/>
          </p:nvSpPr>
          <p:spPr>
            <a:xfrm>
              <a:off x="7318248" y="2463394"/>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67" name="Text 108">
              <a:extLst>
                <a:ext uri="{FF2B5EF4-FFF2-40B4-BE49-F238E27FC236}">
                  <a16:creationId xmlns:a16="http://schemas.microsoft.com/office/drawing/2014/main" id="{64310616-38B4-4078-F6AF-B22C7256ADD0}"/>
                </a:ext>
              </a:extLst>
            </p:cNvPr>
            <p:cNvSpPr/>
            <p:nvPr/>
          </p:nvSpPr>
          <p:spPr>
            <a:xfrm>
              <a:off x="7318248" y="246339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$67</a:t>
              </a:r>
              <a:endParaRPr lang="en-US" sz="1000">
                <a:latin typeface="Cambria" panose="02040503050406030204" pitchFamily="18" charset="0"/>
                <a:ea typeface="Cambria" panose="02040503050406030204" pitchFamily="18" charset="0"/>
              </a:endParaRPr>
            </a:p>
          </p:txBody>
        </p:sp>
        <p:sp>
          <p:nvSpPr>
            <p:cNvPr id="268" name="Shape 109">
              <a:extLst>
                <a:ext uri="{FF2B5EF4-FFF2-40B4-BE49-F238E27FC236}">
                  <a16:creationId xmlns:a16="http://schemas.microsoft.com/office/drawing/2014/main" id="{BF09736D-9B83-F9BE-2879-B878EA2E92BD}"/>
                </a:ext>
              </a:extLst>
            </p:cNvPr>
            <p:cNvSpPr/>
            <p:nvPr/>
          </p:nvSpPr>
          <p:spPr>
            <a:xfrm>
              <a:off x="8208264" y="2463394"/>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69" name="Text 110">
              <a:extLst>
                <a:ext uri="{FF2B5EF4-FFF2-40B4-BE49-F238E27FC236}">
                  <a16:creationId xmlns:a16="http://schemas.microsoft.com/office/drawing/2014/main" id="{DBC22D64-29FF-32C7-AA50-E78F13951B6C}"/>
                </a:ext>
              </a:extLst>
            </p:cNvPr>
            <p:cNvSpPr/>
            <p:nvPr/>
          </p:nvSpPr>
          <p:spPr>
            <a:xfrm>
              <a:off x="8208264" y="246339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$74</a:t>
              </a:r>
              <a:endParaRPr lang="en-US" sz="1000">
                <a:latin typeface="Cambria" panose="02040503050406030204" pitchFamily="18" charset="0"/>
                <a:ea typeface="Cambria" panose="02040503050406030204" pitchFamily="18" charset="0"/>
              </a:endParaRPr>
            </a:p>
          </p:txBody>
        </p:sp>
        <p:sp>
          <p:nvSpPr>
            <p:cNvPr id="270" name="Shape 111">
              <a:extLst>
                <a:ext uri="{FF2B5EF4-FFF2-40B4-BE49-F238E27FC236}">
                  <a16:creationId xmlns:a16="http://schemas.microsoft.com/office/drawing/2014/main" id="{60AB11FB-4345-C50B-FDFC-7D698DF00DAC}"/>
                </a:ext>
              </a:extLst>
            </p:cNvPr>
            <p:cNvSpPr/>
            <p:nvPr/>
          </p:nvSpPr>
          <p:spPr>
            <a:xfrm>
              <a:off x="9098280" y="2463394"/>
              <a:ext cx="890016" cy="245059"/>
            </a:xfrm>
            <a:prstGeom prst="rect">
              <a:avLst/>
            </a:prstGeom>
            <a:solidFill>
              <a:srgbClr val="0D2850"/>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71" name="Text 112">
              <a:extLst>
                <a:ext uri="{FF2B5EF4-FFF2-40B4-BE49-F238E27FC236}">
                  <a16:creationId xmlns:a16="http://schemas.microsoft.com/office/drawing/2014/main" id="{5CF74D09-65C7-8355-49D3-3F166132524A}"/>
                </a:ext>
              </a:extLst>
            </p:cNvPr>
            <p:cNvSpPr/>
            <p:nvPr/>
          </p:nvSpPr>
          <p:spPr>
            <a:xfrm>
              <a:off x="9098280" y="2463394"/>
              <a:ext cx="890016" cy="245059"/>
            </a:xfrm>
            <a:prstGeom prst="rect">
              <a:avLst/>
            </a:prstGeom>
            <a:noFill/>
            <a:ln/>
          </p:spPr>
          <p:txBody>
            <a:bodyPr wrap="square" lIns="0" tIns="0" rIns="0" bIns="0" rtlCol="0" anchor="ctr"/>
            <a:lstStyle/>
            <a:p>
              <a:pPr marL="0" indent="0" algn="ctr">
                <a:buNone/>
              </a:pPr>
              <a:r>
                <a:rPr lang="en-US" sz="1000" b="1">
                  <a:solidFill>
                    <a:srgbClr val="D4A017"/>
                  </a:solidFill>
                  <a:latin typeface="Cambria" panose="02040503050406030204" pitchFamily="18" charset="0"/>
                  <a:ea typeface="Cambria" panose="02040503050406030204" pitchFamily="18" charset="0"/>
                </a:rPr>
                <a:t>$80</a:t>
              </a:r>
              <a:endParaRPr lang="en-US" sz="1000">
                <a:latin typeface="Cambria" panose="02040503050406030204" pitchFamily="18" charset="0"/>
                <a:ea typeface="Cambria" panose="02040503050406030204" pitchFamily="18" charset="0"/>
              </a:endParaRPr>
            </a:p>
          </p:txBody>
        </p:sp>
        <p:sp>
          <p:nvSpPr>
            <p:cNvPr id="272" name="Shape 113">
              <a:extLst>
                <a:ext uri="{FF2B5EF4-FFF2-40B4-BE49-F238E27FC236}">
                  <a16:creationId xmlns:a16="http://schemas.microsoft.com/office/drawing/2014/main" id="{9A3CCFF9-8463-F333-DBAB-E0C827B84842}"/>
                </a:ext>
              </a:extLst>
            </p:cNvPr>
            <p:cNvSpPr/>
            <p:nvPr/>
          </p:nvSpPr>
          <p:spPr>
            <a:xfrm>
              <a:off x="9988296" y="2463394"/>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73" name="Text 114">
              <a:extLst>
                <a:ext uri="{FF2B5EF4-FFF2-40B4-BE49-F238E27FC236}">
                  <a16:creationId xmlns:a16="http://schemas.microsoft.com/office/drawing/2014/main" id="{912A6275-4195-8456-923D-0E9A64E200A3}"/>
                </a:ext>
              </a:extLst>
            </p:cNvPr>
            <p:cNvSpPr/>
            <p:nvPr/>
          </p:nvSpPr>
          <p:spPr>
            <a:xfrm>
              <a:off x="9988296" y="246339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$86</a:t>
              </a:r>
              <a:endParaRPr lang="en-US" sz="1000">
                <a:latin typeface="Cambria" panose="02040503050406030204" pitchFamily="18" charset="0"/>
                <a:ea typeface="Cambria" panose="02040503050406030204" pitchFamily="18" charset="0"/>
              </a:endParaRPr>
            </a:p>
          </p:txBody>
        </p:sp>
        <p:sp>
          <p:nvSpPr>
            <p:cNvPr id="274" name="Shape 115">
              <a:extLst>
                <a:ext uri="{FF2B5EF4-FFF2-40B4-BE49-F238E27FC236}">
                  <a16:creationId xmlns:a16="http://schemas.microsoft.com/office/drawing/2014/main" id="{A9553F5F-1CCC-C448-06AB-BB8A0D317DFE}"/>
                </a:ext>
              </a:extLst>
            </p:cNvPr>
            <p:cNvSpPr/>
            <p:nvPr/>
          </p:nvSpPr>
          <p:spPr>
            <a:xfrm>
              <a:off x="10878312" y="2463394"/>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75" name="Text 116">
              <a:extLst>
                <a:ext uri="{FF2B5EF4-FFF2-40B4-BE49-F238E27FC236}">
                  <a16:creationId xmlns:a16="http://schemas.microsoft.com/office/drawing/2014/main" id="{A328C44C-BC93-4F12-7361-976D7CABE150}"/>
                </a:ext>
              </a:extLst>
            </p:cNvPr>
            <p:cNvSpPr/>
            <p:nvPr/>
          </p:nvSpPr>
          <p:spPr>
            <a:xfrm>
              <a:off x="10878312" y="2463394"/>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$93</a:t>
              </a:r>
              <a:endParaRPr lang="en-US" sz="1000">
                <a:latin typeface="Cambria" panose="02040503050406030204" pitchFamily="18" charset="0"/>
                <a:ea typeface="Cambria" panose="02040503050406030204" pitchFamily="18" charset="0"/>
              </a:endParaRPr>
            </a:p>
          </p:txBody>
        </p:sp>
        <p:sp>
          <p:nvSpPr>
            <p:cNvPr id="276" name="Shape 117">
              <a:extLst>
                <a:ext uri="{FF2B5EF4-FFF2-40B4-BE49-F238E27FC236}">
                  <a16:creationId xmlns:a16="http://schemas.microsoft.com/office/drawing/2014/main" id="{9877C941-8E80-0F08-96BC-6D150D702E9A}"/>
                </a:ext>
              </a:extLst>
            </p:cNvPr>
            <p:cNvSpPr/>
            <p:nvPr/>
          </p:nvSpPr>
          <p:spPr>
            <a:xfrm>
              <a:off x="6428232" y="2708453"/>
              <a:ext cx="890016" cy="245059"/>
            </a:xfrm>
            <a:prstGeom prst="rect">
              <a:avLst/>
            </a:prstGeom>
            <a:solidFill>
              <a:srgbClr val="E5E9E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77" name="Text 118">
              <a:extLst>
                <a:ext uri="{FF2B5EF4-FFF2-40B4-BE49-F238E27FC236}">
                  <a16:creationId xmlns:a16="http://schemas.microsoft.com/office/drawing/2014/main" id="{09C2719C-26AF-81B2-2085-242CBEE9DEF4}"/>
                </a:ext>
              </a:extLst>
            </p:cNvPr>
            <p:cNvSpPr/>
            <p:nvPr/>
          </p:nvSpPr>
          <p:spPr>
            <a:xfrm>
              <a:off x="6428232" y="2708453"/>
              <a:ext cx="890016" cy="245059"/>
            </a:xfrm>
            <a:prstGeom prst="rect">
              <a:avLst/>
            </a:prstGeom>
            <a:noFill/>
            <a:ln/>
          </p:spPr>
          <p:txBody>
            <a:bodyPr wrap="square" lIns="0" tIns="0" rIns="0" bIns="0" rtlCol="0" anchor="ctr"/>
            <a:lstStyle/>
            <a:p>
              <a:pPr marL="0" indent="0" algn="ctr">
                <a:buNone/>
              </a:pPr>
              <a:r>
                <a:rPr lang="en-US" sz="900">
                  <a:solidFill>
                    <a:srgbClr val="1A1A1A"/>
                  </a:solidFill>
                  <a:latin typeface="Cambria" panose="02040503050406030204" pitchFamily="18" charset="0"/>
                  <a:ea typeface="Cambria" panose="02040503050406030204" pitchFamily="18" charset="0"/>
                </a:rPr>
                <a:t>12.33%</a:t>
              </a:r>
              <a:endParaRPr lang="en-US" sz="900">
                <a:latin typeface="Cambria" panose="02040503050406030204" pitchFamily="18" charset="0"/>
                <a:ea typeface="Cambria" panose="02040503050406030204" pitchFamily="18" charset="0"/>
              </a:endParaRPr>
            </a:p>
          </p:txBody>
        </p:sp>
        <p:sp>
          <p:nvSpPr>
            <p:cNvPr id="278" name="Shape 119">
              <a:extLst>
                <a:ext uri="{FF2B5EF4-FFF2-40B4-BE49-F238E27FC236}">
                  <a16:creationId xmlns:a16="http://schemas.microsoft.com/office/drawing/2014/main" id="{3FEF2409-72FC-DA93-8D9F-F818A76FEC20}"/>
                </a:ext>
              </a:extLst>
            </p:cNvPr>
            <p:cNvSpPr/>
            <p:nvPr/>
          </p:nvSpPr>
          <p:spPr>
            <a:xfrm>
              <a:off x="7318248" y="2708453"/>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79" name="Text 120">
              <a:extLst>
                <a:ext uri="{FF2B5EF4-FFF2-40B4-BE49-F238E27FC236}">
                  <a16:creationId xmlns:a16="http://schemas.microsoft.com/office/drawing/2014/main" id="{20A0A75B-0424-7BBF-27F6-4CAE50AD1031}"/>
                </a:ext>
              </a:extLst>
            </p:cNvPr>
            <p:cNvSpPr/>
            <p:nvPr/>
          </p:nvSpPr>
          <p:spPr>
            <a:xfrm>
              <a:off x="7318248" y="2708453"/>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$64</a:t>
              </a:r>
              <a:endParaRPr lang="en-US" sz="1000">
                <a:latin typeface="Cambria" panose="02040503050406030204" pitchFamily="18" charset="0"/>
                <a:ea typeface="Cambria" panose="02040503050406030204" pitchFamily="18" charset="0"/>
              </a:endParaRPr>
            </a:p>
          </p:txBody>
        </p:sp>
        <p:sp>
          <p:nvSpPr>
            <p:cNvPr id="280" name="Shape 121">
              <a:extLst>
                <a:ext uri="{FF2B5EF4-FFF2-40B4-BE49-F238E27FC236}">
                  <a16:creationId xmlns:a16="http://schemas.microsoft.com/office/drawing/2014/main" id="{BD963D7E-7877-DC12-866D-559D88EC6016}"/>
                </a:ext>
              </a:extLst>
            </p:cNvPr>
            <p:cNvSpPr/>
            <p:nvPr/>
          </p:nvSpPr>
          <p:spPr>
            <a:xfrm>
              <a:off x="8208264" y="2708453"/>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81" name="Text 122">
              <a:extLst>
                <a:ext uri="{FF2B5EF4-FFF2-40B4-BE49-F238E27FC236}">
                  <a16:creationId xmlns:a16="http://schemas.microsoft.com/office/drawing/2014/main" id="{E7107575-F030-253B-214A-D8416F3F254E}"/>
                </a:ext>
              </a:extLst>
            </p:cNvPr>
            <p:cNvSpPr/>
            <p:nvPr/>
          </p:nvSpPr>
          <p:spPr>
            <a:xfrm>
              <a:off x="8208264" y="2708453"/>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$70</a:t>
              </a:r>
              <a:endParaRPr lang="en-US" sz="1000">
                <a:latin typeface="Cambria" panose="02040503050406030204" pitchFamily="18" charset="0"/>
                <a:ea typeface="Cambria" panose="02040503050406030204" pitchFamily="18" charset="0"/>
              </a:endParaRPr>
            </a:p>
          </p:txBody>
        </p:sp>
        <p:sp>
          <p:nvSpPr>
            <p:cNvPr id="282" name="Shape 123">
              <a:extLst>
                <a:ext uri="{FF2B5EF4-FFF2-40B4-BE49-F238E27FC236}">
                  <a16:creationId xmlns:a16="http://schemas.microsoft.com/office/drawing/2014/main" id="{9EAD215C-AA80-F9F4-A491-5E2C466521ED}"/>
                </a:ext>
              </a:extLst>
            </p:cNvPr>
            <p:cNvSpPr/>
            <p:nvPr/>
          </p:nvSpPr>
          <p:spPr>
            <a:xfrm>
              <a:off x="9098280" y="2708453"/>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83" name="Text 124">
              <a:extLst>
                <a:ext uri="{FF2B5EF4-FFF2-40B4-BE49-F238E27FC236}">
                  <a16:creationId xmlns:a16="http://schemas.microsoft.com/office/drawing/2014/main" id="{1962A3CE-8988-7EB4-1C64-420480A9430C}"/>
                </a:ext>
              </a:extLst>
            </p:cNvPr>
            <p:cNvSpPr/>
            <p:nvPr/>
          </p:nvSpPr>
          <p:spPr>
            <a:xfrm>
              <a:off x="9098280" y="2708453"/>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$76</a:t>
              </a:r>
              <a:endParaRPr lang="en-US" sz="1000">
                <a:latin typeface="Cambria" panose="02040503050406030204" pitchFamily="18" charset="0"/>
                <a:ea typeface="Cambria" panose="02040503050406030204" pitchFamily="18" charset="0"/>
              </a:endParaRPr>
            </a:p>
          </p:txBody>
        </p:sp>
        <p:sp>
          <p:nvSpPr>
            <p:cNvPr id="284" name="Shape 125">
              <a:extLst>
                <a:ext uri="{FF2B5EF4-FFF2-40B4-BE49-F238E27FC236}">
                  <a16:creationId xmlns:a16="http://schemas.microsoft.com/office/drawing/2014/main" id="{B1A116AF-BD7C-19A7-0C3C-0F36810D84E9}"/>
                </a:ext>
              </a:extLst>
            </p:cNvPr>
            <p:cNvSpPr/>
            <p:nvPr/>
          </p:nvSpPr>
          <p:spPr>
            <a:xfrm>
              <a:off x="9988296" y="2708453"/>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85" name="Text 126">
              <a:extLst>
                <a:ext uri="{FF2B5EF4-FFF2-40B4-BE49-F238E27FC236}">
                  <a16:creationId xmlns:a16="http://schemas.microsoft.com/office/drawing/2014/main" id="{959A5207-CCD1-5443-57AE-7C261ACEDC9A}"/>
                </a:ext>
              </a:extLst>
            </p:cNvPr>
            <p:cNvSpPr/>
            <p:nvPr/>
          </p:nvSpPr>
          <p:spPr>
            <a:xfrm>
              <a:off x="9988296" y="2708453"/>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$82</a:t>
              </a:r>
              <a:endParaRPr lang="en-US" sz="1000">
                <a:latin typeface="Cambria" panose="02040503050406030204" pitchFamily="18" charset="0"/>
                <a:ea typeface="Cambria" panose="02040503050406030204" pitchFamily="18" charset="0"/>
              </a:endParaRPr>
            </a:p>
          </p:txBody>
        </p:sp>
        <p:sp>
          <p:nvSpPr>
            <p:cNvPr id="286" name="Shape 127">
              <a:extLst>
                <a:ext uri="{FF2B5EF4-FFF2-40B4-BE49-F238E27FC236}">
                  <a16:creationId xmlns:a16="http://schemas.microsoft.com/office/drawing/2014/main" id="{2604384B-FA14-9487-63FF-5E52D45238C7}"/>
                </a:ext>
              </a:extLst>
            </p:cNvPr>
            <p:cNvSpPr/>
            <p:nvPr/>
          </p:nvSpPr>
          <p:spPr>
            <a:xfrm>
              <a:off x="10878312" y="2708453"/>
              <a:ext cx="890016" cy="245059"/>
            </a:xfrm>
            <a:prstGeom prst="rect">
              <a:avLst/>
            </a:prstGeom>
            <a:solidFill>
              <a:srgbClr val="FFFFF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87" name="Text 128">
              <a:extLst>
                <a:ext uri="{FF2B5EF4-FFF2-40B4-BE49-F238E27FC236}">
                  <a16:creationId xmlns:a16="http://schemas.microsoft.com/office/drawing/2014/main" id="{C3EDF85A-5C8E-E3A3-06E7-1103133E0B25}"/>
                </a:ext>
              </a:extLst>
            </p:cNvPr>
            <p:cNvSpPr/>
            <p:nvPr/>
          </p:nvSpPr>
          <p:spPr>
            <a:xfrm>
              <a:off x="10878312" y="2708453"/>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$88</a:t>
              </a:r>
              <a:endParaRPr lang="en-US" sz="1000">
                <a:latin typeface="Cambria" panose="02040503050406030204" pitchFamily="18" charset="0"/>
                <a:ea typeface="Cambria" panose="02040503050406030204" pitchFamily="18" charset="0"/>
              </a:endParaRPr>
            </a:p>
          </p:txBody>
        </p:sp>
        <p:sp>
          <p:nvSpPr>
            <p:cNvPr id="288" name="Shape 129">
              <a:extLst>
                <a:ext uri="{FF2B5EF4-FFF2-40B4-BE49-F238E27FC236}">
                  <a16:creationId xmlns:a16="http://schemas.microsoft.com/office/drawing/2014/main" id="{CB342A2C-D695-3A61-49EC-ED0FC706C78A}"/>
                </a:ext>
              </a:extLst>
            </p:cNvPr>
            <p:cNvSpPr/>
            <p:nvPr/>
          </p:nvSpPr>
          <p:spPr>
            <a:xfrm>
              <a:off x="6428232" y="2953512"/>
              <a:ext cx="890016" cy="245059"/>
            </a:xfrm>
            <a:prstGeom prst="rect">
              <a:avLst/>
            </a:prstGeom>
            <a:solidFill>
              <a:srgbClr val="E5E9EF"/>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89" name="Text 130">
              <a:extLst>
                <a:ext uri="{FF2B5EF4-FFF2-40B4-BE49-F238E27FC236}">
                  <a16:creationId xmlns:a16="http://schemas.microsoft.com/office/drawing/2014/main" id="{DA9062E9-CA64-93D5-42BD-5B37AC7641F3}"/>
                </a:ext>
              </a:extLst>
            </p:cNvPr>
            <p:cNvSpPr/>
            <p:nvPr/>
          </p:nvSpPr>
          <p:spPr>
            <a:xfrm>
              <a:off x="6428232" y="2953512"/>
              <a:ext cx="890016" cy="245059"/>
            </a:xfrm>
            <a:prstGeom prst="rect">
              <a:avLst/>
            </a:prstGeom>
            <a:noFill/>
            <a:ln/>
          </p:spPr>
          <p:txBody>
            <a:bodyPr wrap="square" lIns="0" tIns="0" rIns="0" bIns="0" rtlCol="0" anchor="ctr"/>
            <a:lstStyle/>
            <a:p>
              <a:pPr marL="0" indent="0" algn="ctr">
                <a:buNone/>
              </a:pPr>
              <a:r>
                <a:rPr lang="en-US" sz="900">
                  <a:solidFill>
                    <a:srgbClr val="1A1A1A"/>
                  </a:solidFill>
                  <a:latin typeface="Cambria" panose="02040503050406030204" pitchFamily="18" charset="0"/>
                  <a:ea typeface="Cambria" panose="02040503050406030204" pitchFamily="18" charset="0"/>
                </a:rPr>
                <a:t>13.33%</a:t>
              </a:r>
              <a:endParaRPr lang="en-US" sz="900">
                <a:latin typeface="Cambria" panose="02040503050406030204" pitchFamily="18" charset="0"/>
                <a:ea typeface="Cambria" panose="02040503050406030204" pitchFamily="18" charset="0"/>
              </a:endParaRPr>
            </a:p>
          </p:txBody>
        </p:sp>
        <p:sp>
          <p:nvSpPr>
            <p:cNvPr id="290" name="Shape 131">
              <a:extLst>
                <a:ext uri="{FF2B5EF4-FFF2-40B4-BE49-F238E27FC236}">
                  <a16:creationId xmlns:a16="http://schemas.microsoft.com/office/drawing/2014/main" id="{A5A3BB50-078E-F9D6-1020-570E05ECA466}"/>
                </a:ext>
              </a:extLst>
            </p:cNvPr>
            <p:cNvSpPr/>
            <p:nvPr/>
          </p:nvSpPr>
          <p:spPr>
            <a:xfrm>
              <a:off x="7318248" y="2953512"/>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91" name="Text 132">
              <a:extLst>
                <a:ext uri="{FF2B5EF4-FFF2-40B4-BE49-F238E27FC236}">
                  <a16:creationId xmlns:a16="http://schemas.microsoft.com/office/drawing/2014/main" id="{CDF02923-0B61-D97C-09CE-3F23D4E77C66}"/>
                </a:ext>
              </a:extLst>
            </p:cNvPr>
            <p:cNvSpPr/>
            <p:nvPr/>
          </p:nvSpPr>
          <p:spPr>
            <a:xfrm>
              <a:off x="7318248" y="2953512"/>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$61</a:t>
              </a:r>
              <a:endParaRPr lang="en-US" sz="1000">
                <a:latin typeface="Cambria" panose="02040503050406030204" pitchFamily="18" charset="0"/>
                <a:ea typeface="Cambria" panose="02040503050406030204" pitchFamily="18" charset="0"/>
              </a:endParaRPr>
            </a:p>
          </p:txBody>
        </p:sp>
        <p:sp>
          <p:nvSpPr>
            <p:cNvPr id="292" name="Shape 133">
              <a:extLst>
                <a:ext uri="{FF2B5EF4-FFF2-40B4-BE49-F238E27FC236}">
                  <a16:creationId xmlns:a16="http://schemas.microsoft.com/office/drawing/2014/main" id="{BA00CA9C-0A2F-C514-7CE9-D0F854B8FE9C}"/>
                </a:ext>
              </a:extLst>
            </p:cNvPr>
            <p:cNvSpPr/>
            <p:nvPr/>
          </p:nvSpPr>
          <p:spPr>
            <a:xfrm>
              <a:off x="8208264" y="2953512"/>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93" name="Text 134">
              <a:extLst>
                <a:ext uri="{FF2B5EF4-FFF2-40B4-BE49-F238E27FC236}">
                  <a16:creationId xmlns:a16="http://schemas.microsoft.com/office/drawing/2014/main" id="{EFE4E045-0794-32DE-C2AA-474401B96DC2}"/>
                </a:ext>
              </a:extLst>
            </p:cNvPr>
            <p:cNvSpPr/>
            <p:nvPr/>
          </p:nvSpPr>
          <p:spPr>
            <a:xfrm>
              <a:off x="8208264" y="2953512"/>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$67</a:t>
              </a:r>
              <a:endParaRPr lang="en-US" sz="1000">
                <a:latin typeface="Cambria" panose="02040503050406030204" pitchFamily="18" charset="0"/>
                <a:ea typeface="Cambria" panose="02040503050406030204" pitchFamily="18" charset="0"/>
              </a:endParaRPr>
            </a:p>
          </p:txBody>
        </p:sp>
        <p:sp>
          <p:nvSpPr>
            <p:cNvPr id="294" name="Shape 135">
              <a:extLst>
                <a:ext uri="{FF2B5EF4-FFF2-40B4-BE49-F238E27FC236}">
                  <a16:creationId xmlns:a16="http://schemas.microsoft.com/office/drawing/2014/main" id="{31EA75F4-A8D5-BF30-7E33-892184745B25}"/>
                </a:ext>
              </a:extLst>
            </p:cNvPr>
            <p:cNvSpPr/>
            <p:nvPr/>
          </p:nvSpPr>
          <p:spPr>
            <a:xfrm>
              <a:off x="9098280" y="2953512"/>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95" name="Text 136">
              <a:extLst>
                <a:ext uri="{FF2B5EF4-FFF2-40B4-BE49-F238E27FC236}">
                  <a16:creationId xmlns:a16="http://schemas.microsoft.com/office/drawing/2014/main" id="{10193155-1553-8789-D4C1-336DD2480C75}"/>
                </a:ext>
              </a:extLst>
            </p:cNvPr>
            <p:cNvSpPr/>
            <p:nvPr/>
          </p:nvSpPr>
          <p:spPr>
            <a:xfrm>
              <a:off x="9098280" y="2953512"/>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$73</a:t>
              </a:r>
              <a:endParaRPr lang="en-US" sz="1000">
                <a:latin typeface="Cambria" panose="02040503050406030204" pitchFamily="18" charset="0"/>
                <a:ea typeface="Cambria" panose="02040503050406030204" pitchFamily="18" charset="0"/>
              </a:endParaRPr>
            </a:p>
          </p:txBody>
        </p:sp>
        <p:sp>
          <p:nvSpPr>
            <p:cNvPr id="296" name="Shape 137">
              <a:extLst>
                <a:ext uri="{FF2B5EF4-FFF2-40B4-BE49-F238E27FC236}">
                  <a16:creationId xmlns:a16="http://schemas.microsoft.com/office/drawing/2014/main" id="{0510246E-5BC8-547D-F4A0-BA690C371DCE}"/>
                </a:ext>
              </a:extLst>
            </p:cNvPr>
            <p:cNvSpPr/>
            <p:nvPr/>
          </p:nvSpPr>
          <p:spPr>
            <a:xfrm>
              <a:off x="9988296" y="2953512"/>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97" name="Text 138">
              <a:extLst>
                <a:ext uri="{FF2B5EF4-FFF2-40B4-BE49-F238E27FC236}">
                  <a16:creationId xmlns:a16="http://schemas.microsoft.com/office/drawing/2014/main" id="{998B8401-5A53-E230-6609-62E263CB7740}"/>
                </a:ext>
              </a:extLst>
            </p:cNvPr>
            <p:cNvSpPr/>
            <p:nvPr/>
          </p:nvSpPr>
          <p:spPr>
            <a:xfrm>
              <a:off x="9988296" y="2953512"/>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$79</a:t>
              </a:r>
              <a:endParaRPr lang="en-US" sz="1000">
                <a:latin typeface="Cambria" panose="02040503050406030204" pitchFamily="18" charset="0"/>
                <a:ea typeface="Cambria" panose="02040503050406030204" pitchFamily="18" charset="0"/>
              </a:endParaRPr>
            </a:p>
          </p:txBody>
        </p:sp>
        <p:sp>
          <p:nvSpPr>
            <p:cNvPr id="298" name="Shape 139">
              <a:extLst>
                <a:ext uri="{FF2B5EF4-FFF2-40B4-BE49-F238E27FC236}">
                  <a16:creationId xmlns:a16="http://schemas.microsoft.com/office/drawing/2014/main" id="{E668901D-E0C8-F272-CC61-DA36EAB117A8}"/>
                </a:ext>
              </a:extLst>
            </p:cNvPr>
            <p:cNvSpPr/>
            <p:nvPr/>
          </p:nvSpPr>
          <p:spPr>
            <a:xfrm>
              <a:off x="10878312" y="2953512"/>
              <a:ext cx="890016" cy="245059"/>
            </a:xfrm>
            <a:prstGeom prst="rect">
              <a:avLst/>
            </a:prstGeom>
            <a:solidFill>
              <a:srgbClr val="F2F4F7"/>
            </a:solidFill>
            <a:ln w="3175">
              <a:solidFill>
                <a:srgbClr val="C8D0DA"/>
              </a:solidFill>
              <a:prstDash val="solid"/>
            </a:ln>
          </p:spPr>
          <p:txBody>
            <a:bodyPr/>
            <a:lstStyle/>
            <a:p>
              <a:endParaRPr lang="en-GB" sz="2800">
                <a:latin typeface="Cambria" panose="02040503050406030204" pitchFamily="18" charset="0"/>
                <a:ea typeface="Cambria" panose="02040503050406030204" pitchFamily="18" charset="0"/>
              </a:endParaRPr>
            </a:p>
          </p:txBody>
        </p:sp>
        <p:sp>
          <p:nvSpPr>
            <p:cNvPr id="299" name="Text 140">
              <a:extLst>
                <a:ext uri="{FF2B5EF4-FFF2-40B4-BE49-F238E27FC236}">
                  <a16:creationId xmlns:a16="http://schemas.microsoft.com/office/drawing/2014/main" id="{B42DB1C4-487D-31A6-29CC-59A990F92900}"/>
                </a:ext>
              </a:extLst>
            </p:cNvPr>
            <p:cNvSpPr/>
            <p:nvPr/>
          </p:nvSpPr>
          <p:spPr>
            <a:xfrm>
              <a:off x="10878312" y="2953512"/>
              <a:ext cx="890016" cy="245059"/>
            </a:xfrm>
            <a:prstGeom prst="rect">
              <a:avLst/>
            </a:prstGeom>
            <a:noFill/>
            <a:ln/>
          </p:spPr>
          <p:txBody>
            <a:bodyPr wrap="square" lIns="0" tIns="0" rIns="0" bIns="0" rtlCol="0" anchor="ctr"/>
            <a:lstStyle/>
            <a:p>
              <a:pPr marL="0" indent="0" algn="ctr">
                <a:buNone/>
              </a:pPr>
              <a:r>
                <a:rPr lang="en-US" sz="1000">
                  <a:solidFill>
                    <a:srgbClr val="1B5E20"/>
                  </a:solidFill>
                  <a:latin typeface="Cambria" panose="02040503050406030204" pitchFamily="18" charset="0"/>
                  <a:ea typeface="Cambria" panose="02040503050406030204" pitchFamily="18" charset="0"/>
                </a:rPr>
                <a:t>$84</a:t>
              </a:r>
              <a:endParaRPr lang="en-US" sz="1000">
                <a:latin typeface="Cambria" panose="02040503050406030204" pitchFamily="18" charset="0"/>
                <a:ea typeface="Cambria" panose="02040503050406030204" pitchFamily="18" charset="0"/>
              </a:endParaRPr>
            </a:p>
          </p:txBody>
        </p:sp>
      </p:grpSp>
      <p:sp>
        <p:nvSpPr>
          <p:cNvPr id="300" name="Text 141">
            <a:extLst>
              <a:ext uri="{FF2B5EF4-FFF2-40B4-BE49-F238E27FC236}">
                <a16:creationId xmlns:a16="http://schemas.microsoft.com/office/drawing/2014/main" id="{A625478C-0BFB-9626-1E91-94BC357FEF80}"/>
              </a:ext>
            </a:extLst>
          </p:cNvPr>
          <p:cNvSpPr/>
          <p:nvPr/>
        </p:nvSpPr>
        <p:spPr>
          <a:xfrm>
            <a:off x="6296352" y="3450597"/>
            <a:ext cx="5340096" cy="146304"/>
          </a:xfrm>
          <a:prstGeom prst="rect">
            <a:avLst/>
          </a:prstGeom>
          <a:noFill/>
          <a:ln/>
        </p:spPr>
        <p:txBody>
          <a:bodyPr wrap="square" lIns="0" tIns="0" rIns="0" bIns="0" rtlCol="0" anchor="ctr"/>
          <a:lstStyle/>
          <a:p>
            <a:pPr marL="0" indent="0">
              <a:buNone/>
            </a:pPr>
            <a:r>
              <a:rPr lang="en-US" sz="550" i="1">
                <a:solidFill>
                  <a:srgbClr val="6B7280"/>
                </a:solidFill>
              </a:rPr>
              <a:t>◄ Current WACC  |  Green = above $61 current price  |  Red = below current price</a:t>
            </a:r>
            <a:endParaRPr lang="en-US" sz="550"/>
          </a:p>
        </p:txBody>
      </p:sp>
      <p:sp>
        <p:nvSpPr>
          <p:cNvPr id="301" name="Text 142">
            <a:extLst>
              <a:ext uri="{FF2B5EF4-FFF2-40B4-BE49-F238E27FC236}">
                <a16:creationId xmlns:a16="http://schemas.microsoft.com/office/drawing/2014/main" id="{09B1ABF2-EE3D-69B9-3F09-0B905887549A}"/>
              </a:ext>
            </a:extLst>
          </p:cNvPr>
          <p:cNvSpPr/>
          <p:nvPr/>
        </p:nvSpPr>
        <p:spPr>
          <a:xfrm>
            <a:off x="6185611" y="3597209"/>
            <a:ext cx="2924078" cy="274017"/>
          </a:xfrm>
          <a:prstGeom prst="rect">
            <a:avLst/>
          </a:prstGeom>
          <a:noFill/>
          <a:ln/>
        </p:spPr>
        <p:txBody>
          <a:bodyPr wrap="square" lIns="0" tIns="0" rIns="0" bIns="0" rtlCol="0" anchor="ctr"/>
          <a:lstStyle/>
          <a:p>
            <a:pPr marL="0" indent="0">
              <a:buNone/>
            </a:pPr>
            <a:r>
              <a:rPr lang="en-US" sz="900" b="1">
                <a:solidFill>
                  <a:srgbClr val="1A1A1A"/>
                </a:solidFill>
                <a:latin typeface="Cambria" panose="02040503050406030204" pitchFamily="18" charset="0"/>
                <a:ea typeface="Cambria" panose="02040503050406030204" pitchFamily="18" charset="0"/>
              </a:rPr>
              <a:t>UFCF by scenario, $m</a:t>
            </a:r>
            <a:r>
              <a:rPr lang="en-US" sz="900" i="1">
                <a:solidFill>
                  <a:srgbClr val="6B7280"/>
                </a:solidFill>
                <a:latin typeface="Cambria" panose="02040503050406030204" pitchFamily="18" charset="0"/>
                <a:ea typeface="Cambria" panose="02040503050406030204" pitchFamily="18" charset="0"/>
              </a:rPr>
              <a:t>  FY26E – FY30E</a:t>
            </a:r>
            <a:endParaRPr lang="en-US" sz="900">
              <a:latin typeface="Cambria" panose="02040503050406030204" pitchFamily="18" charset="0"/>
              <a:ea typeface="Cambria" panose="02040503050406030204" pitchFamily="18" charset="0"/>
            </a:endParaRPr>
          </a:p>
        </p:txBody>
      </p:sp>
      <p:graphicFrame>
        <p:nvGraphicFramePr>
          <p:cNvPr id="302" name="Chart 0">
            <a:extLst>
              <a:ext uri="{FF2B5EF4-FFF2-40B4-BE49-F238E27FC236}">
                <a16:creationId xmlns:a16="http://schemas.microsoft.com/office/drawing/2014/main" id="{09E36017-B274-5C4C-91FD-730AE6179AA0}"/>
              </a:ext>
            </a:extLst>
          </p:cNvPr>
          <p:cNvGraphicFramePr/>
          <p:nvPr>
            <p:extLst>
              <p:ext uri="{D42A27DB-BD31-4B8C-83A1-F6EECF244321}">
                <p14:modId xmlns:p14="http://schemas.microsoft.com/office/powerpoint/2010/main" val="3605868729"/>
              </p:ext>
            </p:extLst>
          </p:nvPr>
        </p:nvGraphicFramePr>
        <p:xfrm>
          <a:off x="6185611" y="3871226"/>
          <a:ext cx="2924078" cy="2219540"/>
        </p:xfrm>
        <a:graphic>
          <a:graphicData uri="http://schemas.openxmlformats.org/drawingml/2006/chart">
            <c:chart xmlns:c="http://schemas.openxmlformats.org/drawingml/2006/chart" xmlns:r="http://schemas.openxmlformats.org/officeDocument/2006/relationships" r:id="rId3"/>
          </a:graphicData>
        </a:graphic>
      </p:graphicFrame>
      <p:sp>
        <p:nvSpPr>
          <p:cNvPr id="303" name="Text 143">
            <a:extLst>
              <a:ext uri="{FF2B5EF4-FFF2-40B4-BE49-F238E27FC236}">
                <a16:creationId xmlns:a16="http://schemas.microsoft.com/office/drawing/2014/main" id="{1C95EB69-CA91-16B9-FA75-995B5422E1D0}"/>
              </a:ext>
            </a:extLst>
          </p:cNvPr>
          <p:cNvSpPr/>
          <p:nvPr/>
        </p:nvSpPr>
        <p:spPr>
          <a:xfrm>
            <a:off x="6185611" y="6118168"/>
            <a:ext cx="2924078" cy="356222"/>
          </a:xfrm>
          <a:prstGeom prst="rect">
            <a:avLst/>
          </a:prstGeom>
          <a:noFill/>
          <a:ln/>
        </p:spPr>
        <p:txBody>
          <a:bodyPr wrap="square" lIns="0" tIns="0" rIns="0" bIns="0" rtlCol="0" anchor="t"/>
          <a:lstStyle/>
          <a:p>
            <a:pPr marL="0" indent="0">
              <a:buNone/>
            </a:pPr>
            <a:r>
              <a:rPr lang="en-US" sz="800" i="1">
                <a:latin typeface="Cambria" panose="02040503050406030204" pitchFamily="18" charset="0"/>
                <a:ea typeface="Cambria" panose="02040503050406030204" pitchFamily="18" charset="0"/>
              </a:rPr>
              <a:t>All three scenarios generate $2.5–3.5B UFCF — GEHC is capital-light. Bull premium is front-loaded (China unlock FY26–27); gap narrows by FY30 as unlock is one-time. Bear still covers dividend + buybacks.</a:t>
            </a:r>
            <a:endParaRPr lang="en-US" sz="800">
              <a:latin typeface="Cambria" panose="02040503050406030204" pitchFamily="18" charset="0"/>
              <a:ea typeface="Cambria" panose="02040503050406030204" pitchFamily="18" charset="0"/>
            </a:endParaRPr>
          </a:p>
        </p:txBody>
      </p:sp>
      <p:sp>
        <p:nvSpPr>
          <p:cNvPr id="304" name="Text 144">
            <a:extLst>
              <a:ext uri="{FF2B5EF4-FFF2-40B4-BE49-F238E27FC236}">
                <a16:creationId xmlns:a16="http://schemas.microsoft.com/office/drawing/2014/main" id="{90881EE3-87BA-6FF9-DB8B-E3BF7E096F22}"/>
              </a:ext>
            </a:extLst>
          </p:cNvPr>
          <p:cNvSpPr/>
          <p:nvPr/>
        </p:nvSpPr>
        <p:spPr>
          <a:xfrm>
            <a:off x="9449441" y="3597209"/>
            <a:ext cx="2924078" cy="274017"/>
          </a:xfrm>
          <a:prstGeom prst="rect">
            <a:avLst/>
          </a:prstGeom>
          <a:noFill/>
          <a:ln/>
        </p:spPr>
        <p:txBody>
          <a:bodyPr wrap="square" lIns="0" tIns="0" rIns="0" bIns="0" rtlCol="0" anchor="ctr"/>
          <a:lstStyle/>
          <a:p>
            <a:pPr marL="0" indent="0">
              <a:buNone/>
            </a:pPr>
            <a:r>
              <a:rPr lang="en-US" sz="900" b="1">
                <a:solidFill>
                  <a:srgbClr val="1A1A1A"/>
                </a:solidFill>
                <a:latin typeface="Cambria" panose="02040503050406030204" pitchFamily="18" charset="0"/>
                <a:ea typeface="Cambria" panose="02040503050406030204" pitchFamily="18" charset="0"/>
              </a:rPr>
              <a:t>China DSO, days</a:t>
            </a:r>
            <a:r>
              <a:rPr lang="en-US" sz="900" i="1">
                <a:solidFill>
                  <a:srgbClr val="6B7280"/>
                </a:solidFill>
                <a:latin typeface="Cambria" panose="02040503050406030204" pitchFamily="18" charset="0"/>
                <a:ea typeface="Cambria" panose="02040503050406030204" pitchFamily="18" charset="0"/>
              </a:rPr>
              <a:t>  FY22–FY25 actual (10-K anchored</a:t>
            </a:r>
            <a:r>
              <a:rPr lang="en-US" sz="650" i="1">
                <a:solidFill>
                  <a:srgbClr val="6B7280"/>
                </a:solidFill>
              </a:rPr>
              <a:t>)</a:t>
            </a:r>
            <a:endParaRPr lang="en-US" sz="750"/>
          </a:p>
        </p:txBody>
      </p:sp>
      <p:graphicFrame>
        <p:nvGraphicFramePr>
          <p:cNvPr id="305" name="Chart 1">
            <a:extLst>
              <a:ext uri="{FF2B5EF4-FFF2-40B4-BE49-F238E27FC236}">
                <a16:creationId xmlns:a16="http://schemas.microsoft.com/office/drawing/2014/main" id="{F98384E1-C72A-6CDA-4DA5-6BB79AEC7E9A}"/>
              </a:ext>
            </a:extLst>
          </p:cNvPr>
          <p:cNvGraphicFramePr/>
          <p:nvPr>
            <p:extLst>
              <p:ext uri="{D42A27DB-BD31-4B8C-83A1-F6EECF244321}">
                <p14:modId xmlns:p14="http://schemas.microsoft.com/office/powerpoint/2010/main" val="1721909883"/>
              </p:ext>
            </p:extLst>
          </p:nvPr>
        </p:nvGraphicFramePr>
        <p:xfrm>
          <a:off x="9208810" y="3871226"/>
          <a:ext cx="2924078" cy="2219540"/>
        </p:xfrm>
        <a:graphic>
          <a:graphicData uri="http://schemas.openxmlformats.org/drawingml/2006/chart">
            <c:chart xmlns:c="http://schemas.openxmlformats.org/drawingml/2006/chart" xmlns:r="http://schemas.openxmlformats.org/officeDocument/2006/relationships" r:id="rId4"/>
          </a:graphicData>
        </a:graphic>
      </p:graphicFrame>
      <p:sp>
        <p:nvSpPr>
          <p:cNvPr id="306" name="Text 145">
            <a:extLst>
              <a:ext uri="{FF2B5EF4-FFF2-40B4-BE49-F238E27FC236}">
                <a16:creationId xmlns:a16="http://schemas.microsoft.com/office/drawing/2014/main" id="{335AEF7B-6E19-B96A-5086-E2EB5517A2B1}"/>
              </a:ext>
            </a:extLst>
          </p:cNvPr>
          <p:cNvSpPr/>
          <p:nvPr/>
        </p:nvSpPr>
        <p:spPr>
          <a:xfrm>
            <a:off x="9267922" y="6080132"/>
            <a:ext cx="2924078" cy="356222"/>
          </a:xfrm>
          <a:prstGeom prst="rect">
            <a:avLst/>
          </a:prstGeom>
          <a:noFill/>
          <a:ln/>
        </p:spPr>
        <p:txBody>
          <a:bodyPr wrap="square" lIns="0" tIns="0" rIns="0" bIns="0" rtlCol="0" anchor="t"/>
          <a:lstStyle/>
          <a:p>
            <a:pPr marL="0" indent="0">
              <a:buNone/>
            </a:pPr>
            <a:r>
              <a:rPr lang="en-US" sz="800" i="1">
                <a:latin typeface="Cambria" panose="02040503050406030204" pitchFamily="18" charset="0"/>
                <a:ea typeface="Cambria" panose="02040503050406030204" pitchFamily="18" charset="0"/>
              </a:rPr>
              <a:t>DSO inflated +8.6 days FY22→FY25 as China hospital payments stalled. Flat allowance ($103m unchanged) confirms collectibility — timing issue not credit risk. Bull case targets 57d reversion, releasing ~$498m cash</a:t>
            </a:r>
            <a:r>
              <a:rPr lang="en-US" sz="900" i="1">
                <a:solidFill>
                  <a:srgbClr val="6B7280"/>
                </a:solidFill>
              </a:rPr>
              <a:t>.</a:t>
            </a:r>
            <a:endParaRPr lang="en-US" sz="900"/>
          </a:p>
        </p:txBody>
      </p:sp>
      <p:sp>
        <p:nvSpPr>
          <p:cNvPr id="307" name="Shape 4">
            <a:extLst>
              <a:ext uri="{FF2B5EF4-FFF2-40B4-BE49-F238E27FC236}">
                <a16:creationId xmlns:a16="http://schemas.microsoft.com/office/drawing/2014/main" id="{DBFE176A-04AB-300F-0BE8-7D8D7D7C98EB}"/>
              </a:ext>
            </a:extLst>
          </p:cNvPr>
          <p:cNvSpPr/>
          <p:nvPr/>
        </p:nvSpPr>
        <p:spPr>
          <a:xfrm>
            <a:off x="6296352" y="639699"/>
            <a:ext cx="5787363" cy="321560"/>
          </a:xfrm>
          <a:prstGeom prst="rect">
            <a:avLst/>
          </a:prstGeom>
          <a:solidFill>
            <a:srgbClr val="123C3E"/>
          </a:solidFill>
          <a:ln w="12700">
            <a:solidFill>
              <a:srgbClr val="006D64"/>
            </a:solidFill>
            <a:prstDash val="solid"/>
          </a:ln>
        </p:spPr>
        <p:txBody>
          <a:bodyPr/>
          <a:lstStyle/>
          <a:p>
            <a:endParaRPr lang="en-GB"/>
          </a:p>
        </p:txBody>
      </p:sp>
      <p:sp>
        <p:nvSpPr>
          <p:cNvPr id="309" name="TextBox 308">
            <a:extLst>
              <a:ext uri="{FF2B5EF4-FFF2-40B4-BE49-F238E27FC236}">
                <a16:creationId xmlns:a16="http://schemas.microsoft.com/office/drawing/2014/main" id="{7C7FEF2C-4FED-C420-F212-05C7984EB701}"/>
              </a:ext>
            </a:extLst>
          </p:cNvPr>
          <p:cNvSpPr txBox="1"/>
          <p:nvPr/>
        </p:nvSpPr>
        <p:spPr>
          <a:xfrm>
            <a:off x="6333963" y="664839"/>
            <a:ext cx="5712139" cy="255009"/>
          </a:xfrm>
          <a:prstGeom prst="rect">
            <a:avLst/>
          </a:prstGeom>
          <a:solidFill>
            <a:srgbClr val="123C3E"/>
          </a:solidFill>
        </p:spPr>
        <p:txBody>
          <a:bodyPr wrap="square">
            <a:spAutoFit/>
          </a:bodyPr>
          <a:lstStyle/>
          <a:p>
            <a:r>
              <a:rPr lang="en-GB" sz="1050" b="1">
                <a:solidFill>
                  <a:schemeClr val="bg1"/>
                </a:solidFill>
                <a:latin typeface="Cambria" panose="02040503050406030204" pitchFamily="18" charset="0"/>
                <a:ea typeface="Cambria" panose="02040503050406030204" pitchFamily="18" charset="0"/>
              </a:rPr>
              <a:t>Sensitivity Analysis </a:t>
            </a:r>
          </a:p>
        </p:txBody>
      </p:sp>
      <p:sp>
        <p:nvSpPr>
          <p:cNvPr id="312" name="TextBox 311">
            <a:extLst>
              <a:ext uri="{FF2B5EF4-FFF2-40B4-BE49-F238E27FC236}">
                <a16:creationId xmlns:a16="http://schemas.microsoft.com/office/drawing/2014/main" id="{A5B62001-C587-9E32-D129-47A5B5823A6D}"/>
              </a:ext>
            </a:extLst>
          </p:cNvPr>
          <p:cNvSpPr txBox="1"/>
          <p:nvPr/>
        </p:nvSpPr>
        <p:spPr>
          <a:xfrm>
            <a:off x="158261" y="94378"/>
            <a:ext cx="7315200" cy="169277"/>
          </a:xfrm>
          <a:prstGeom prst="rect">
            <a:avLst/>
          </a:prstGeom>
          <a:noFill/>
        </p:spPr>
        <p:txBody>
          <a:bodyPr wrap="square" lIns="0" tIns="0" rIns="0" bIns="0" anchor="t">
            <a:spAutoFit/>
          </a:bodyPr>
          <a:lstStyle/>
          <a:p>
            <a:r>
              <a:rPr lang="en-GB" sz="1100" b="1">
                <a:solidFill>
                  <a:srgbClr val="D8975E"/>
                </a:solidFill>
                <a:latin typeface="Calibri"/>
              </a:rPr>
              <a:t>07 </a:t>
            </a:r>
            <a:r>
              <a:rPr sz="1100" b="1" i="0">
                <a:solidFill>
                  <a:srgbClr val="D8975E"/>
                </a:solidFill>
                <a:latin typeface="Calibri"/>
              </a:rPr>
              <a:t>/</a:t>
            </a:r>
            <a:r>
              <a:rPr lang="en-GB" sz="1100" b="1" i="0">
                <a:solidFill>
                  <a:srgbClr val="D8975E"/>
                </a:solidFill>
                <a:latin typeface="Calibri"/>
              </a:rPr>
              <a:t> MODELLING SCENARIO</a:t>
            </a:r>
            <a:r>
              <a:rPr lang="en-GB" sz="1100" b="1">
                <a:solidFill>
                  <a:srgbClr val="D8975E"/>
                </a:solidFill>
                <a:latin typeface="Calibri"/>
              </a:rPr>
              <a:t> : PART 4</a:t>
            </a:r>
            <a:endParaRPr lang="en-GB" sz="1100" b="1" i="0">
              <a:solidFill>
                <a:srgbClr val="D8975E"/>
              </a:solidFill>
              <a:latin typeface="Calibri"/>
              <a:ea typeface="Calibri"/>
              <a:cs typeface="Calibri"/>
            </a:endParaRPr>
          </a:p>
        </p:txBody>
      </p:sp>
      <p:sp>
        <p:nvSpPr>
          <p:cNvPr id="313" name="Text 1">
            <a:extLst>
              <a:ext uri="{FF2B5EF4-FFF2-40B4-BE49-F238E27FC236}">
                <a16:creationId xmlns:a16="http://schemas.microsoft.com/office/drawing/2014/main" id="{1393B59F-9FEB-1F30-0F40-C850F15721B8}"/>
              </a:ext>
            </a:extLst>
          </p:cNvPr>
          <p:cNvSpPr/>
          <p:nvPr/>
        </p:nvSpPr>
        <p:spPr>
          <a:xfrm>
            <a:off x="134929" y="220749"/>
            <a:ext cx="11521440" cy="493776"/>
          </a:xfrm>
          <a:prstGeom prst="rect">
            <a:avLst/>
          </a:prstGeom>
          <a:noFill/>
          <a:ln/>
        </p:spPr>
        <p:txBody>
          <a:bodyPr wrap="square" lIns="0" tIns="0" rIns="0" bIns="0" rtlCol="0" anchor="ctr"/>
          <a:lstStyle/>
          <a:p>
            <a:pPr marL="0" indent="0">
              <a:buNone/>
            </a:pPr>
            <a:r>
              <a:rPr lang="en-US" sz="2200" b="1">
                <a:solidFill>
                  <a:srgbClr val="1A202C"/>
                </a:solidFill>
                <a:latin typeface="Cambria" pitchFamily="34" charset="0"/>
                <a:ea typeface="Cambria" pitchFamily="34" charset="-122"/>
              </a:rPr>
              <a:t>Exploring GE Healthcare Trajectory</a:t>
            </a:r>
            <a:endParaRPr lang="en-US" sz="2200"/>
          </a:p>
        </p:txBody>
      </p:sp>
    </p:spTree>
    <p:extLst>
      <p:ext uri="{BB962C8B-B14F-4D97-AF65-F5344CB8AC3E}">
        <p14:creationId xmlns:p14="http://schemas.microsoft.com/office/powerpoint/2010/main" val="3851860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p:cNvPicPr>
            <a:picLocks noChangeAspect="1"/>
          </p:cNvPicPr>
          <p:nvPr/>
        </p:nvPicPr>
        <p:blipFill>
          <a:blip r:embed="rId3"/>
          <a:stretch>
            <a:fillRect/>
          </a:stretch>
        </p:blipFill>
        <p:spPr>
          <a:xfrm>
            <a:off x="1325720" y="569383"/>
            <a:ext cx="201168" cy="201168"/>
          </a:xfrm>
          <a:prstGeom prst="rect">
            <a:avLst/>
          </a:prstGeom>
        </p:spPr>
      </p:pic>
      <p:sp>
        <p:nvSpPr>
          <p:cNvPr id="7" name="Text 4"/>
          <p:cNvSpPr/>
          <p:nvPr/>
        </p:nvSpPr>
        <p:spPr>
          <a:xfrm>
            <a:off x="1746424" y="528909"/>
            <a:ext cx="3657600" cy="274320"/>
          </a:xfrm>
          <a:prstGeom prst="rect">
            <a:avLst/>
          </a:prstGeom>
          <a:noFill/>
          <a:ln/>
        </p:spPr>
        <p:txBody>
          <a:bodyPr wrap="square" lIns="0" tIns="0" rIns="0" bIns="0" rtlCol="0" anchor="ctr"/>
          <a:lstStyle/>
          <a:p>
            <a:pPr marL="0" indent="0">
              <a:buNone/>
            </a:pPr>
            <a:r>
              <a:rPr lang="en-US" sz="1200" b="1" kern="0" spc="400" dirty="0">
                <a:solidFill>
                  <a:srgbClr val="1A1A1A"/>
                </a:solidFill>
                <a:latin typeface="Calibri" pitchFamily="34" charset="0"/>
                <a:ea typeface="Calibri" pitchFamily="34" charset="-122"/>
                <a:cs typeface="Calibri" pitchFamily="34" charset="-120"/>
              </a:rPr>
              <a:t>SHORT-TERM CATALYSTS</a:t>
            </a:r>
            <a:endParaRPr lang="en-US" sz="1200" dirty="0"/>
          </a:p>
        </p:txBody>
      </p:sp>
      <p:pic>
        <p:nvPicPr>
          <p:cNvPr id="8" name="Image 1" descr="preencoded.png"/>
          <p:cNvPicPr>
            <a:picLocks noChangeAspect="1"/>
          </p:cNvPicPr>
          <p:nvPr/>
        </p:nvPicPr>
        <p:blipFill>
          <a:blip r:embed="rId4"/>
          <a:stretch>
            <a:fillRect/>
          </a:stretch>
        </p:blipFill>
        <p:spPr>
          <a:xfrm>
            <a:off x="7013288" y="569383"/>
            <a:ext cx="201168" cy="201168"/>
          </a:xfrm>
          <a:prstGeom prst="rect">
            <a:avLst/>
          </a:prstGeom>
        </p:spPr>
      </p:pic>
      <p:sp>
        <p:nvSpPr>
          <p:cNvPr id="9" name="Text 5"/>
          <p:cNvSpPr/>
          <p:nvPr/>
        </p:nvSpPr>
        <p:spPr>
          <a:xfrm>
            <a:off x="7360760" y="529917"/>
            <a:ext cx="3657600" cy="274320"/>
          </a:xfrm>
          <a:prstGeom prst="rect">
            <a:avLst/>
          </a:prstGeom>
          <a:noFill/>
          <a:ln/>
        </p:spPr>
        <p:txBody>
          <a:bodyPr wrap="square" lIns="0" tIns="0" rIns="0" bIns="0" rtlCol="0" anchor="ctr"/>
          <a:lstStyle/>
          <a:p>
            <a:pPr marL="0" indent="0">
              <a:buNone/>
            </a:pPr>
            <a:r>
              <a:rPr lang="en-US" sz="1200" b="1" kern="0" spc="400" dirty="0">
                <a:solidFill>
                  <a:srgbClr val="1A1A1A"/>
                </a:solidFill>
                <a:latin typeface="Calibri" pitchFamily="34" charset="0"/>
                <a:ea typeface="Calibri" pitchFamily="34" charset="-122"/>
                <a:cs typeface="Calibri" pitchFamily="34" charset="-120"/>
              </a:rPr>
              <a:t>RISKS &amp; MITIGANTS</a:t>
            </a:r>
            <a:endParaRPr lang="en-US" sz="1200" dirty="0"/>
          </a:p>
        </p:txBody>
      </p:sp>
      <p:sp>
        <p:nvSpPr>
          <p:cNvPr id="10" name="Shape 6"/>
          <p:cNvSpPr/>
          <p:nvPr/>
        </p:nvSpPr>
        <p:spPr>
          <a:xfrm>
            <a:off x="365760" y="931244"/>
            <a:ext cx="11473314" cy="20683"/>
          </a:xfrm>
          <a:prstGeom prst="line">
            <a:avLst/>
          </a:prstGeom>
          <a:noFill/>
          <a:ln w="6350">
            <a:solidFill>
              <a:srgbClr val="DDD9D2"/>
            </a:solidFill>
            <a:prstDash val="solid"/>
          </a:ln>
        </p:spPr>
        <p:txBody>
          <a:bodyPr/>
          <a:lstStyle/>
          <a:p>
            <a:endParaRPr lang="en-GB"/>
          </a:p>
        </p:txBody>
      </p:sp>
      <p:grpSp>
        <p:nvGrpSpPr>
          <p:cNvPr id="85" name="Group 84">
            <a:extLst>
              <a:ext uri="{FF2B5EF4-FFF2-40B4-BE49-F238E27FC236}">
                <a16:creationId xmlns:a16="http://schemas.microsoft.com/office/drawing/2014/main" id="{A071FEEF-9A0C-AFEA-18E4-A98F2250CD46}"/>
              </a:ext>
            </a:extLst>
          </p:cNvPr>
          <p:cNvGrpSpPr/>
          <p:nvPr/>
        </p:nvGrpSpPr>
        <p:grpSpPr>
          <a:xfrm>
            <a:off x="859216" y="1029032"/>
            <a:ext cx="4087368" cy="5564364"/>
            <a:chOff x="612648" y="1077067"/>
            <a:chExt cx="4087368" cy="5564364"/>
          </a:xfrm>
        </p:grpSpPr>
        <p:sp>
          <p:nvSpPr>
            <p:cNvPr id="11" name="Shape 7"/>
            <p:cNvSpPr/>
            <p:nvPr/>
          </p:nvSpPr>
          <p:spPr>
            <a:xfrm>
              <a:off x="612648" y="1095355"/>
              <a:ext cx="329184" cy="329184"/>
            </a:xfrm>
            <a:prstGeom prst="ellipse">
              <a:avLst/>
            </a:prstGeom>
            <a:solidFill>
              <a:srgbClr val="E6F0EC"/>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694944" y="1177651"/>
              <a:ext cx="164592" cy="164592"/>
            </a:xfrm>
            <a:prstGeom prst="rect">
              <a:avLst/>
            </a:prstGeom>
          </p:spPr>
        </p:pic>
        <p:sp>
          <p:nvSpPr>
            <p:cNvPr id="13" name="Text 8"/>
            <p:cNvSpPr/>
            <p:nvPr/>
          </p:nvSpPr>
          <p:spPr>
            <a:xfrm>
              <a:off x="1069848" y="1077067"/>
              <a:ext cx="3474720" cy="228600"/>
            </a:xfrm>
            <a:prstGeom prst="rect">
              <a:avLst/>
            </a:prstGeom>
            <a:noFill/>
            <a:ln/>
          </p:spPr>
          <p:txBody>
            <a:bodyPr wrap="square" lIns="0" tIns="0" rIns="0" bIns="0" rtlCol="0" anchor="ctr"/>
            <a:lstStyle/>
            <a:p>
              <a:pPr marL="0" indent="0">
                <a:buNone/>
              </a:pPr>
              <a:r>
                <a:rPr lang="en-US" sz="1200" b="1">
                  <a:solidFill>
                    <a:srgbClr val="1A1A1A"/>
                  </a:solidFill>
                  <a:latin typeface="Calibri" pitchFamily="34" charset="0"/>
                  <a:ea typeface="Calibri" pitchFamily="34" charset="-122"/>
                  <a:cs typeface="Calibri" pitchFamily="34" charset="-120"/>
                </a:rPr>
                <a:t>GE stake unwind completing</a:t>
              </a:r>
              <a:endParaRPr lang="en-US" sz="1200"/>
            </a:p>
          </p:txBody>
        </p:sp>
        <p:sp>
          <p:nvSpPr>
            <p:cNvPr id="14" name="Shape 9"/>
            <p:cNvSpPr/>
            <p:nvPr/>
          </p:nvSpPr>
          <p:spPr>
            <a:xfrm>
              <a:off x="1069848" y="1323955"/>
              <a:ext cx="1600200" cy="182880"/>
            </a:xfrm>
            <a:prstGeom prst="roundRect">
              <a:avLst>
                <a:gd name="adj" fmla="val 25000"/>
              </a:avLst>
            </a:prstGeom>
            <a:solidFill>
              <a:srgbClr val="F4F2EE"/>
            </a:solidFill>
            <a:ln/>
          </p:spPr>
          <p:txBody>
            <a:bodyPr/>
            <a:lstStyle/>
            <a:p>
              <a:endParaRPr lang="en-GB"/>
            </a:p>
          </p:txBody>
        </p:sp>
        <p:sp>
          <p:nvSpPr>
            <p:cNvPr id="15" name="Text 10"/>
            <p:cNvSpPr/>
            <p:nvPr/>
          </p:nvSpPr>
          <p:spPr>
            <a:xfrm>
              <a:off x="1069848" y="1314811"/>
              <a:ext cx="1600200" cy="201168"/>
            </a:xfrm>
            <a:prstGeom prst="rect">
              <a:avLst/>
            </a:prstGeom>
            <a:noFill/>
            <a:ln/>
          </p:spPr>
          <p:txBody>
            <a:bodyPr wrap="square" lIns="0" tIns="0" rIns="0" bIns="0" rtlCol="0" anchor="ctr"/>
            <a:lstStyle/>
            <a:p>
              <a:pPr marL="0" indent="0" algn="ctr">
                <a:buNone/>
              </a:pPr>
              <a:r>
                <a:rPr lang="en-US" sz="850">
                  <a:solidFill>
                    <a:srgbClr val="595550"/>
                  </a:solidFill>
                  <a:latin typeface="Calibri" pitchFamily="34" charset="0"/>
                  <a:ea typeface="Calibri" pitchFamily="34" charset="-122"/>
                  <a:cs typeface="Calibri" pitchFamily="34" charset="-120"/>
                </a:rPr>
                <a:t>Ongoing → 0% by 2026</a:t>
              </a:r>
              <a:endParaRPr lang="en-US" sz="850"/>
            </a:p>
          </p:txBody>
        </p:sp>
        <p:sp>
          <p:nvSpPr>
            <p:cNvPr id="16" name="Text 11"/>
            <p:cNvSpPr/>
            <p:nvPr/>
          </p:nvSpPr>
          <p:spPr>
            <a:xfrm>
              <a:off x="1069848" y="1552555"/>
              <a:ext cx="3474720" cy="576072"/>
            </a:xfrm>
            <a:prstGeom prst="rect">
              <a:avLst/>
            </a:prstGeom>
            <a:noFill/>
            <a:ln/>
          </p:spPr>
          <p:txBody>
            <a:bodyPr wrap="square" lIns="0" tIns="0" rIns="0" bIns="0" rtlCol="0" anchor="ctr"/>
            <a:lstStyle/>
            <a:p>
              <a:pPr marL="0" indent="0">
                <a:lnSpc>
                  <a:spcPct val="115000"/>
                </a:lnSpc>
                <a:buNone/>
              </a:pPr>
              <a:r>
                <a:rPr lang="en-US" sz="900">
                  <a:latin typeface="Calibri" pitchFamily="34" charset="0"/>
                  <a:ea typeface="Calibri" pitchFamily="34" charset="-122"/>
                  <a:cs typeface="Calibri" pitchFamily="34" charset="-120"/>
                </a:rPr>
                <a:t>GE retained 19.9% at spin, as IRS Section 355 requires a minimum 80% distribution for tax-free treatment. GE are net sellers, deleveraging their own debt in exchange for equity. This suppresses the price; until the overhang clears, rational buyers are waiting.</a:t>
              </a:r>
              <a:endParaRPr lang="en-US" sz="900"/>
            </a:p>
          </p:txBody>
        </p:sp>
        <p:sp>
          <p:nvSpPr>
            <p:cNvPr id="17" name="Shape 12"/>
            <p:cNvSpPr/>
            <p:nvPr/>
          </p:nvSpPr>
          <p:spPr>
            <a:xfrm>
              <a:off x="612648" y="2137771"/>
              <a:ext cx="3931920" cy="0"/>
            </a:xfrm>
            <a:prstGeom prst="line">
              <a:avLst/>
            </a:prstGeom>
            <a:noFill/>
            <a:ln w="6350">
              <a:solidFill>
                <a:srgbClr val="DDD9D2"/>
              </a:solidFill>
              <a:prstDash val="solid"/>
            </a:ln>
          </p:spPr>
          <p:txBody>
            <a:bodyPr/>
            <a:lstStyle/>
            <a:p>
              <a:endParaRPr lang="en-GB"/>
            </a:p>
          </p:txBody>
        </p:sp>
        <p:sp>
          <p:nvSpPr>
            <p:cNvPr id="18" name="Shape 13"/>
            <p:cNvSpPr/>
            <p:nvPr/>
          </p:nvSpPr>
          <p:spPr>
            <a:xfrm>
              <a:off x="612648" y="2174347"/>
              <a:ext cx="329184" cy="329184"/>
            </a:xfrm>
            <a:prstGeom prst="ellipse">
              <a:avLst/>
            </a:prstGeom>
            <a:solidFill>
              <a:srgbClr val="E6F0EC"/>
            </a:solidFill>
            <a:ln/>
          </p:spPr>
          <p:txBody>
            <a:bodyPr/>
            <a:lstStyle/>
            <a:p>
              <a:endParaRPr lang="en-GB"/>
            </a:p>
          </p:txBody>
        </p:sp>
        <p:pic>
          <p:nvPicPr>
            <p:cNvPr id="19" name="Image 3" descr="preencoded.png"/>
            <p:cNvPicPr>
              <a:picLocks noChangeAspect="1"/>
            </p:cNvPicPr>
            <p:nvPr/>
          </p:nvPicPr>
          <p:blipFill>
            <a:blip r:embed="rId6"/>
            <a:stretch>
              <a:fillRect/>
            </a:stretch>
          </p:blipFill>
          <p:spPr>
            <a:xfrm>
              <a:off x="694944" y="2256643"/>
              <a:ext cx="164592" cy="164592"/>
            </a:xfrm>
            <a:prstGeom prst="rect">
              <a:avLst/>
            </a:prstGeom>
          </p:spPr>
        </p:pic>
        <p:sp>
          <p:nvSpPr>
            <p:cNvPr id="20" name="Text 14"/>
            <p:cNvSpPr/>
            <p:nvPr/>
          </p:nvSpPr>
          <p:spPr>
            <a:xfrm>
              <a:off x="1069848" y="2156059"/>
              <a:ext cx="3474720" cy="228600"/>
            </a:xfrm>
            <a:prstGeom prst="rect">
              <a:avLst/>
            </a:prstGeom>
            <a:noFill/>
            <a:ln/>
          </p:spPr>
          <p:txBody>
            <a:bodyPr wrap="square" lIns="0" tIns="0" rIns="0" bIns="0" rtlCol="0" anchor="ctr"/>
            <a:lstStyle/>
            <a:p>
              <a:pPr marL="0" indent="0">
                <a:buNone/>
              </a:pPr>
              <a:r>
                <a:rPr lang="en-US" sz="1200" b="1">
                  <a:solidFill>
                    <a:srgbClr val="1A1A1A"/>
                  </a:solidFill>
                  <a:latin typeface="Calibri" pitchFamily="34" charset="0"/>
                  <a:ea typeface="Calibri" pitchFamily="34" charset="-122"/>
                  <a:cs typeface="Calibri" pitchFamily="34" charset="-120"/>
                </a:rPr>
                <a:t>Record backlog</a:t>
              </a:r>
              <a:endParaRPr lang="en-US" sz="1200"/>
            </a:p>
          </p:txBody>
        </p:sp>
        <p:sp>
          <p:nvSpPr>
            <p:cNvPr id="21" name="Shape 15"/>
            <p:cNvSpPr/>
            <p:nvPr/>
          </p:nvSpPr>
          <p:spPr>
            <a:xfrm>
              <a:off x="1069848" y="2402947"/>
              <a:ext cx="1394460" cy="182880"/>
            </a:xfrm>
            <a:prstGeom prst="roundRect">
              <a:avLst>
                <a:gd name="adj" fmla="val 25000"/>
              </a:avLst>
            </a:prstGeom>
            <a:solidFill>
              <a:srgbClr val="F4F2EE"/>
            </a:solidFill>
            <a:ln/>
          </p:spPr>
          <p:txBody>
            <a:bodyPr/>
            <a:lstStyle/>
            <a:p>
              <a:endParaRPr lang="en-GB"/>
            </a:p>
          </p:txBody>
        </p:sp>
        <p:sp>
          <p:nvSpPr>
            <p:cNvPr id="22" name="Text 16"/>
            <p:cNvSpPr/>
            <p:nvPr/>
          </p:nvSpPr>
          <p:spPr>
            <a:xfrm>
              <a:off x="1069848" y="2393803"/>
              <a:ext cx="1394460" cy="201168"/>
            </a:xfrm>
            <a:prstGeom prst="rect">
              <a:avLst/>
            </a:prstGeom>
            <a:noFill/>
            <a:ln/>
          </p:spPr>
          <p:txBody>
            <a:bodyPr wrap="square" lIns="0" tIns="0" rIns="0" bIns="0" rtlCol="0" anchor="ctr"/>
            <a:lstStyle/>
            <a:p>
              <a:pPr marL="0" indent="0" algn="ctr">
                <a:buNone/>
              </a:pPr>
              <a:r>
                <a:rPr lang="en-US" sz="850">
                  <a:solidFill>
                    <a:srgbClr val="595550"/>
                  </a:solidFill>
                  <a:latin typeface="Calibri" pitchFamily="34" charset="0"/>
                  <a:ea typeface="Calibri" pitchFamily="34" charset="-122"/>
                  <a:cs typeface="Calibri" pitchFamily="34" charset="-120"/>
                </a:rPr>
                <a:t>H2 2025 / H1 2026</a:t>
              </a:r>
              <a:endParaRPr lang="en-US" sz="850"/>
            </a:p>
          </p:txBody>
        </p:sp>
        <p:sp>
          <p:nvSpPr>
            <p:cNvPr id="23" name="Text 17"/>
            <p:cNvSpPr/>
            <p:nvPr/>
          </p:nvSpPr>
          <p:spPr>
            <a:xfrm>
              <a:off x="1069848" y="2631547"/>
              <a:ext cx="3630168" cy="576072"/>
            </a:xfrm>
            <a:prstGeom prst="rect">
              <a:avLst/>
            </a:prstGeom>
            <a:noFill/>
            <a:ln/>
          </p:spPr>
          <p:txBody>
            <a:bodyPr wrap="square" lIns="0" tIns="0" rIns="0" bIns="0" rtlCol="0" anchor="ctr"/>
            <a:lstStyle/>
            <a:p>
              <a:pPr marL="0" indent="0">
                <a:lnSpc>
                  <a:spcPct val="115000"/>
                </a:lnSpc>
                <a:buNone/>
              </a:pPr>
              <a:r>
                <a:rPr lang="en-US" sz="900">
                  <a:latin typeface="Calibri" pitchFamily="34" charset="0"/>
                  <a:ea typeface="Calibri" pitchFamily="34" charset="-122"/>
                  <a:cs typeface="Calibri" pitchFamily="34" charset="-120"/>
                </a:rPr>
                <a:t>GE Healthcare is taking new orders faster than it can ship them — a $21.8bn backlog has built up. Book-to-bill 1.07× and orders +9–10% in Q4 2024. Guaranteed revenue follows 6–9 months later, creating a high-predictability growth path that likely exceeds management's cautious public estimates.</a:t>
              </a:r>
              <a:endParaRPr lang="en-US" sz="900"/>
            </a:p>
          </p:txBody>
        </p:sp>
        <p:sp>
          <p:nvSpPr>
            <p:cNvPr id="24" name="Shape 18"/>
            <p:cNvSpPr/>
            <p:nvPr/>
          </p:nvSpPr>
          <p:spPr>
            <a:xfrm>
              <a:off x="612648" y="3216763"/>
              <a:ext cx="3931920" cy="0"/>
            </a:xfrm>
            <a:prstGeom prst="line">
              <a:avLst/>
            </a:prstGeom>
            <a:noFill/>
            <a:ln w="6350">
              <a:solidFill>
                <a:srgbClr val="DDD9D2"/>
              </a:solidFill>
              <a:prstDash val="solid"/>
            </a:ln>
          </p:spPr>
          <p:txBody>
            <a:bodyPr/>
            <a:lstStyle/>
            <a:p>
              <a:endParaRPr lang="en-GB"/>
            </a:p>
          </p:txBody>
        </p:sp>
        <p:sp>
          <p:nvSpPr>
            <p:cNvPr id="25" name="Shape 19"/>
            <p:cNvSpPr/>
            <p:nvPr/>
          </p:nvSpPr>
          <p:spPr>
            <a:xfrm>
              <a:off x="612648" y="3253339"/>
              <a:ext cx="329184" cy="329184"/>
            </a:xfrm>
            <a:prstGeom prst="ellipse">
              <a:avLst/>
            </a:prstGeom>
            <a:solidFill>
              <a:srgbClr val="E6F0EC"/>
            </a:solidFill>
            <a:ln/>
          </p:spPr>
          <p:txBody>
            <a:bodyPr/>
            <a:lstStyle/>
            <a:p>
              <a:endParaRPr lang="en-GB"/>
            </a:p>
          </p:txBody>
        </p:sp>
        <p:pic>
          <p:nvPicPr>
            <p:cNvPr id="26" name="Image 4" descr="preencoded.png"/>
            <p:cNvPicPr>
              <a:picLocks noChangeAspect="1"/>
            </p:cNvPicPr>
            <p:nvPr/>
          </p:nvPicPr>
          <p:blipFill>
            <a:blip r:embed="rId7"/>
            <a:stretch>
              <a:fillRect/>
            </a:stretch>
          </p:blipFill>
          <p:spPr>
            <a:xfrm>
              <a:off x="694944" y="3335635"/>
              <a:ext cx="164592" cy="164592"/>
            </a:xfrm>
            <a:prstGeom prst="rect">
              <a:avLst/>
            </a:prstGeom>
          </p:spPr>
        </p:pic>
        <p:sp>
          <p:nvSpPr>
            <p:cNvPr id="27" name="Text 20"/>
            <p:cNvSpPr/>
            <p:nvPr/>
          </p:nvSpPr>
          <p:spPr>
            <a:xfrm>
              <a:off x="1069848" y="3235051"/>
              <a:ext cx="3474720" cy="228600"/>
            </a:xfrm>
            <a:prstGeom prst="rect">
              <a:avLst/>
            </a:prstGeom>
            <a:noFill/>
            <a:ln/>
          </p:spPr>
          <p:txBody>
            <a:bodyPr wrap="square" lIns="0" tIns="0" rIns="0" bIns="0" rtlCol="0" anchor="ctr"/>
            <a:lstStyle/>
            <a:p>
              <a:pPr marL="0" indent="0">
                <a:buNone/>
              </a:pPr>
              <a:r>
                <a:rPr lang="en-US" sz="1200" b="1">
                  <a:solidFill>
                    <a:srgbClr val="1A1A1A"/>
                  </a:solidFill>
                  <a:latin typeface="Calibri" pitchFamily="34" charset="0"/>
                  <a:ea typeface="Calibri" pitchFamily="34" charset="-122"/>
                  <a:cs typeface="Calibri" pitchFamily="34" charset="-120"/>
                </a:rPr>
                <a:t>Intelerad acquisition close</a:t>
              </a:r>
              <a:endParaRPr lang="en-US" sz="1200"/>
            </a:p>
          </p:txBody>
        </p:sp>
        <p:sp>
          <p:nvSpPr>
            <p:cNvPr id="28" name="Shape 21"/>
            <p:cNvSpPr/>
            <p:nvPr/>
          </p:nvSpPr>
          <p:spPr>
            <a:xfrm>
              <a:off x="1069848" y="3481939"/>
              <a:ext cx="1394460" cy="182880"/>
            </a:xfrm>
            <a:prstGeom prst="roundRect">
              <a:avLst>
                <a:gd name="adj" fmla="val 25000"/>
              </a:avLst>
            </a:prstGeom>
            <a:solidFill>
              <a:srgbClr val="F4F2EE"/>
            </a:solidFill>
            <a:ln/>
          </p:spPr>
          <p:txBody>
            <a:bodyPr/>
            <a:lstStyle/>
            <a:p>
              <a:endParaRPr lang="en-GB"/>
            </a:p>
          </p:txBody>
        </p:sp>
        <p:sp>
          <p:nvSpPr>
            <p:cNvPr id="29" name="Text 22"/>
            <p:cNvSpPr/>
            <p:nvPr/>
          </p:nvSpPr>
          <p:spPr>
            <a:xfrm>
              <a:off x="1069848" y="3472795"/>
              <a:ext cx="1394460" cy="201168"/>
            </a:xfrm>
            <a:prstGeom prst="rect">
              <a:avLst/>
            </a:prstGeom>
            <a:noFill/>
            <a:ln/>
          </p:spPr>
          <p:txBody>
            <a:bodyPr wrap="square" lIns="0" tIns="0" rIns="0" bIns="0" rtlCol="0" anchor="ctr"/>
            <a:lstStyle/>
            <a:p>
              <a:pPr marL="0" indent="0" algn="ctr">
                <a:buNone/>
              </a:pPr>
              <a:r>
                <a:rPr lang="en-US" sz="850">
                  <a:solidFill>
                    <a:srgbClr val="595550"/>
                  </a:solidFill>
                  <a:latin typeface="Calibri" pitchFamily="34" charset="0"/>
                  <a:ea typeface="Calibri" pitchFamily="34" charset="-122"/>
                  <a:cs typeface="Calibri" pitchFamily="34" charset="-120"/>
                </a:rPr>
                <a:t>H1 2026 (pending)</a:t>
              </a:r>
              <a:endParaRPr lang="en-US" sz="850"/>
            </a:p>
          </p:txBody>
        </p:sp>
        <p:sp>
          <p:nvSpPr>
            <p:cNvPr id="30" name="Text 23"/>
            <p:cNvSpPr/>
            <p:nvPr/>
          </p:nvSpPr>
          <p:spPr>
            <a:xfrm>
              <a:off x="1069848" y="3710539"/>
              <a:ext cx="3474720" cy="576072"/>
            </a:xfrm>
            <a:prstGeom prst="rect">
              <a:avLst/>
            </a:prstGeom>
            <a:noFill/>
            <a:ln/>
          </p:spPr>
          <p:txBody>
            <a:bodyPr wrap="square" lIns="0" tIns="0" rIns="0" bIns="0" rtlCol="0" anchor="ctr"/>
            <a:lstStyle/>
            <a:p>
              <a:pPr marL="0" indent="0">
                <a:lnSpc>
                  <a:spcPct val="115000"/>
                </a:lnSpc>
                <a:buNone/>
              </a:pPr>
              <a:r>
                <a:rPr lang="en-US" sz="900" dirty="0" err="1">
                  <a:latin typeface="Calibri" pitchFamily="34" charset="0"/>
                  <a:ea typeface="Calibri" pitchFamily="34" charset="-122"/>
                  <a:cs typeface="Calibri" pitchFamily="34" charset="-120"/>
                </a:rPr>
                <a:t>Intelerad</a:t>
              </a:r>
              <a:r>
                <a:rPr lang="en-US" sz="900" dirty="0">
                  <a:latin typeface="Calibri" pitchFamily="34" charset="0"/>
                  <a:ea typeface="Calibri" pitchFamily="34" charset="-122"/>
                  <a:cs typeface="Calibri" pitchFamily="34" charset="-120"/>
                </a:rPr>
                <a:t> is a cloud-native enterprise imaging platform worth $2.3bn. It adds recurring subscription revenue sitting on the existing installed base, and unlocks a re-rating to software multiples not yet priced in</a:t>
              </a:r>
              <a:r>
                <a:rPr lang="en-US" sz="850" dirty="0">
                  <a:solidFill>
                    <a:srgbClr val="595550"/>
                  </a:solidFill>
                  <a:latin typeface="Calibri" pitchFamily="34" charset="0"/>
                  <a:ea typeface="Calibri" pitchFamily="34" charset="-122"/>
                  <a:cs typeface="Calibri" pitchFamily="34" charset="-120"/>
                </a:rPr>
                <a:t>.</a:t>
              </a:r>
              <a:endParaRPr lang="en-US" sz="850" dirty="0"/>
            </a:p>
          </p:txBody>
        </p:sp>
        <p:sp>
          <p:nvSpPr>
            <p:cNvPr id="31" name="Shape 24"/>
            <p:cNvSpPr/>
            <p:nvPr/>
          </p:nvSpPr>
          <p:spPr>
            <a:xfrm>
              <a:off x="612648" y="4295755"/>
              <a:ext cx="3931920" cy="0"/>
            </a:xfrm>
            <a:prstGeom prst="line">
              <a:avLst/>
            </a:prstGeom>
            <a:noFill/>
            <a:ln w="6350">
              <a:solidFill>
                <a:srgbClr val="DDD9D2"/>
              </a:solidFill>
              <a:prstDash val="solid"/>
            </a:ln>
          </p:spPr>
          <p:txBody>
            <a:bodyPr/>
            <a:lstStyle/>
            <a:p>
              <a:endParaRPr lang="en-GB"/>
            </a:p>
          </p:txBody>
        </p:sp>
        <p:sp>
          <p:nvSpPr>
            <p:cNvPr id="32" name="Shape 25"/>
            <p:cNvSpPr/>
            <p:nvPr/>
          </p:nvSpPr>
          <p:spPr>
            <a:xfrm>
              <a:off x="612648" y="4332331"/>
              <a:ext cx="329184" cy="329184"/>
            </a:xfrm>
            <a:prstGeom prst="ellipse">
              <a:avLst/>
            </a:prstGeom>
            <a:solidFill>
              <a:srgbClr val="E6F0EC"/>
            </a:solidFill>
            <a:ln/>
          </p:spPr>
          <p:txBody>
            <a:bodyPr/>
            <a:lstStyle/>
            <a:p>
              <a:endParaRPr lang="en-GB"/>
            </a:p>
          </p:txBody>
        </p:sp>
        <p:pic>
          <p:nvPicPr>
            <p:cNvPr id="33" name="Image 5" descr="preencoded.png"/>
            <p:cNvPicPr>
              <a:picLocks noChangeAspect="1"/>
            </p:cNvPicPr>
            <p:nvPr/>
          </p:nvPicPr>
          <p:blipFill>
            <a:blip r:embed="rId8"/>
            <a:stretch>
              <a:fillRect/>
            </a:stretch>
          </p:blipFill>
          <p:spPr>
            <a:xfrm>
              <a:off x="694944" y="4414627"/>
              <a:ext cx="164592" cy="164592"/>
            </a:xfrm>
            <a:prstGeom prst="rect">
              <a:avLst/>
            </a:prstGeom>
          </p:spPr>
        </p:pic>
        <p:sp>
          <p:nvSpPr>
            <p:cNvPr id="34" name="Text 26"/>
            <p:cNvSpPr/>
            <p:nvPr/>
          </p:nvSpPr>
          <p:spPr>
            <a:xfrm>
              <a:off x="1069848" y="4314043"/>
              <a:ext cx="3474720" cy="228600"/>
            </a:xfrm>
            <a:prstGeom prst="rect">
              <a:avLst/>
            </a:prstGeom>
            <a:noFill/>
            <a:ln/>
          </p:spPr>
          <p:txBody>
            <a:bodyPr wrap="square" lIns="0" tIns="0" rIns="0" bIns="0" rtlCol="0" anchor="ctr"/>
            <a:lstStyle/>
            <a:p>
              <a:pPr marL="0" indent="0">
                <a:buNone/>
              </a:pPr>
              <a:r>
                <a:rPr lang="en-US" sz="1200" b="1">
                  <a:solidFill>
                    <a:srgbClr val="1A1A1A"/>
                  </a:solidFill>
                  <a:latin typeface="Calibri" pitchFamily="34" charset="0"/>
                  <a:ea typeface="Calibri" pitchFamily="34" charset="-122"/>
                  <a:cs typeface="Calibri" pitchFamily="34" charset="-120"/>
                </a:rPr>
                <a:t>China working capital release</a:t>
              </a:r>
              <a:endParaRPr lang="en-US" sz="1200"/>
            </a:p>
          </p:txBody>
        </p:sp>
        <p:sp>
          <p:nvSpPr>
            <p:cNvPr id="35" name="Shape 27"/>
            <p:cNvSpPr/>
            <p:nvPr/>
          </p:nvSpPr>
          <p:spPr>
            <a:xfrm>
              <a:off x="1069848" y="4560931"/>
              <a:ext cx="1051560" cy="182880"/>
            </a:xfrm>
            <a:prstGeom prst="roundRect">
              <a:avLst>
                <a:gd name="adj" fmla="val 25000"/>
              </a:avLst>
            </a:prstGeom>
            <a:solidFill>
              <a:srgbClr val="F4F2EE"/>
            </a:solidFill>
            <a:ln/>
          </p:spPr>
          <p:txBody>
            <a:bodyPr/>
            <a:lstStyle/>
            <a:p>
              <a:endParaRPr lang="en-GB"/>
            </a:p>
          </p:txBody>
        </p:sp>
        <p:sp>
          <p:nvSpPr>
            <p:cNvPr id="36" name="Text 28"/>
            <p:cNvSpPr/>
            <p:nvPr/>
          </p:nvSpPr>
          <p:spPr>
            <a:xfrm>
              <a:off x="1069848" y="4551787"/>
              <a:ext cx="1051560" cy="201168"/>
            </a:xfrm>
            <a:prstGeom prst="rect">
              <a:avLst/>
            </a:prstGeom>
            <a:noFill/>
            <a:ln/>
          </p:spPr>
          <p:txBody>
            <a:bodyPr wrap="square" lIns="0" tIns="0" rIns="0" bIns="0" rtlCol="0" anchor="ctr"/>
            <a:lstStyle/>
            <a:p>
              <a:pPr marL="0" indent="0" algn="ctr">
                <a:buNone/>
              </a:pPr>
              <a:r>
                <a:rPr lang="en-US" sz="850">
                  <a:solidFill>
                    <a:srgbClr val="595550"/>
                  </a:solidFill>
                  <a:latin typeface="Calibri" pitchFamily="34" charset="0"/>
                  <a:ea typeface="Calibri" pitchFamily="34" charset="-122"/>
                  <a:cs typeface="Calibri" pitchFamily="34" charset="-120"/>
                </a:rPr>
                <a:t>18–24 months</a:t>
              </a:r>
              <a:endParaRPr lang="en-US" sz="850"/>
            </a:p>
          </p:txBody>
        </p:sp>
        <p:sp>
          <p:nvSpPr>
            <p:cNvPr id="37" name="Text 29"/>
            <p:cNvSpPr/>
            <p:nvPr/>
          </p:nvSpPr>
          <p:spPr>
            <a:xfrm>
              <a:off x="1069848" y="4789531"/>
              <a:ext cx="3474720" cy="576072"/>
            </a:xfrm>
            <a:prstGeom prst="rect">
              <a:avLst/>
            </a:prstGeom>
            <a:noFill/>
            <a:ln/>
          </p:spPr>
          <p:txBody>
            <a:bodyPr wrap="square" lIns="0" tIns="0" rIns="0" bIns="0" rtlCol="0" anchor="ctr"/>
            <a:lstStyle/>
            <a:p>
              <a:pPr marL="0" indent="0">
                <a:lnSpc>
                  <a:spcPct val="115000"/>
                </a:lnSpc>
                <a:buNone/>
              </a:pPr>
              <a:r>
                <a:rPr lang="en-US" sz="900">
                  <a:latin typeface="Calibri" pitchFamily="34" charset="0"/>
                  <a:ea typeface="Calibri" pitchFamily="34" charset="-122"/>
                  <a:cs typeface="Calibri" pitchFamily="34" charset="-120"/>
                </a:rPr>
                <a:t>No active intervention required — the estimated $400–500M will release in its own time via state capital injection. With Absolute receivables no longer expanding, counter-cyclical cash flow ensures collections outpace new invoices, producing a net positive working capital change</a:t>
              </a:r>
              <a:r>
                <a:rPr lang="en-US" sz="850">
                  <a:solidFill>
                    <a:srgbClr val="595550"/>
                  </a:solidFill>
                  <a:latin typeface="Calibri" pitchFamily="34" charset="0"/>
                  <a:ea typeface="Calibri" pitchFamily="34" charset="-122"/>
                  <a:cs typeface="Calibri" pitchFamily="34" charset="-120"/>
                </a:rPr>
                <a:t>.</a:t>
              </a:r>
              <a:endParaRPr lang="en-US" sz="850"/>
            </a:p>
          </p:txBody>
        </p:sp>
        <p:sp>
          <p:nvSpPr>
            <p:cNvPr id="38" name="Shape 30"/>
            <p:cNvSpPr/>
            <p:nvPr/>
          </p:nvSpPr>
          <p:spPr>
            <a:xfrm>
              <a:off x="612648" y="5374747"/>
              <a:ext cx="3931920" cy="0"/>
            </a:xfrm>
            <a:prstGeom prst="line">
              <a:avLst/>
            </a:prstGeom>
            <a:noFill/>
            <a:ln w="6350">
              <a:solidFill>
                <a:srgbClr val="DDD9D2"/>
              </a:solidFill>
              <a:prstDash val="solid"/>
            </a:ln>
          </p:spPr>
          <p:txBody>
            <a:bodyPr/>
            <a:lstStyle/>
            <a:p>
              <a:endParaRPr lang="en-GB"/>
            </a:p>
          </p:txBody>
        </p:sp>
        <p:sp>
          <p:nvSpPr>
            <p:cNvPr id="39" name="Shape 31"/>
            <p:cNvSpPr/>
            <p:nvPr/>
          </p:nvSpPr>
          <p:spPr>
            <a:xfrm>
              <a:off x="612648" y="5411323"/>
              <a:ext cx="329184" cy="329184"/>
            </a:xfrm>
            <a:prstGeom prst="ellipse">
              <a:avLst/>
            </a:prstGeom>
            <a:solidFill>
              <a:srgbClr val="E6F0EC"/>
            </a:solidFill>
            <a:ln/>
          </p:spPr>
          <p:txBody>
            <a:bodyPr/>
            <a:lstStyle/>
            <a:p>
              <a:endParaRPr lang="en-GB"/>
            </a:p>
          </p:txBody>
        </p:sp>
        <p:pic>
          <p:nvPicPr>
            <p:cNvPr id="40" name="Image 6" descr="preencoded.png"/>
            <p:cNvPicPr>
              <a:picLocks noChangeAspect="1"/>
            </p:cNvPicPr>
            <p:nvPr/>
          </p:nvPicPr>
          <p:blipFill>
            <a:blip r:embed="rId9"/>
            <a:stretch>
              <a:fillRect/>
            </a:stretch>
          </p:blipFill>
          <p:spPr>
            <a:xfrm>
              <a:off x="694944" y="5493619"/>
              <a:ext cx="164592" cy="164592"/>
            </a:xfrm>
            <a:prstGeom prst="rect">
              <a:avLst/>
            </a:prstGeom>
          </p:spPr>
        </p:pic>
        <p:sp>
          <p:nvSpPr>
            <p:cNvPr id="41" name="Text 32"/>
            <p:cNvSpPr/>
            <p:nvPr/>
          </p:nvSpPr>
          <p:spPr>
            <a:xfrm>
              <a:off x="1069848" y="5393035"/>
              <a:ext cx="3474720" cy="228600"/>
            </a:xfrm>
            <a:prstGeom prst="rect">
              <a:avLst/>
            </a:prstGeom>
            <a:noFill/>
            <a:ln/>
          </p:spPr>
          <p:txBody>
            <a:bodyPr wrap="square" lIns="0" tIns="0" rIns="0" bIns="0" rtlCol="0" anchor="ctr"/>
            <a:lstStyle/>
            <a:p>
              <a:pPr marL="0" indent="0">
                <a:buNone/>
              </a:pPr>
              <a:r>
                <a:rPr lang="en-US" sz="1200" b="1">
                  <a:solidFill>
                    <a:srgbClr val="1A1A1A"/>
                  </a:solidFill>
                  <a:latin typeface="Calibri" pitchFamily="34" charset="0"/>
                  <a:ea typeface="Calibri" pitchFamily="34" charset="-122"/>
                  <a:cs typeface="Calibri" pitchFamily="34" charset="-120"/>
                </a:rPr>
                <a:t>Flyrcado cardiac PET rollout</a:t>
              </a:r>
              <a:endParaRPr lang="en-US" sz="1200"/>
            </a:p>
          </p:txBody>
        </p:sp>
        <p:sp>
          <p:nvSpPr>
            <p:cNvPr id="42" name="Shape 33"/>
            <p:cNvSpPr/>
            <p:nvPr/>
          </p:nvSpPr>
          <p:spPr>
            <a:xfrm>
              <a:off x="1069848" y="5639923"/>
              <a:ext cx="2011680" cy="182880"/>
            </a:xfrm>
            <a:prstGeom prst="roundRect">
              <a:avLst>
                <a:gd name="adj" fmla="val 25000"/>
              </a:avLst>
            </a:prstGeom>
            <a:solidFill>
              <a:srgbClr val="F4F2EE"/>
            </a:solidFill>
            <a:ln/>
          </p:spPr>
          <p:txBody>
            <a:bodyPr/>
            <a:lstStyle/>
            <a:p>
              <a:endParaRPr lang="en-GB"/>
            </a:p>
          </p:txBody>
        </p:sp>
        <p:sp>
          <p:nvSpPr>
            <p:cNvPr id="43" name="Text 34"/>
            <p:cNvSpPr/>
            <p:nvPr/>
          </p:nvSpPr>
          <p:spPr>
            <a:xfrm>
              <a:off x="1069848" y="5630779"/>
              <a:ext cx="2011680" cy="201168"/>
            </a:xfrm>
            <a:prstGeom prst="rect">
              <a:avLst/>
            </a:prstGeom>
            <a:noFill/>
            <a:ln/>
          </p:spPr>
          <p:txBody>
            <a:bodyPr wrap="square" lIns="0" tIns="0" rIns="0" bIns="0" rtlCol="0" anchor="ctr"/>
            <a:lstStyle/>
            <a:p>
              <a:pPr marL="0" indent="0" algn="ctr">
                <a:buNone/>
              </a:pPr>
              <a:r>
                <a:rPr lang="en-US" sz="850" dirty="0">
                  <a:solidFill>
                    <a:srgbClr val="595550"/>
                  </a:solidFill>
                  <a:latin typeface="Calibri" pitchFamily="34" charset="0"/>
                  <a:ea typeface="Calibri" pitchFamily="34" charset="-122"/>
                  <a:cs typeface="Calibri" pitchFamily="34" charset="-120"/>
                </a:rPr>
                <a:t>Now entering commercial scale</a:t>
              </a:r>
              <a:endParaRPr lang="en-US" sz="850" dirty="0"/>
            </a:p>
          </p:txBody>
        </p:sp>
        <p:sp>
          <p:nvSpPr>
            <p:cNvPr id="44" name="Text 35"/>
            <p:cNvSpPr/>
            <p:nvPr/>
          </p:nvSpPr>
          <p:spPr>
            <a:xfrm>
              <a:off x="1069848" y="5868522"/>
              <a:ext cx="3474720" cy="772909"/>
            </a:xfrm>
            <a:prstGeom prst="rect">
              <a:avLst/>
            </a:prstGeom>
            <a:noFill/>
            <a:ln/>
          </p:spPr>
          <p:txBody>
            <a:bodyPr wrap="square" lIns="0" tIns="0" rIns="0" bIns="0" rtlCol="0" anchor="ctr"/>
            <a:lstStyle/>
            <a:p>
              <a:pPr marL="0" indent="0">
                <a:lnSpc>
                  <a:spcPct val="115000"/>
                </a:lnSpc>
                <a:buNone/>
              </a:pPr>
              <a:r>
                <a:rPr lang="en-US" sz="900">
                  <a:latin typeface="Calibri" pitchFamily="34" charset="0"/>
                  <a:ea typeface="Calibri" pitchFamily="34" charset="-122"/>
                  <a:cs typeface="Calibri" pitchFamily="34" charset="-120"/>
                </a:rPr>
                <a:t>A myocardial perfusion imaging agent with superior image quality versus nuclear stress tests. The FDA has approved clinical trials, and data suggests it is increasingly preferred for diagnosing coronary artery disease. Enters a fast-growing clinical category with strong reimbursement pathways. Adds recurring </a:t>
              </a:r>
              <a:r>
                <a:rPr lang="en-US" sz="900" err="1">
                  <a:latin typeface="Calibri" pitchFamily="34" charset="0"/>
                  <a:ea typeface="Calibri" pitchFamily="34" charset="-122"/>
                  <a:cs typeface="Calibri" pitchFamily="34" charset="-120"/>
                </a:rPr>
                <a:t>PDx</a:t>
              </a:r>
              <a:r>
                <a:rPr lang="en-US" sz="900">
                  <a:latin typeface="Calibri" pitchFamily="34" charset="0"/>
                  <a:ea typeface="Calibri" pitchFamily="34" charset="-122"/>
                  <a:cs typeface="Calibri" pitchFamily="34" charset="-120"/>
                </a:rPr>
                <a:t> revenue at 30% margins</a:t>
              </a:r>
              <a:r>
                <a:rPr lang="en-US" sz="850">
                  <a:solidFill>
                    <a:srgbClr val="595550"/>
                  </a:solidFill>
                  <a:latin typeface="Calibri" pitchFamily="34" charset="0"/>
                  <a:ea typeface="Calibri" pitchFamily="34" charset="-122"/>
                  <a:cs typeface="Calibri" pitchFamily="34" charset="-120"/>
                </a:rPr>
                <a:t>.</a:t>
              </a:r>
              <a:endParaRPr lang="en-US" sz="850"/>
            </a:p>
          </p:txBody>
        </p:sp>
      </p:grpSp>
      <p:grpSp>
        <p:nvGrpSpPr>
          <p:cNvPr id="84" name="Group 83">
            <a:extLst>
              <a:ext uri="{FF2B5EF4-FFF2-40B4-BE49-F238E27FC236}">
                <a16:creationId xmlns:a16="http://schemas.microsoft.com/office/drawing/2014/main" id="{704BA78A-08D3-CFCA-E6C4-62A9B212D107}"/>
              </a:ext>
            </a:extLst>
          </p:cNvPr>
          <p:cNvGrpSpPr/>
          <p:nvPr/>
        </p:nvGrpSpPr>
        <p:grpSpPr>
          <a:xfrm>
            <a:off x="6847475" y="1029032"/>
            <a:ext cx="4224528" cy="5399532"/>
            <a:chOff x="4434840" y="1417320"/>
            <a:chExt cx="4224528" cy="5399532"/>
          </a:xfrm>
        </p:grpSpPr>
        <p:sp>
          <p:nvSpPr>
            <p:cNvPr id="45" name="Shape 36"/>
            <p:cNvSpPr/>
            <p:nvPr/>
          </p:nvSpPr>
          <p:spPr>
            <a:xfrm>
              <a:off x="4434840" y="1417320"/>
              <a:ext cx="658368" cy="198853"/>
            </a:xfrm>
            <a:prstGeom prst="roundRect">
              <a:avLst>
                <a:gd name="adj" fmla="val 13636"/>
              </a:avLst>
            </a:prstGeom>
            <a:solidFill>
              <a:srgbClr val="F8E5E5"/>
            </a:solidFill>
            <a:ln/>
          </p:spPr>
          <p:txBody>
            <a:bodyPr/>
            <a:lstStyle/>
            <a:p>
              <a:endParaRPr lang="en-GB"/>
            </a:p>
          </p:txBody>
        </p:sp>
        <p:sp>
          <p:nvSpPr>
            <p:cNvPr id="46" name="Text 37"/>
            <p:cNvSpPr/>
            <p:nvPr/>
          </p:nvSpPr>
          <p:spPr>
            <a:xfrm>
              <a:off x="4434840" y="1417320"/>
              <a:ext cx="658368" cy="198853"/>
            </a:xfrm>
            <a:prstGeom prst="rect">
              <a:avLst/>
            </a:prstGeom>
            <a:noFill/>
            <a:ln/>
          </p:spPr>
          <p:txBody>
            <a:bodyPr wrap="square" lIns="0" tIns="0" rIns="0" bIns="0" rtlCol="0" anchor="ctr"/>
            <a:lstStyle/>
            <a:p>
              <a:pPr marL="0" indent="0" algn="ctr">
                <a:buNone/>
              </a:pPr>
              <a:r>
                <a:rPr lang="en-US" sz="800" b="1" kern="0" spc="150" dirty="0">
                  <a:solidFill>
                    <a:srgbClr val="9B2226"/>
                  </a:solidFill>
                  <a:latin typeface="Calibri" pitchFamily="34" charset="0"/>
                  <a:ea typeface="Calibri" pitchFamily="34" charset="-122"/>
                  <a:cs typeface="Calibri" pitchFamily="34" charset="-120"/>
                </a:rPr>
                <a:t>HIGH</a:t>
              </a:r>
              <a:endParaRPr lang="en-US" sz="800" dirty="0"/>
            </a:p>
          </p:txBody>
        </p:sp>
        <p:pic>
          <p:nvPicPr>
            <p:cNvPr id="47" name="Image 7" descr="preencoded.png"/>
            <p:cNvPicPr>
              <a:picLocks noChangeAspect="1"/>
            </p:cNvPicPr>
            <p:nvPr/>
          </p:nvPicPr>
          <p:blipFill>
            <a:blip r:embed="rId10"/>
            <a:stretch>
              <a:fillRect/>
            </a:stretch>
          </p:blipFill>
          <p:spPr>
            <a:xfrm>
              <a:off x="5212080" y="1451774"/>
              <a:ext cx="155448" cy="155448"/>
            </a:xfrm>
            <a:prstGeom prst="rect">
              <a:avLst/>
            </a:prstGeom>
          </p:spPr>
        </p:pic>
        <p:sp>
          <p:nvSpPr>
            <p:cNvPr id="48" name="Text 38"/>
            <p:cNvSpPr/>
            <p:nvPr/>
          </p:nvSpPr>
          <p:spPr>
            <a:xfrm>
              <a:off x="5422392" y="1426464"/>
              <a:ext cx="3236976"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China is structural, not cyclical</a:t>
              </a:r>
              <a:endParaRPr lang="en-US" sz="1100" dirty="0"/>
            </a:p>
          </p:txBody>
        </p:sp>
        <p:sp>
          <p:nvSpPr>
            <p:cNvPr id="49" name="Text 39"/>
            <p:cNvSpPr/>
            <p:nvPr/>
          </p:nvSpPr>
          <p:spPr>
            <a:xfrm>
              <a:off x="4434840" y="1691640"/>
              <a:ext cx="4023360" cy="457200"/>
            </a:xfrm>
            <a:prstGeom prst="rect">
              <a:avLst/>
            </a:prstGeom>
            <a:noFill/>
            <a:ln/>
          </p:spPr>
          <p:txBody>
            <a:bodyPr wrap="square" lIns="0" tIns="0" rIns="0" bIns="0" rtlCol="0" anchor="ctr"/>
            <a:lstStyle/>
            <a:p>
              <a:pPr marL="0" indent="0">
                <a:lnSpc>
                  <a:spcPct val="115000"/>
                </a:lnSpc>
                <a:buNone/>
              </a:pPr>
              <a:r>
                <a:rPr lang="en-US" sz="850" dirty="0">
                  <a:solidFill>
                    <a:srgbClr val="595550"/>
                  </a:solidFill>
                  <a:latin typeface="Calibri" pitchFamily="34" charset="0"/>
                  <a:ea typeface="Calibri" pitchFamily="34" charset="-122"/>
                  <a:cs typeface="Calibri" pitchFamily="34" charset="-120"/>
                </a:rPr>
                <a:t>Three consecutive years of decline. Mindray and United Imaging gaining share. Government policy </a:t>
              </a:r>
              <a:r>
                <a:rPr lang="en-US" sz="850" dirty="0" err="1">
                  <a:solidFill>
                    <a:srgbClr val="595550"/>
                  </a:solidFill>
                  <a:latin typeface="Calibri" pitchFamily="34" charset="0"/>
                  <a:ea typeface="Calibri" pitchFamily="34" charset="-122"/>
                  <a:cs typeface="Calibri" pitchFamily="34" charset="-120"/>
                </a:rPr>
                <a:t>favouring</a:t>
              </a:r>
              <a:r>
                <a:rPr lang="en-US" sz="850" dirty="0">
                  <a:solidFill>
                    <a:srgbClr val="595550"/>
                  </a:solidFill>
                  <a:latin typeface="Calibri" pitchFamily="34" charset="0"/>
                  <a:ea typeface="Calibri" pitchFamily="34" charset="-122"/>
                  <a:cs typeface="Calibri" pitchFamily="34" charset="-120"/>
                </a:rPr>
                <a:t> domestic suppliers.</a:t>
              </a:r>
              <a:endParaRPr lang="en-US" sz="850" dirty="0"/>
            </a:p>
          </p:txBody>
        </p:sp>
        <p:pic>
          <p:nvPicPr>
            <p:cNvPr id="50" name="Image 8" descr="preencoded.png"/>
            <p:cNvPicPr>
              <a:picLocks noChangeAspect="1"/>
            </p:cNvPicPr>
            <p:nvPr/>
          </p:nvPicPr>
          <p:blipFill>
            <a:blip r:embed="rId11"/>
            <a:stretch>
              <a:fillRect/>
            </a:stretch>
          </p:blipFill>
          <p:spPr>
            <a:xfrm>
              <a:off x="4434840" y="2185416"/>
              <a:ext cx="137160" cy="137160"/>
            </a:xfrm>
            <a:prstGeom prst="rect">
              <a:avLst/>
            </a:prstGeom>
          </p:spPr>
        </p:pic>
        <p:sp>
          <p:nvSpPr>
            <p:cNvPr id="51" name="Text 40"/>
            <p:cNvSpPr/>
            <p:nvPr/>
          </p:nvSpPr>
          <p:spPr>
            <a:xfrm>
              <a:off x="4617720" y="2176272"/>
              <a:ext cx="1371600" cy="182880"/>
            </a:xfrm>
            <a:prstGeom prst="rect">
              <a:avLst/>
            </a:prstGeom>
            <a:noFill/>
            <a:ln/>
          </p:spPr>
          <p:txBody>
            <a:bodyPr wrap="square" lIns="0" tIns="0" rIns="0" bIns="0" rtlCol="0" anchor="ctr"/>
            <a:lstStyle/>
            <a:p>
              <a:pPr marL="0" indent="0">
                <a:buNone/>
              </a:pPr>
              <a:r>
                <a:rPr lang="en-US" sz="850" b="1" kern="0" spc="300">
                  <a:solidFill>
                    <a:srgbClr val="2D6A4F"/>
                  </a:solidFill>
                  <a:latin typeface="Calibri" pitchFamily="34" charset="0"/>
                  <a:ea typeface="Calibri" pitchFamily="34" charset="-122"/>
                  <a:cs typeface="Calibri" pitchFamily="34" charset="-120"/>
                </a:rPr>
                <a:t>MITIGANT</a:t>
              </a:r>
              <a:endParaRPr lang="en-US" sz="850"/>
            </a:p>
          </p:txBody>
        </p:sp>
        <p:sp>
          <p:nvSpPr>
            <p:cNvPr id="52" name="Text 41"/>
            <p:cNvSpPr/>
            <p:nvPr/>
          </p:nvSpPr>
          <p:spPr>
            <a:xfrm>
              <a:off x="4434840" y="2359152"/>
              <a:ext cx="4023360" cy="411480"/>
            </a:xfrm>
            <a:prstGeom prst="rect">
              <a:avLst/>
            </a:prstGeom>
            <a:noFill/>
            <a:ln/>
          </p:spPr>
          <p:txBody>
            <a:bodyPr wrap="square" lIns="0" tIns="0" rIns="0" bIns="0" rtlCol="0" anchor="ctr"/>
            <a:lstStyle/>
            <a:p>
              <a:pPr marL="0" indent="0">
                <a:lnSpc>
                  <a:spcPct val="115000"/>
                </a:lnSpc>
                <a:buNone/>
              </a:pPr>
              <a:r>
                <a:rPr lang="en-US" sz="850">
                  <a:solidFill>
                    <a:srgbClr val="595550"/>
                  </a:solidFill>
                  <a:latin typeface="Calibri" pitchFamily="34" charset="0"/>
                  <a:ea typeface="Calibri" pitchFamily="34" charset="-122"/>
                  <a:cs typeface="Calibri" pitchFamily="34" charset="-120"/>
                </a:rPr>
                <a:t>China self-corrects to ~10% of revenue — the drag shrinks proportionally. </a:t>
              </a:r>
              <a:r>
                <a:rPr lang="en-US" sz="850" err="1">
                  <a:solidFill>
                    <a:srgbClr val="595550"/>
                  </a:solidFill>
                  <a:latin typeface="Calibri" pitchFamily="34" charset="0"/>
                  <a:ea typeface="Calibri" pitchFamily="34" charset="-122"/>
                  <a:cs typeface="Calibri" pitchFamily="34" charset="-120"/>
                </a:rPr>
                <a:t>RoW</a:t>
              </a:r>
              <a:r>
                <a:rPr lang="en-US" sz="850">
                  <a:solidFill>
                    <a:srgbClr val="595550"/>
                  </a:solidFill>
                  <a:latin typeface="Calibri" pitchFamily="34" charset="0"/>
                  <a:ea typeface="Calibri" pitchFamily="34" charset="-122"/>
                  <a:cs typeface="Calibri" pitchFamily="34" charset="-120"/>
                </a:rPr>
                <a:t> is growing 14% FY22–25, more than offsetting China's $0.5bn loss.</a:t>
              </a:r>
              <a:endParaRPr lang="en-US" sz="850"/>
            </a:p>
          </p:txBody>
        </p:sp>
        <p:sp>
          <p:nvSpPr>
            <p:cNvPr id="53" name="Shape 42"/>
            <p:cNvSpPr/>
            <p:nvPr/>
          </p:nvSpPr>
          <p:spPr>
            <a:xfrm>
              <a:off x="4434840" y="2747772"/>
              <a:ext cx="4023360" cy="0"/>
            </a:xfrm>
            <a:prstGeom prst="line">
              <a:avLst/>
            </a:prstGeom>
            <a:noFill/>
            <a:ln w="6350">
              <a:solidFill>
                <a:srgbClr val="DDD9D2"/>
              </a:solidFill>
              <a:prstDash val="solid"/>
            </a:ln>
          </p:spPr>
          <p:txBody>
            <a:bodyPr/>
            <a:lstStyle/>
            <a:p>
              <a:endParaRPr lang="en-GB"/>
            </a:p>
          </p:txBody>
        </p:sp>
        <p:sp>
          <p:nvSpPr>
            <p:cNvPr id="54" name="Shape 43"/>
            <p:cNvSpPr/>
            <p:nvPr/>
          </p:nvSpPr>
          <p:spPr>
            <a:xfrm>
              <a:off x="4434840" y="2766060"/>
              <a:ext cx="658368" cy="201168"/>
            </a:xfrm>
            <a:prstGeom prst="roundRect">
              <a:avLst>
                <a:gd name="adj" fmla="val 13636"/>
              </a:avLst>
            </a:prstGeom>
            <a:solidFill>
              <a:srgbClr val="F7EBD3"/>
            </a:solidFill>
            <a:ln/>
          </p:spPr>
          <p:txBody>
            <a:bodyPr/>
            <a:lstStyle/>
            <a:p>
              <a:endParaRPr lang="en-GB"/>
            </a:p>
          </p:txBody>
        </p:sp>
        <p:sp>
          <p:nvSpPr>
            <p:cNvPr id="55" name="Text 44"/>
            <p:cNvSpPr/>
            <p:nvPr/>
          </p:nvSpPr>
          <p:spPr>
            <a:xfrm>
              <a:off x="4434840" y="2766060"/>
              <a:ext cx="658368" cy="201168"/>
            </a:xfrm>
            <a:prstGeom prst="rect">
              <a:avLst/>
            </a:prstGeom>
            <a:noFill/>
            <a:ln/>
          </p:spPr>
          <p:txBody>
            <a:bodyPr wrap="square" lIns="0" tIns="0" rIns="0" bIns="0" rtlCol="0" anchor="ctr"/>
            <a:lstStyle/>
            <a:p>
              <a:pPr marL="0" indent="0" algn="ctr">
                <a:buNone/>
              </a:pPr>
              <a:r>
                <a:rPr lang="en-US" sz="800" b="1" kern="0" spc="150">
                  <a:solidFill>
                    <a:srgbClr val="92651A"/>
                  </a:solidFill>
                  <a:latin typeface="Calibri" pitchFamily="34" charset="0"/>
                  <a:ea typeface="Calibri" pitchFamily="34" charset="-122"/>
                  <a:cs typeface="Calibri" pitchFamily="34" charset="-120"/>
                </a:rPr>
                <a:t>MEDIUM</a:t>
              </a:r>
              <a:endParaRPr lang="en-US" sz="800"/>
            </a:p>
          </p:txBody>
        </p:sp>
        <p:pic>
          <p:nvPicPr>
            <p:cNvPr id="56" name="Image 9" descr="preencoded.png"/>
            <p:cNvPicPr>
              <a:picLocks noChangeAspect="1"/>
            </p:cNvPicPr>
            <p:nvPr/>
          </p:nvPicPr>
          <p:blipFill>
            <a:blip r:embed="rId12"/>
            <a:stretch>
              <a:fillRect/>
            </a:stretch>
          </p:blipFill>
          <p:spPr>
            <a:xfrm>
              <a:off x="5212080" y="2788920"/>
              <a:ext cx="155448" cy="155448"/>
            </a:xfrm>
            <a:prstGeom prst="rect">
              <a:avLst/>
            </a:prstGeom>
          </p:spPr>
        </p:pic>
        <p:sp>
          <p:nvSpPr>
            <p:cNvPr id="57" name="Text 45"/>
            <p:cNvSpPr/>
            <p:nvPr/>
          </p:nvSpPr>
          <p:spPr>
            <a:xfrm>
              <a:off x="5422392" y="2766060"/>
              <a:ext cx="3035808" cy="228600"/>
            </a:xfrm>
            <a:prstGeom prst="rect">
              <a:avLst/>
            </a:prstGeom>
            <a:noFill/>
            <a:ln/>
          </p:spPr>
          <p:txBody>
            <a:bodyPr wrap="square" lIns="0" tIns="0" rIns="0" bIns="0" rtlCol="0" anchor="ctr"/>
            <a:lstStyle/>
            <a:p>
              <a:pPr marL="0" indent="0">
                <a:buNone/>
              </a:pPr>
              <a:r>
                <a:rPr lang="en-US" sz="1100" b="1">
                  <a:solidFill>
                    <a:srgbClr val="1A1A1A"/>
                  </a:solidFill>
                  <a:latin typeface="Calibri" pitchFamily="34" charset="0"/>
                  <a:ea typeface="Calibri" pitchFamily="34" charset="-122"/>
                  <a:cs typeface="Calibri" pitchFamily="34" charset="-120"/>
                </a:rPr>
                <a:t>Intelerad integration overextends balance sheet</a:t>
              </a:r>
              <a:endParaRPr lang="en-US" sz="1100"/>
            </a:p>
          </p:txBody>
        </p:sp>
        <p:sp>
          <p:nvSpPr>
            <p:cNvPr id="58" name="Text 46"/>
            <p:cNvSpPr/>
            <p:nvPr/>
          </p:nvSpPr>
          <p:spPr>
            <a:xfrm>
              <a:off x="4434840" y="3040380"/>
              <a:ext cx="4023360" cy="457200"/>
            </a:xfrm>
            <a:prstGeom prst="rect">
              <a:avLst/>
            </a:prstGeom>
            <a:noFill/>
            <a:ln/>
          </p:spPr>
          <p:txBody>
            <a:bodyPr wrap="square" lIns="0" tIns="0" rIns="0" bIns="0" rtlCol="0" anchor="ctr"/>
            <a:lstStyle/>
            <a:p>
              <a:pPr marL="0" indent="0">
                <a:lnSpc>
                  <a:spcPct val="115000"/>
                </a:lnSpc>
                <a:buNone/>
              </a:pPr>
              <a:r>
                <a:rPr lang="en-US" sz="850">
                  <a:solidFill>
                    <a:srgbClr val="595550"/>
                  </a:solidFill>
                  <a:latin typeface="Calibri" pitchFamily="34" charset="0"/>
                  <a:ea typeface="Calibri" pitchFamily="34" charset="-122"/>
                  <a:cs typeface="Calibri" pitchFamily="34" charset="-120"/>
                </a:rPr>
                <a:t>$2.3bn deal adds leverage on a business already carrying $10bn debt. Integration complexity and execution risk on a software-heavy acquisition.</a:t>
              </a:r>
              <a:endParaRPr lang="en-US" sz="850"/>
            </a:p>
          </p:txBody>
        </p:sp>
        <p:pic>
          <p:nvPicPr>
            <p:cNvPr id="59" name="Image 10" descr="preencoded.png"/>
            <p:cNvPicPr>
              <a:picLocks noChangeAspect="1"/>
            </p:cNvPicPr>
            <p:nvPr/>
          </p:nvPicPr>
          <p:blipFill>
            <a:blip r:embed="rId11"/>
            <a:stretch>
              <a:fillRect/>
            </a:stretch>
          </p:blipFill>
          <p:spPr>
            <a:xfrm>
              <a:off x="4434840" y="3534156"/>
              <a:ext cx="137160" cy="137160"/>
            </a:xfrm>
            <a:prstGeom prst="rect">
              <a:avLst/>
            </a:prstGeom>
          </p:spPr>
        </p:pic>
        <p:sp>
          <p:nvSpPr>
            <p:cNvPr id="60" name="Text 47"/>
            <p:cNvSpPr/>
            <p:nvPr/>
          </p:nvSpPr>
          <p:spPr>
            <a:xfrm>
              <a:off x="4617720" y="3525012"/>
              <a:ext cx="1371600" cy="182880"/>
            </a:xfrm>
            <a:prstGeom prst="rect">
              <a:avLst/>
            </a:prstGeom>
            <a:noFill/>
            <a:ln/>
          </p:spPr>
          <p:txBody>
            <a:bodyPr wrap="square" lIns="0" tIns="0" rIns="0" bIns="0" rtlCol="0" anchor="ctr"/>
            <a:lstStyle/>
            <a:p>
              <a:pPr marL="0" indent="0">
                <a:buNone/>
              </a:pPr>
              <a:r>
                <a:rPr lang="en-US" sz="850" b="1" kern="0" spc="300">
                  <a:solidFill>
                    <a:srgbClr val="2D6A4F"/>
                  </a:solidFill>
                  <a:latin typeface="Calibri" pitchFamily="34" charset="0"/>
                  <a:ea typeface="Calibri" pitchFamily="34" charset="-122"/>
                  <a:cs typeface="Calibri" pitchFamily="34" charset="-120"/>
                </a:rPr>
                <a:t>MITIGANT</a:t>
              </a:r>
              <a:endParaRPr lang="en-US" sz="850"/>
            </a:p>
          </p:txBody>
        </p:sp>
        <p:sp>
          <p:nvSpPr>
            <p:cNvPr id="61" name="Text 48"/>
            <p:cNvSpPr/>
            <p:nvPr/>
          </p:nvSpPr>
          <p:spPr>
            <a:xfrm>
              <a:off x="4434840" y="3707892"/>
              <a:ext cx="4023360" cy="411480"/>
            </a:xfrm>
            <a:prstGeom prst="rect">
              <a:avLst/>
            </a:prstGeom>
            <a:noFill/>
            <a:ln/>
          </p:spPr>
          <p:txBody>
            <a:bodyPr wrap="square" lIns="0" tIns="0" rIns="0" bIns="0" rtlCol="0" anchor="ctr"/>
            <a:lstStyle/>
            <a:p>
              <a:pPr marL="0" indent="0">
                <a:lnSpc>
                  <a:spcPct val="115000"/>
                </a:lnSpc>
                <a:buNone/>
              </a:pPr>
              <a:r>
                <a:rPr lang="en-US" sz="850">
                  <a:solidFill>
                    <a:srgbClr val="595550"/>
                  </a:solidFill>
                  <a:latin typeface="Calibri" pitchFamily="34" charset="0"/>
                  <a:ea typeface="Calibri" pitchFamily="34" charset="-122"/>
                  <a:cs typeface="Calibri" pitchFamily="34" charset="-120"/>
                </a:rPr>
                <a:t>$4.5bn cash, $3.5bn undrawn revolvers. Investment-grade credit. FCF pro-forma $2.0–2.1bn. Debt paydown capacity is material.</a:t>
              </a:r>
              <a:endParaRPr lang="en-US" sz="850"/>
            </a:p>
          </p:txBody>
        </p:sp>
        <p:sp>
          <p:nvSpPr>
            <p:cNvPr id="62" name="Shape 49"/>
            <p:cNvSpPr/>
            <p:nvPr/>
          </p:nvSpPr>
          <p:spPr>
            <a:xfrm>
              <a:off x="4434840" y="4096512"/>
              <a:ext cx="4023360" cy="0"/>
            </a:xfrm>
            <a:prstGeom prst="line">
              <a:avLst/>
            </a:prstGeom>
            <a:noFill/>
            <a:ln w="6350">
              <a:solidFill>
                <a:srgbClr val="DDD9D2"/>
              </a:solidFill>
              <a:prstDash val="solid"/>
            </a:ln>
          </p:spPr>
          <p:txBody>
            <a:bodyPr/>
            <a:lstStyle/>
            <a:p>
              <a:endParaRPr lang="en-GB"/>
            </a:p>
          </p:txBody>
        </p:sp>
        <p:sp>
          <p:nvSpPr>
            <p:cNvPr id="63" name="Shape 50"/>
            <p:cNvSpPr/>
            <p:nvPr/>
          </p:nvSpPr>
          <p:spPr>
            <a:xfrm>
              <a:off x="4434840" y="4114800"/>
              <a:ext cx="658368" cy="201168"/>
            </a:xfrm>
            <a:prstGeom prst="roundRect">
              <a:avLst>
                <a:gd name="adj" fmla="val 13636"/>
              </a:avLst>
            </a:prstGeom>
            <a:solidFill>
              <a:srgbClr val="F7EBD3"/>
            </a:solidFill>
            <a:ln/>
          </p:spPr>
          <p:txBody>
            <a:bodyPr/>
            <a:lstStyle/>
            <a:p>
              <a:endParaRPr lang="en-GB"/>
            </a:p>
          </p:txBody>
        </p:sp>
        <p:sp>
          <p:nvSpPr>
            <p:cNvPr id="64" name="Text 51"/>
            <p:cNvSpPr/>
            <p:nvPr/>
          </p:nvSpPr>
          <p:spPr>
            <a:xfrm>
              <a:off x="4434840" y="4114800"/>
              <a:ext cx="658368" cy="201168"/>
            </a:xfrm>
            <a:prstGeom prst="rect">
              <a:avLst/>
            </a:prstGeom>
            <a:noFill/>
            <a:ln/>
          </p:spPr>
          <p:txBody>
            <a:bodyPr wrap="square" lIns="0" tIns="0" rIns="0" bIns="0" rtlCol="0" anchor="ctr"/>
            <a:lstStyle/>
            <a:p>
              <a:pPr marL="0" indent="0" algn="ctr">
                <a:buNone/>
              </a:pPr>
              <a:r>
                <a:rPr lang="en-US" sz="800" b="1" kern="0" spc="150">
                  <a:solidFill>
                    <a:srgbClr val="92651A"/>
                  </a:solidFill>
                  <a:latin typeface="Calibri" pitchFamily="34" charset="0"/>
                  <a:ea typeface="Calibri" pitchFamily="34" charset="-122"/>
                  <a:cs typeface="Calibri" pitchFamily="34" charset="-120"/>
                </a:rPr>
                <a:t>MEDIUM</a:t>
              </a:r>
              <a:endParaRPr lang="en-US" sz="800"/>
            </a:p>
          </p:txBody>
        </p:sp>
        <p:pic>
          <p:nvPicPr>
            <p:cNvPr id="65" name="Image 11" descr="preencoded.png"/>
            <p:cNvPicPr>
              <a:picLocks noChangeAspect="1"/>
            </p:cNvPicPr>
            <p:nvPr/>
          </p:nvPicPr>
          <p:blipFill>
            <a:blip r:embed="rId13"/>
            <a:stretch>
              <a:fillRect/>
            </a:stretch>
          </p:blipFill>
          <p:spPr>
            <a:xfrm>
              <a:off x="5212080" y="4137660"/>
              <a:ext cx="155448" cy="155448"/>
            </a:xfrm>
            <a:prstGeom prst="rect">
              <a:avLst/>
            </a:prstGeom>
          </p:spPr>
        </p:pic>
        <p:sp>
          <p:nvSpPr>
            <p:cNvPr id="66" name="Text 52"/>
            <p:cNvSpPr/>
            <p:nvPr/>
          </p:nvSpPr>
          <p:spPr>
            <a:xfrm>
              <a:off x="5422392" y="4114800"/>
              <a:ext cx="3035808" cy="228600"/>
            </a:xfrm>
            <a:prstGeom prst="rect">
              <a:avLst/>
            </a:prstGeom>
            <a:noFill/>
            <a:ln/>
          </p:spPr>
          <p:txBody>
            <a:bodyPr wrap="square" lIns="0" tIns="0" rIns="0" bIns="0" rtlCol="0" anchor="ctr"/>
            <a:lstStyle/>
            <a:p>
              <a:pPr marL="0" indent="0">
                <a:buNone/>
              </a:pPr>
              <a:r>
                <a:rPr lang="en-US" sz="1100" b="1">
                  <a:solidFill>
                    <a:srgbClr val="1A1A1A"/>
                  </a:solidFill>
                  <a:latin typeface="Calibri" pitchFamily="34" charset="0"/>
                  <a:ea typeface="Calibri" pitchFamily="34" charset="-122"/>
                  <a:cs typeface="Calibri" pitchFamily="34" charset="-120"/>
                </a:rPr>
                <a:t>Tariffs persist beyond 2025 guidance</a:t>
              </a:r>
              <a:endParaRPr lang="en-US" sz="1100"/>
            </a:p>
          </p:txBody>
        </p:sp>
        <p:sp>
          <p:nvSpPr>
            <p:cNvPr id="67" name="Text 53"/>
            <p:cNvSpPr/>
            <p:nvPr/>
          </p:nvSpPr>
          <p:spPr>
            <a:xfrm>
              <a:off x="4434840" y="4389120"/>
              <a:ext cx="4023360" cy="457200"/>
            </a:xfrm>
            <a:prstGeom prst="rect">
              <a:avLst/>
            </a:prstGeom>
            <a:noFill/>
            <a:ln/>
          </p:spPr>
          <p:txBody>
            <a:bodyPr wrap="square" lIns="0" tIns="0" rIns="0" bIns="0" rtlCol="0" anchor="ctr"/>
            <a:lstStyle/>
            <a:p>
              <a:pPr marL="0" indent="0">
                <a:lnSpc>
                  <a:spcPct val="115000"/>
                </a:lnSpc>
                <a:buNone/>
              </a:pPr>
              <a:r>
                <a:rPr lang="en-US" sz="850">
                  <a:solidFill>
                    <a:srgbClr val="595550"/>
                  </a:solidFill>
                  <a:latin typeface="Calibri" pitchFamily="34" charset="0"/>
                  <a:ea typeface="Calibri" pitchFamily="34" charset="-122"/>
                  <a:cs typeface="Calibri" pitchFamily="34" charset="-120"/>
                </a:rPr>
                <a:t>2025 tariffs hit both margins and FCF. Management guides lower 2026 impact — but US-China trade policy remains volatile.</a:t>
              </a:r>
              <a:endParaRPr lang="en-US" sz="850"/>
            </a:p>
          </p:txBody>
        </p:sp>
        <p:pic>
          <p:nvPicPr>
            <p:cNvPr id="68" name="Image 12" descr="preencoded.png"/>
            <p:cNvPicPr>
              <a:picLocks noChangeAspect="1"/>
            </p:cNvPicPr>
            <p:nvPr/>
          </p:nvPicPr>
          <p:blipFill>
            <a:blip r:embed="rId11"/>
            <a:stretch>
              <a:fillRect/>
            </a:stretch>
          </p:blipFill>
          <p:spPr>
            <a:xfrm>
              <a:off x="4434840" y="4882896"/>
              <a:ext cx="137160" cy="137160"/>
            </a:xfrm>
            <a:prstGeom prst="rect">
              <a:avLst/>
            </a:prstGeom>
          </p:spPr>
        </p:pic>
        <p:sp>
          <p:nvSpPr>
            <p:cNvPr id="69" name="Text 54"/>
            <p:cNvSpPr/>
            <p:nvPr/>
          </p:nvSpPr>
          <p:spPr>
            <a:xfrm>
              <a:off x="4617720" y="4873752"/>
              <a:ext cx="1371600" cy="182880"/>
            </a:xfrm>
            <a:prstGeom prst="rect">
              <a:avLst/>
            </a:prstGeom>
            <a:noFill/>
            <a:ln/>
          </p:spPr>
          <p:txBody>
            <a:bodyPr wrap="square" lIns="0" tIns="0" rIns="0" bIns="0" rtlCol="0" anchor="ctr"/>
            <a:lstStyle/>
            <a:p>
              <a:pPr marL="0" indent="0">
                <a:buNone/>
              </a:pPr>
              <a:r>
                <a:rPr lang="en-US" sz="850" b="1" kern="0" spc="300">
                  <a:solidFill>
                    <a:srgbClr val="2D6A4F"/>
                  </a:solidFill>
                  <a:latin typeface="Calibri" pitchFamily="34" charset="0"/>
                  <a:ea typeface="Calibri" pitchFamily="34" charset="-122"/>
                  <a:cs typeface="Calibri" pitchFamily="34" charset="-120"/>
                </a:rPr>
                <a:t>MITIGANT</a:t>
              </a:r>
              <a:endParaRPr lang="en-US" sz="850"/>
            </a:p>
          </p:txBody>
        </p:sp>
        <p:sp>
          <p:nvSpPr>
            <p:cNvPr id="70" name="Text 55"/>
            <p:cNvSpPr/>
            <p:nvPr/>
          </p:nvSpPr>
          <p:spPr>
            <a:xfrm>
              <a:off x="4434840" y="5056632"/>
              <a:ext cx="4023360" cy="411480"/>
            </a:xfrm>
            <a:prstGeom prst="rect">
              <a:avLst/>
            </a:prstGeom>
            <a:noFill/>
            <a:ln/>
          </p:spPr>
          <p:txBody>
            <a:bodyPr wrap="square" lIns="0" tIns="0" rIns="0" bIns="0" rtlCol="0" anchor="ctr"/>
            <a:lstStyle/>
            <a:p>
              <a:pPr marL="0" indent="0">
                <a:lnSpc>
                  <a:spcPct val="115000"/>
                </a:lnSpc>
                <a:buNone/>
              </a:pPr>
              <a:r>
                <a:rPr lang="en-US" sz="850">
                  <a:solidFill>
                    <a:srgbClr val="595550"/>
                  </a:solidFill>
                  <a:latin typeface="Calibri" pitchFamily="34" charset="0"/>
                  <a:ea typeface="Calibri" pitchFamily="34" charset="-122"/>
                  <a:cs typeface="Calibri" pitchFamily="34" charset="-120"/>
                </a:rPr>
                <a:t>Ex-tariff FY25 margins exceeded prior year. Company is actively reshoring its supply chain. Pricing actions have consistently offset cost pressure.</a:t>
              </a:r>
              <a:endParaRPr lang="en-US" sz="850"/>
            </a:p>
          </p:txBody>
        </p:sp>
        <p:sp>
          <p:nvSpPr>
            <p:cNvPr id="71" name="Shape 56"/>
            <p:cNvSpPr/>
            <p:nvPr/>
          </p:nvSpPr>
          <p:spPr>
            <a:xfrm>
              <a:off x="4434840" y="5445252"/>
              <a:ext cx="4023360" cy="0"/>
            </a:xfrm>
            <a:prstGeom prst="line">
              <a:avLst/>
            </a:prstGeom>
            <a:noFill/>
            <a:ln w="6350">
              <a:solidFill>
                <a:srgbClr val="DDD9D2"/>
              </a:solidFill>
              <a:prstDash val="solid"/>
            </a:ln>
          </p:spPr>
          <p:txBody>
            <a:bodyPr/>
            <a:lstStyle/>
            <a:p>
              <a:endParaRPr lang="en-GB"/>
            </a:p>
          </p:txBody>
        </p:sp>
        <p:sp>
          <p:nvSpPr>
            <p:cNvPr id="72" name="Shape 57"/>
            <p:cNvSpPr/>
            <p:nvPr/>
          </p:nvSpPr>
          <p:spPr>
            <a:xfrm>
              <a:off x="4434840" y="5463540"/>
              <a:ext cx="658368" cy="201168"/>
            </a:xfrm>
            <a:prstGeom prst="roundRect">
              <a:avLst>
                <a:gd name="adj" fmla="val 13636"/>
              </a:avLst>
            </a:prstGeom>
            <a:solidFill>
              <a:srgbClr val="F7EBD3"/>
            </a:solidFill>
            <a:ln/>
          </p:spPr>
          <p:txBody>
            <a:bodyPr/>
            <a:lstStyle/>
            <a:p>
              <a:endParaRPr lang="en-GB"/>
            </a:p>
          </p:txBody>
        </p:sp>
        <p:sp>
          <p:nvSpPr>
            <p:cNvPr id="73" name="Text 58"/>
            <p:cNvSpPr/>
            <p:nvPr/>
          </p:nvSpPr>
          <p:spPr>
            <a:xfrm>
              <a:off x="4434840" y="5463540"/>
              <a:ext cx="658368" cy="201168"/>
            </a:xfrm>
            <a:prstGeom prst="rect">
              <a:avLst/>
            </a:prstGeom>
            <a:noFill/>
            <a:ln/>
          </p:spPr>
          <p:txBody>
            <a:bodyPr wrap="square" lIns="0" tIns="0" rIns="0" bIns="0" rtlCol="0" anchor="ctr"/>
            <a:lstStyle/>
            <a:p>
              <a:pPr marL="0" indent="0" algn="ctr">
                <a:buNone/>
              </a:pPr>
              <a:r>
                <a:rPr lang="en-US" sz="800" b="1" kern="0" spc="150">
                  <a:solidFill>
                    <a:srgbClr val="92651A"/>
                  </a:solidFill>
                  <a:latin typeface="Calibri" pitchFamily="34" charset="0"/>
                  <a:ea typeface="Calibri" pitchFamily="34" charset="-122"/>
                  <a:cs typeface="Calibri" pitchFamily="34" charset="-120"/>
                </a:rPr>
                <a:t>MEDIUM</a:t>
              </a:r>
              <a:endParaRPr lang="en-US" sz="800"/>
            </a:p>
          </p:txBody>
        </p:sp>
        <p:pic>
          <p:nvPicPr>
            <p:cNvPr id="74" name="Image 13" descr="preencoded.png"/>
            <p:cNvPicPr>
              <a:picLocks noChangeAspect="1"/>
            </p:cNvPicPr>
            <p:nvPr/>
          </p:nvPicPr>
          <p:blipFill>
            <a:blip r:embed="rId14"/>
            <a:stretch>
              <a:fillRect/>
            </a:stretch>
          </p:blipFill>
          <p:spPr>
            <a:xfrm>
              <a:off x="5212080" y="5486400"/>
              <a:ext cx="155448" cy="155448"/>
            </a:xfrm>
            <a:prstGeom prst="rect">
              <a:avLst/>
            </a:prstGeom>
          </p:spPr>
        </p:pic>
        <p:sp>
          <p:nvSpPr>
            <p:cNvPr id="75" name="Text 59"/>
            <p:cNvSpPr/>
            <p:nvPr/>
          </p:nvSpPr>
          <p:spPr>
            <a:xfrm>
              <a:off x="5435055" y="5472684"/>
              <a:ext cx="3035808"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Margins disappoint — execution gap widens</a:t>
              </a:r>
              <a:endParaRPr lang="en-US" sz="1100" dirty="0"/>
            </a:p>
          </p:txBody>
        </p:sp>
        <p:sp>
          <p:nvSpPr>
            <p:cNvPr id="76" name="Text 60"/>
            <p:cNvSpPr/>
            <p:nvPr/>
          </p:nvSpPr>
          <p:spPr>
            <a:xfrm>
              <a:off x="4434840" y="5737860"/>
              <a:ext cx="4023360" cy="457200"/>
            </a:xfrm>
            <a:prstGeom prst="rect">
              <a:avLst/>
            </a:prstGeom>
            <a:noFill/>
            <a:ln/>
          </p:spPr>
          <p:txBody>
            <a:bodyPr wrap="square" lIns="0" tIns="0" rIns="0" bIns="0" rtlCol="0" anchor="ctr"/>
            <a:lstStyle/>
            <a:p>
              <a:pPr marL="0" indent="0">
                <a:lnSpc>
                  <a:spcPct val="115000"/>
                </a:lnSpc>
                <a:buNone/>
              </a:pPr>
              <a:r>
                <a:rPr lang="en-US" sz="850">
                  <a:solidFill>
                    <a:srgbClr val="595550"/>
                  </a:solidFill>
                  <a:latin typeface="Calibri" pitchFamily="34" charset="0"/>
                  <a:ea typeface="Calibri" pitchFamily="34" charset="-122"/>
                  <a:cs typeface="Calibri" pitchFamily="34" charset="-120"/>
                </a:rPr>
                <a:t>Management has guided margin expansion repeatedly. Tariffs caused 100bps miss in 2025. Credibility risk if 2026's 50–80bps expansion also fails.</a:t>
              </a:r>
              <a:endParaRPr lang="en-US" sz="850"/>
            </a:p>
          </p:txBody>
        </p:sp>
        <p:pic>
          <p:nvPicPr>
            <p:cNvPr id="77" name="Image 14" descr="preencoded.png"/>
            <p:cNvPicPr>
              <a:picLocks noChangeAspect="1"/>
            </p:cNvPicPr>
            <p:nvPr/>
          </p:nvPicPr>
          <p:blipFill>
            <a:blip r:embed="rId11"/>
            <a:stretch>
              <a:fillRect/>
            </a:stretch>
          </p:blipFill>
          <p:spPr>
            <a:xfrm>
              <a:off x="4434840" y="6231636"/>
              <a:ext cx="137160" cy="137160"/>
            </a:xfrm>
            <a:prstGeom prst="rect">
              <a:avLst/>
            </a:prstGeom>
          </p:spPr>
        </p:pic>
        <p:sp>
          <p:nvSpPr>
            <p:cNvPr id="78" name="Text 61"/>
            <p:cNvSpPr/>
            <p:nvPr/>
          </p:nvSpPr>
          <p:spPr>
            <a:xfrm>
              <a:off x="4617720" y="6222492"/>
              <a:ext cx="1371600" cy="182880"/>
            </a:xfrm>
            <a:prstGeom prst="rect">
              <a:avLst/>
            </a:prstGeom>
            <a:noFill/>
            <a:ln/>
          </p:spPr>
          <p:txBody>
            <a:bodyPr wrap="square" lIns="0" tIns="0" rIns="0" bIns="0" rtlCol="0" anchor="ctr"/>
            <a:lstStyle/>
            <a:p>
              <a:pPr marL="0" indent="0">
                <a:buNone/>
              </a:pPr>
              <a:r>
                <a:rPr lang="en-US" sz="850" b="1" kern="0" spc="300">
                  <a:solidFill>
                    <a:srgbClr val="2D6A4F"/>
                  </a:solidFill>
                  <a:latin typeface="Calibri" pitchFamily="34" charset="0"/>
                  <a:ea typeface="Calibri" pitchFamily="34" charset="-122"/>
                  <a:cs typeface="Calibri" pitchFamily="34" charset="-120"/>
                </a:rPr>
                <a:t>MITIGANT</a:t>
              </a:r>
              <a:endParaRPr lang="en-US" sz="850"/>
            </a:p>
          </p:txBody>
        </p:sp>
        <p:sp>
          <p:nvSpPr>
            <p:cNvPr id="79" name="Text 62"/>
            <p:cNvSpPr/>
            <p:nvPr/>
          </p:nvSpPr>
          <p:spPr>
            <a:xfrm>
              <a:off x="4434840" y="6405372"/>
              <a:ext cx="4023360" cy="411480"/>
            </a:xfrm>
            <a:prstGeom prst="rect">
              <a:avLst/>
            </a:prstGeom>
            <a:noFill/>
            <a:ln/>
          </p:spPr>
          <p:txBody>
            <a:bodyPr wrap="square" lIns="0" tIns="0" rIns="0" bIns="0" rtlCol="0" anchor="ctr"/>
            <a:lstStyle/>
            <a:p>
              <a:pPr marL="0" indent="0">
                <a:lnSpc>
                  <a:spcPct val="115000"/>
                </a:lnSpc>
                <a:buNone/>
              </a:pPr>
              <a:r>
                <a:rPr lang="en-US" sz="850" dirty="0">
                  <a:solidFill>
                    <a:srgbClr val="595550"/>
                  </a:solidFill>
                  <a:latin typeface="Calibri" pitchFamily="34" charset="0"/>
                  <a:ea typeface="Calibri" pitchFamily="34" charset="-122"/>
                  <a:cs typeface="Calibri" pitchFamily="34" charset="-120"/>
                </a:rPr>
                <a:t>Software attach at 45% vs 30% target — already ahead of plan. </a:t>
              </a:r>
              <a:r>
                <a:rPr lang="en-US" sz="850" dirty="0" err="1">
                  <a:solidFill>
                    <a:srgbClr val="595550"/>
                  </a:solidFill>
                  <a:latin typeface="Calibri" pitchFamily="34" charset="0"/>
                  <a:ea typeface="Calibri" pitchFamily="34" charset="-122"/>
                  <a:cs typeface="Calibri" pitchFamily="34" charset="-120"/>
                </a:rPr>
                <a:t>PDx</a:t>
              </a:r>
              <a:r>
                <a:rPr lang="en-US" sz="850" dirty="0">
                  <a:solidFill>
                    <a:srgbClr val="595550"/>
                  </a:solidFill>
                  <a:latin typeface="Calibri" pitchFamily="34" charset="0"/>
                  <a:ea typeface="Calibri" pitchFamily="34" charset="-122"/>
                  <a:cs typeface="Calibri" pitchFamily="34" charset="-120"/>
                </a:rPr>
                <a:t> growing 8.8% organically. Structural mix-shift is mechanical, not discretionary.</a:t>
              </a:r>
              <a:endParaRPr lang="en-US" sz="850" dirty="0"/>
            </a:p>
          </p:txBody>
        </p:sp>
      </p:grpSp>
      <p:sp>
        <p:nvSpPr>
          <p:cNvPr id="80" name="TextBox 79">
            <a:extLst>
              <a:ext uri="{FF2B5EF4-FFF2-40B4-BE49-F238E27FC236}">
                <a16:creationId xmlns:a16="http://schemas.microsoft.com/office/drawing/2014/main" id="{8646B121-29AD-DC36-6BCC-EDC1B7428D49}"/>
              </a:ext>
            </a:extLst>
          </p:cNvPr>
          <p:cNvSpPr txBox="1"/>
          <p:nvPr/>
        </p:nvSpPr>
        <p:spPr>
          <a:xfrm>
            <a:off x="7879366" y="-1216898"/>
            <a:ext cx="6385274" cy="923330"/>
          </a:xfrm>
          <a:prstGeom prst="rect">
            <a:avLst/>
          </a:prstGeom>
          <a:noFill/>
        </p:spPr>
        <p:txBody>
          <a:bodyPr wrap="none" rtlCol="0">
            <a:spAutoFit/>
          </a:bodyPr>
          <a:lstStyle/>
          <a:p>
            <a:r>
              <a:rPr lang="en-GB"/>
              <a:t>GEHC management mitigated 1b tariff exposure down to 500m</a:t>
            </a:r>
          </a:p>
          <a:p>
            <a:r>
              <a:rPr lang="en-GB"/>
              <a:t>CFO confirmed that tariffs are now neutral to positive”</a:t>
            </a:r>
          </a:p>
          <a:p>
            <a:r>
              <a:rPr lang="en-GB"/>
              <a:t>Source 2025 annual report</a:t>
            </a:r>
          </a:p>
        </p:txBody>
      </p:sp>
      <p:sp>
        <p:nvSpPr>
          <p:cNvPr id="81" name="TextBox 80">
            <a:extLst>
              <a:ext uri="{FF2B5EF4-FFF2-40B4-BE49-F238E27FC236}">
                <a16:creationId xmlns:a16="http://schemas.microsoft.com/office/drawing/2014/main" id="{03C7826D-C294-CDB1-008E-6CCFD6FD24B8}"/>
              </a:ext>
            </a:extLst>
          </p:cNvPr>
          <p:cNvSpPr txBox="1"/>
          <p:nvPr/>
        </p:nvSpPr>
        <p:spPr>
          <a:xfrm>
            <a:off x="14264640" y="1033856"/>
            <a:ext cx="1842902" cy="3970318"/>
          </a:xfrm>
          <a:prstGeom prst="rect">
            <a:avLst/>
          </a:prstGeom>
          <a:noFill/>
        </p:spPr>
        <p:txBody>
          <a:bodyPr wrap="square" rtlCol="0">
            <a:spAutoFit/>
          </a:bodyPr>
          <a:lstStyle/>
          <a:p>
            <a:r>
              <a:rPr lang="en-GB"/>
              <a:t>The U.S. is compensating strongly with double digit order growth largest ever </a:t>
            </a:r>
            <a:r>
              <a:rPr lang="en-GB" err="1"/>
              <a:t>irder</a:t>
            </a:r>
            <a:r>
              <a:rPr lang="en-GB"/>
              <a:t> if Omni legend PET/CT systems in the US and $90M strategic collaboration with Ascension. Domestic fortification. </a:t>
            </a:r>
          </a:p>
        </p:txBody>
      </p:sp>
      <p:sp>
        <p:nvSpPr>
          <p:cNvPr id="82" name="TextBox 81">
            <a:extLst>
              <a:ext uri="{FF2B5EF4-FFF2-40B4-BE49-F238E27FC236}">
                <a16:creationId xmlns:a16="http://schemas.microsoft.com/office/drawing/2014/main" id="{2373B292-E449-16D9-C8EA-5944B68497DC}"/>
              </a:ext>
            </a:extLst>
          </p:cNvPr>
          <p:cNvSpPr txBox="1"/>
          <p:nvPr/>
        </p:nvSpPr>
        <p:spPr>
          <a:xfrm>
            <a:off x="365760" y="118759"/>
            <a:ext cx="7315200" cy="169277"/>
          </a:xfrm>
          <a:prstGeom prst="rect">
            <a:avLst/>
          </a:prstGeom>
          <a:noFill/>
        </p:spPr>
        <p:txBody>
          <a:bodyPr wrap="square" lIns="0" tIns="0" rIns="0" bIns="0" anchor="t">
            <a:spAutoFit/>
          </a:bodyPr>
          <a:lstStyle/>
          <a:p>
            <a:r>
              <a:rPr lang="en-GB" sz="1100" b="1">
                <a:solidFill>
                  <a:srgbClr val="D8975E"/>
                </a:solidFill>
                <a:latin typeface="Calibri"/>
              </a:rPr>
              <a:t>08 </a:t>
            </a:r>
            <a:r>
              <a:rPr sz="1100" b="1" i="0">
                <a:solidFill>
                  <a:srgbClr val="D8975E"/>
                </a:solidFill>
                <a:latin typeface="Calibri"/>
              </a:rPr>
              <a:t>/</a:t>
            </a:r>
            <a:r>
              <a:rPr lang="en-GB" sz="1100" b="1" i="0">
                <a:solidFill>
                  <a:srgbClr val="D8975E"/>
                </a:solidFill>
                <a:latin typeface="Calibri"/>
              </a:rPr>
              <a:t> SHORT TERM CATALYSTS &amp; RISK AND MITIGANTS</a:t>
            </a:r>
            <a:endParaRPr lang="en-GB" sz="1100" b="1" i="0">
              <a:solidFill>
                <a:srgbClr val="D8975E"/>
              </a:solidFill>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7483b12-d1ad-4a04-ab57-44bb89d688e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832C192AEF234ABDC458B7C1953C9C" ma:contentTypeVersion="13" ma:contentTypeDescription="Create a new document." ma:contentTypeScope="" ma:versionID="816332beac416e82f51921db2968e3fd">
  <xsd:schema xmlns:xsd="http://www.w3.org/2001/XMLSchema" xmlns:xs="http://www.w3.org/2001/XMLSchema" xmlns:p="http://schemas.microsoft.com/office/2006/metadata/properties" xmlns:ns3="77483b12-d1ad-4a04-ab57-44bb89d688ee" xmlns:ns4="c0ab7a6b-0806-4c23-86d9-ff977928bb43" targetNamespace="http://schemas.microsoft.com/office/2006/metadata/properties" ma:root="true" ma:fieldsID="ecc4ddd307c0113b4d140ffdb03a6c6e" ns3:_="" ns4:_="">
    <xsd:import namespace="77483b12-d1ad-4a04-ab57-44bb89d688ee"/>
    <xsd:import namespace="c0ab7a6b-0806-4c23-86d9-ff977928bb43"/>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483b12-d1ad-4a04-ab57-44bb89d688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ab7a6b-0806-4c23-86d9-ff977928bb43"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C1F17C-58ED-435C-9A02-6C43FEE8DFBF}">
  <ds:schemaRefs>
    <ds:schemaRef ds:uri="http://schemas.microsoft.com/sharepoint/v3/contenttype/forms"/>
  </ds:schemaRefs>
</ds:datastoreItem>
</file>

<file path=customXml/itemProps2.xml><?xml version="1.0" encoding="utf-8"?>
<ds:datastoreItem xmlns:ds="http://schemas.openxmlformats.org/officeDocument/2006/customXml" ds:itemID="{CB670DBF-B5AF-4E7C-BDE7-82BB51FA22F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c0ab7a6b-0806-4c23-86d9-ff977928bb43"/>
    <ds:schemaRef ds:uri="77483b12-d1ad-4a04-ab57-44bb89d688ee"/>
    <ds:schemaRef ds:uri="http://www.w3.org/XML/1998/namespace"/>
    <ds:schemaRef ds:uri="http://purl.org/dc/dcmitype/"/>
  </ds:schemaRefs>
</ds:datastoreItem>
</file>

<file path=customXml/itemProps3.xml><?xml version="1.0" encoding="utf-8"?>
<ds:datastoreItem xmlns:ds="http://schemas.openxmlformats.org/officeDocument/2006/customXml" ds:itemID="{5C3C75C7-C82E-4E2B-8F67-5A92D37683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483b12-d1ad-4a04-ab57-44bb89d688ee"/>
    <ds:schemaRef ds:uri="c0ab7a6b-0806-4c23-86d9-ff977928bb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19</TotalTime>
  <Words>3247</Words>
  <Application>Microsoft Macintosh PowerPoint</Application>
  <PresentationFormat>Widescreen</PresentationFormat>
  <Paragraphs>364</Paragraphs>
  <Slides>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Cambria</vt:lpstr>
      <vt:lpstr>Times New Roman</vt:lpstr>
      <vt:lpstr>Office Theme</vt:lpstr>
      <vt:lpstr>GE Healthcare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Theo Hotinceanu (LAW - Student)</dc:creator>
  <cp:lastModifiedBy>Theo Hotinceanu (LAW - Student)</cp:lastModifiedBy>
  <cp:revision>4</cp:revision>
  <dcterms:created xsi:type="dcterms:W3CDTF">2026-04-28T19:22:48Z</dcterms:created>
  <dcterms:modified xsi:type="dcterms:W3CDTF">2026-05-15T15:02:36Z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0x0101003C832C192AEF234ABDC458B7C1953C9C</vt:lpwstr>
  </property>
  <property fmtid="{D5CDD505-2E9C-101B-9397-08002B2CF9AE}" pid="3" name="_AdHocReviewCycleID">
    <vt:i4>-400545701</vt:i4>
  </property>
  <property fmtid="{D5CDD505-2E9C-101B-9397-08002B2CF9AE}" pid="4" name="_NewReviewCycle">
    <vt:lpwstr/>
  </property>
  <property fmtid="{D5CDD505-2E9C-101B-9397-08002B2CF9AE}" pid="5" name="_EmailSubject">
    <vt:lpwstr>GEHC 2026</vt:lpwstr>
  </property>
  <property fmtid="{D5CDD505-2E9C-101B-9397-08002B2CF9AE}" pid="6" name="_AuthorEmail">
    <vt:lpwstr>J.Hasani@uea.ac.uk</vt:lpwstr>
  </property>
  <property fmtid="{D5CDD505-2E9C-101B-9397-08002B2CF9AE}" pid="7" name="_AuthorEmailDisplayName">
    <vt:lpwstr>Jetlir Hasani (ECO - Student)</vt:lpwstr>
  </property>
</Properties>
</file>